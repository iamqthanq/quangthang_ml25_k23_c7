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4630400" cy="8229600"/>
  <p:notesSz cx="8229600" cy="14630400"/>
  <p:embeddedFontLst>
    <p:embeddedFont>
      <p:font typeface="Calibri" panose="020F0502020204030204" pitchFamily="3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4" d="100"/>
          <a:sy n="94"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4033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29817"/>
            <a:ext cx="14630400" cy="8229600"/>
          </a:xfrm>
          <a:prstGeom prst="rect">
            <a:avLst/>
          </a:prstGeom>
          <a:solidFill>
            <a:srgbClr val="090E3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1095613"/>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Titanic: Machine Learning from Disaster</a:t>
            </a:r>
            <a:endParaRPr lang="en-US" sz="4450" dirty="0">
              <a:latin typeface="Times New Roman" panose="02020603050405020304" pitchFamily="18" charset="0"/>
              <a:cs typeface="Times New Roman" panose="02020603050405020304" pitchFamily="18" charset="0"/>
            </a:endParaRPr>
          </a:p>
        </p:txBody>
      </p:sp>
      <p:sp>
        <p:nvSpPr>
          <p:cNvPr id="4" name="Text 1"/>
          <p:cNvSpPr/>
          <p:nvPr/>
        </p:nvSpPr>
        <p:spPr>
          <a:xfrm>
            <a:off x="793790" y="2853333"/>
            <a:ext cx="7556421" cy="453509"/>
          </a:xfrm>
          <a:prstGeom prst="rect">
            <a:avLst/>
          </a:prstGeom>
          <a:noFill/>
          <a:ln/>
        </p:spPr>
        <p:txBody>
          <a:bodyPr wrap="none" lIns="0" tIns="0" rIns="0" bIns="0" rtlCol="0" anchor="t"/>
          <a:lstStyle/>
          <a:p>
            <a:pPr marL="0" indent="0" algn="l">
              <a:lnSpc>
                <a:spcPts val="3550"/>
              </a:lnSpc>
              <a:buNone/>
            </a:pPr>
            <a:r>
              <a:rPr lang="en-US" sz="2200" b="1" dirty="0">
                <a:solidFill>
                  <a:srgbClr val="E5DCE6"/>
                </a:solidFill>
                <a:latin typeface="Times New Roman" panose="02020603050405020304" pitchFamily="18" charset="0"/>
                <a:ea typeface="Montserrat" pitchFamily="34" charset="-122"/>
                <a:cs typeface="Times New Roman" panose="02020603050405020304" pitchFamily="18" charset="0"/>
              </a:rPr>
              <a:t>Thành viên:</a:t>
            </a:r>
            <a:endParaRPr lang="en-US" sz="2200" dirty="0">
              <a:latin typeface="Times New Roman" panose="02020603050405020304" pitchFamily="18" charset="0"/>
              <a:cs typeface="Times New Roman" panose="02020603050405020304" pitchFamily="18" charset="0"/>
            </a:endParaRPr>
          </a:p>
        </p:txBody>
      </p:sp>
      <p:sp>
        <p:nvSpPr>
          <p:cNvPr id="5" name="Shape 2"/>
          <p:cNvSpPr/>
          <p:nvPr/>
        </p:nvSpPr>
        <p:spPr>
          <a:xfrm>
            <a:off x="793790" y="3561993"/>
            <a:ext cx="944523" cy="807958"/>
          </a:xfrm>
          <a:prstGeom prst="roundRect">
            <a:avLst>
              <a:gd name="adj" fmla="val 11791"/>
            </a:avLst>
          </a:prstGeom>
          <a:solidFill>
            <a:srgbClr val="282D5E"/>
          </a:solidFill>
          <a:ln/>
        </p:spPr>
      </p:sp>
      <p:sp>
        <p:nvSpPr>
          <p:cNvPr id="6" name="Text 3"/>
          <p:cNvSpPr/>
          <p:nvPr/>
        </p:nvSpPr>
        <p:spPr>
          <a:xfrm>
            <a:off x="1106567" y="3766661"/>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1</a:t>
            </a:r>
            <a:endParaRPr lang="en-US" sz="2500" dirty="0">
              <a:latin typeface="Times New Roman" panose="02020603050405020304" pitchFamily="18" charset="0"/>
              <a:cs typeface="Times New Roman" panose="02020603050405020304" pitchFamily="18" charset="0"/>
            </a:endParaRPr>
          </a:p>
        </p:txBody>
      </p:sp>
      <p:sp>
        <p:nvSpPr>
          <p:cNvPr id="7" name="Text 4"/>
          <p:cNvSpPr/>
          <p:nvPr/>
        </p:nvSpPr>
        <p:spPr>
          <a:xfrm>
            <a:off x="1965127" y="3788807"/>
            <a:ext cx="1916787" cy="354330"/>
          </a:xfrm>
          <a:prstGeom prst="rect">
            <a:avLst/>
          </a:prstGeom>
          <a:noFill/>
          <a:ln/>
        </p:spPr>
        <p:txBody>
          <a:bodyPr wrap="none" lIns="0" tIns="0" rIns="0" bIns="0" rtlCol="0" anchor="t"/>
          <a:lstStyle/>
          <a:p>
            <a:pPr marL="0" indent="0" algn="l">
              <a:lnSpc>
                <a:spcPts val="2750"/>
              </a:lnSpc>
              <a:buNone/>
            </a:pPr>
            <a:r>
              <a:rPr lang="en-US" sz="22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Vũ Ngọc Tùng</a:t>
            </a:r>
            <a:endParaRPr lang="en-US" sz="2200" dirty="0">
              <a:latin typeface="Times New Roman" panose="02020603050405020304" pitchFamily="18" charset="0"/>
              <a:cs typeface="Times New Roman" panose="02020603050405020304" pitchFamily="18" charset="0"/>
            </a:endParaRPr>
          </a:p>
        </p:txBody>
      </p:sp>
      <p:sp>
        <p:nvSpPr>
          <p:cNvPr id="8" name="Shape 5"/>
          <p:cNvSpPr/>
          <p:nvPr/>
        </p:nvSpPr>
        <p:spPr>
          <a:xfrm>
            <a:off x="1851660" y="4354711"/>
            <a:ext cx="6385203" cy="15240"/>
          </a:xfrm>
          <a:prstGeom prst="roundRect">
            <a:avLst>
              <a:gd name="adj" fmla="val 625116"/>
            </a:avLst>
          </a:prstGeom>
          <a:solidFill>
            <a:srgbClr val="414677"/>
          </a:solidFill>
          <a:ln/>
        </p:spPr>
      </p:sp>
      <p:sp>
        <p:nvSpPr>
          <p:cNvPr id="9" name="Shape 6"/>
          <p:cNvSpPr/>
          <p:nvPr/>
        </p:nvSpPr>
        <p:spPr>
          <a:xfrm>
            <a:off x="793790" y="4483298"/>
            <a:ext cx="1889046" cy="807958"/>
          </a:xfrm>
          <a:prstGeom prst="roundRect">
            <a:avLst>
              <a:gd name="adj" fmla="val 11791"/>
            </a:avLst>
          </a:prstGeom>
          <a:solidFill>
            <a:srgbClr val="282D5E"/>
          </a:solidFill>
          <a:ln/>
        </p:spPr>
      </p:sp>
      <p:sp>
        <p:nvSpPr>
          <p:cNvPr id="10" name="Text 7"/>
          <p:cNvSpPr/>
          <p:nvPr/>
        </p:nvSpPr>
        <p:spPr>
          <a:xfrm>
            <a:off x="1578769" y="4687967"/>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2</a:t>
            </a:r>
            <a:endParaRPr lang="en-US" sz="2500" dirty="0">
              <a:latin typeface="Times New Roman" panose="02020603050405020304" pitchFamily="18" charset="0"/>
              <a:cs typeface="Times New Roman" panose="02020603050405020304" pitchFamily="18" charset="0"/>
            </a:endParaRPr>
          </a:p>
        </p:txBody>
      </p:sp>
      <p:sp>
        <p:nvSpPr>
          <p:cNvPr id="11" name="Text 8"/>
          <p:cNvSpPr/>
          <p:nvPr/>
        </p:nvSpPr>
        <p:spPr>
          <a:xfrm>
            <a:off x="2909649" y="4710113"/>
            <a:ext cx="2418636" cy="354330"/>
          </a:xfrm>
          <a:prstGeom prst="rect">
            <a:avLst/>
          </a:prstGeom>
          <a:noFill/>
          <a:ln/>
        </p:spPr>
        <p:txBody>
          <a:bodyPr wrap="none" lIns="0" tIns="0" rIns="0" bIns="0" rtlCol="0" anchor="t"/>
          <a:lstStyle/>
          <a:p>
            <a:pPr marL="0" indent="0" algn="l">
              <a:lnSpc>
                <a:spcPts val="2750"/>
              </a:lnSpc>
              <a:buNone/>
            </a:pPr>
            <a:r>
              <a:rPr lang="en-US" sz="22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Phan Thanh Tùng</a:t>
            </a:r>
            <a:endParaRPr lang="en-US" sz="2200" dirty="0">
              <a:latin typeface="Times New Roman" panose="02020603050405020304" pitchFamily="18" charset="0"/>
              <a:cs typeface="Times New Roman" panose="02020603050405020304" pitchFamily="18" charset="0"/>
            </a:endParaRPr>
          </a:p>
        </p:txBody>
      </p:sp>
      <p:sp>
        <p:nvSpPr>
          <p:cNvPr id="12" name="Shape 9"/>
          <p:cNvSpPr/>
          <p:nvPr/>
        </p:nvSpPr>
        <p:spPr>
          <a:xfrm>
            <a:off x="2796183" y="5276017"/>
            <a:ext cx="5440680" cy="15240"/>
          </a:xfrm>
          <a:prstGeom prst="roundRect">
            <a:avLst>
              <a:gd name="adj" fmla="val 625116"/>
            </a:avLst>
          </a:prstGeom>
          <a:solidFill>
            <a:srgbClr val="414677"/>
          </a:solidFill>
          <a:ln/>
        </p:spPr>
      </p:sp>
      <p:sp>
        <p:nvSpPr>
          <p:cNvPr id="13" name="Shape 10"/>
          <p:cNvSpPr/>
          <p:nvPr/>
        </p:nvSpPr>
        <p:spPr>
          <a:xfrm>
            <a:off x="793790" y="5404604"/>
            <a:ext cx="2833568" cy="807958"/>
          </a:xfrm>
          <a:prstGeom prst="roundRect">
            <a:avLst>
              <a:gd name="adj" fmla="val 11791"/>
            </a:avLst>
          </a:prstGeom>
          <a:solidFill>
            <a:srgbClr val="282D5E"/>
          </a:solidFill>
          <a:ln/>
        </p:spPr>
      </p:sp>
      <p:sp>
        <p:nvSpPr>
          <p:cNvPr id="14" name="Text 11"/>
          <p:cNvSpPr/>
          <p:nvPr/>
        </p:nvSpPr>
        <p:spPr>
          <a:xfrm>
            <a:off x="2051090" y="5609273"/>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3</a:t>
            </a:r>
            <a:endParaRPr lang="en-US" sz="2500" dirty="0">
              <a:latin typeface="Times New Roman" panose="02020603050405020304" pitchFamily="18" charset="0"/>
              <a:cs typeface="Times New Roman" panose="02020603050405020304" pitchFamily="18" charset="0"/>
            </a:endParaRPr>
          </a:p>
        </p:txBody>
      </p:sp>
      <p:sp>
        <p:nvSpPr>
          <p:cNvPr id="15" name="Text 12"/>
          <p:cNvSpPr/>
          <p:nvPr/>
        </p:nvSpPr>
        <p:spPr>
          <a:xfrm>
            <a:off x="3854172" y="5631418"/>
            <a:ext cx="2265283" cy="354330"/>
          </a:xfrm>
          <a:prstGeom prst="rect">
            <a:avLst/>
          </a:prstGeom>
          <a:noFill/>
          <a:ln/>
        </p:spPr>
        <p:txBody>
          <a:bodyPr wrap="none" lIns="0" tIns="0" rIns="0" bIns="0" rtlCol="0" anchor="t"/>
          <a:lstStyle/>
          <a:p>
            <a:pPr marL="0" indent="0" algn="l">
              <a:lnSpc>
                <a:spcPts val="2750"/>
              </a:lnSpc>
              <a:buNone/>
            </a:pPr>
            <a:r>
              <a:rPr lang="en-US" sz="22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Phạm Hồng Thái</a:t>
            </a:r>
            <a:endParaRPr lang="en-US" sz="2200" dirty="0">
              <a:latin typeface="Times New Roman" panose="02020603050405020304" pitchFamily="18" charset="0"/>
              <a:cs typeface="Times New Roman" panose="02020603050405020304" pitchFamily="18" charset="0"/>
            </a:endParaRPr>
          </a:p>
        </p:txBody>
      </p:sp>
      <p:sp>
        <p:nvSpPr>
          <p:cNvPr id="16" name="Shape 13"/>
          <p:cNvSpPr/>
          <p:nvPr/>
        </p:nvSpPr>
        <p:spPr>
          <a:xfrm>
            <a:off x="3740706" y="6197322"/>
            <a:ext cx="4496157" cy="15240"/>
          </a:xfrm>
          <a:prstGeom prst="roundRect">
            <a:avLst>
              <a:gd name="adj" fmla="val 625116"/>
            </a:avLst>
          </a:prstGeom>
          <a:solidFill>
            <a:srgbClr val="414677"/>
          </a:solidFill>
          <a:ln/>
        </p:spPr>
      </p:sp>
      <p:sp>
        <p:nvSpPr>
          <p:cNvPr id="17" name="Shape 14"/>
          <p:cNvSpPr/>
          <p:nvPr/>
        </p:nvSpPr>
        <p:spPr>
          <a:xfrm>
            <a:off x="793790" y="6325910"/>
            <a:ext cx="3778210" cy="807958"/>
          </a:xfrm>
          <a:prstGeom prst="roundRect">
            <a:avLst>
              <a:gd name="adj" fmla="val 11791"/>
            </a:avLst>
          </a:prstGeom>
          <a:solidFill>
            <a:srgbClr val="282D5E"/>
          </a:solidFill>
          <a:ln/>
        </p:spPr>
      </p:sp>
      <p:sp>
        <p:nvSpPr>
          <p:cNvPr id="18" name="Text 15"/>
          <p:cNvSpPr/>
          <p:nvPr/>
        </p:nvSpPr>
        <p:spPr>
          <a:xfrm>
            <a:off x="2523411" y="6530578"/>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4</a:t>
            </a:r>
            <a:endParaRPr lang="en-US" sz="2500" dirty="0">
              <a:latin typeface="Times New Roman" panose="02020603050405020304" pitchFamily="18" charset="0"/>
              <a:cs typeface="Times New Roman" panose="02020603050405020304" pitchFamily="18" charset="0"/>
            </a:endParaRPr>
          </a:p>
        </p:txBody>
      </p:sp>
      <p:sp>
        <p:nvSpPr>
          <p:cNvPr id="19" name="Text 16"/>
          <p:cNvSpPr/>
          <p:nvPr/>
        </p:nvSpPr>
        <p:spPr>
          <a:xfrm>
            <a:off x="4798814" y="6552724"/>
            <a:ext cx="2218849" cy="354330"/>
          </a:xfrm>
          <a:prstGeom prst="rect">
            <a:avLst/>
          </a:prstGeom>
          <a:noFill/>
          <a:ln/>
        </p:spPr>
        <p:txBody>
          <a:bodyPr wrap="none" lIns="0" tIns="0" rIns="0" bIns="0" rtlCol="0" anchor="t"/>
          <a:lstStyle/>
          <a:p>
            <a:pPr marL="0" indent="0" algn="l">
              <a:lnSpc>
                <a:spcPts val="2750"/>
              </a:lnSpc>
              <a:buNone/>
            </a:pPr>
            <a:r>
              <a:rPr lang="en-US" sz="22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Tạ Quang Thắng</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42737"/>
            <a:ext cx="5292566" cy="566976"/>
          </a:xfrm>
          <a:prstGeom prst="rect">
            <a:avLst/>
          </a:prstGeom>
          <a:noFill/>
          <a:ln/>
        </p:spPr>
        <p:txBody>
          <a:bodyPr wrap="none" lIns="0" tIns="0" rIns="0" bIns="0" rtlCol="0" anchor="t"/>
          <a:lstStyle/>
          <a:p>
            <a:pPr marL="0" indent="0" algn="l">
              <a:lnSpc>
                <a:spcPts val="4450"/>
              </a:lnSpc>
              <a:buNone/>
            </a:pPr>
            <a:r>
              <a:rPr lang="en-US" sz="35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BỐI CẢNH VÀ MỤC TIÊU </a:t>
            </a:r>
            <a:endParaRPr lang="en-US" sz="3550" dirty="0">
              <a:latin typeface="Times New Roman" panose="02020603050405020304" pitchFamily="18" charset="0"/>
              <a:cs typeface="Times New Roman" panose="02020603050405020304" pitchFamily="18" charset="0"/>
            </a:endParaRPr>
          </a:p>
        </p:txBody>
      </p:sp>
      <p:sp>
        <p:nvSpPr>
          <p:cNvPr id="3" name="Text 1"/>
          <p:cNvSpPr/>
          <p:nvPr/>
        </p:nvSpPr>
        <p:spPr>
          <a:xfrm>
            <a:off x="793790" y="1963341"/>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E5DCE6"/>
                </a:solidFill>
                <a:latin typeface="Times New Roman" panose="02020603050405020304" pitchFamily="18" charset="0"/>
                <a:ea typeface="Montserrat" pitchFamily="34" charset="-122"/>
                <a:cs typeface="Times New Roman" panose="02020603050405020304" pitchFamily="18" charset="0"/>
              </a:rPr>
              <a:t>Bối cảnh:</a:t>
            </a: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 Vụ chìm tàu Titanic (1912). Dữ liệu cung cấp các biến định tính và định lượng về hành khách.</a:t>
            </a:r>
            <a:endParaRPr lang="en-US" sz="1750" dirty="0">
              <a:latin typeface="Times New Roman" panose="02020603050405020304" pitchFamily="18" charset="0"/>
              <a:cs typeface="Times New Roman" panose="02020603050405020304" pitchFamily="18" charset="0"/>
            </a:endParaRPr>
          </a:p>
        </p:txBody>
      </p:sp>
      <p:sp>
        <p:nvSpPr>
          <p:cNvPr id="4" name="Text 2"/>
          <p:cNvSpPr/>
          <p:nvPr/>
        </p:nvSpPr>
        <p:spPr>
          <a:xfrm>
            <a:off x="793790" y="2581394"/>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 </a:t>
            </a:r>
            <a:r>
              <a:rPr lang="en-US" sz="1750" b="1" dirty="0">
                <a:solidFill>
                  <a:srgbClr val="E5DCE6"/>
                </a:solidFill>
                <a:latin typeface="Times New Roman" panose="02020603050405020304" pitchFamily="18" charset="0"/>
                <a:ea typeface="Montserrat" pitchFamily="34" charset="-122"/>
                <a:cs typeface="Times New Roman" panose="02020603050405020304" pitchFamily="18" charset="0"/>
              </a:rPr>
              <a:t>Mục tiêu:</a:t>
            </a: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 Xác định và lượng hóa </a:t>
            </a:r>
            <a:r>
              <a:rPr lang="en-US" sz="1750" b="1" dirty="0">
                <a:solidFill>
                  <a:srgbClr val="E5DCE6"/>
                </a:solidFill>
                <a:latin typeface="Times New Roman" panose="02020603050405020304" pitchFamily="18" charset="0"/>
                <a:ea typeface="Montserrat" pitchFamily="34" charset="-122"/>
                <a:cs typeface="Times New Roman" panose="02020603050405020304" pitchFamily="18" charset="0"/>
              </a:rPr>
              <a:t>các yếu tố quyết định</a:t>
            </a: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 cơ hội sống sót. </a:t>
            </a:r>
            <a:endParaRPr lang="en-US" sz="1750" dirty="0">
              <a:latin typeface="Times New Roman" panose="02020603050405020304" pitchFamily="18" charset="0"/>
              <a:cs typeface="Times New Roman" panose="02020603050405020304" pitchFamily="18" charset="0"/>
            </a:endParaRPr>
          </a:p>
        </p:txBody>
      </p:sp>
      <p:sp>
        <p:nvSpPr>
          <p:cNvPr id="5" name="Text 3"/>
          <p:cNvSpPr/>
          <p:nvPr/>
        </p:nvSpPr>
        <p:spPr>
          <a:xfrm>
            <a:off x="793790" y="3199448"/>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E5DCE6"/>
                </a:solidFill>
                <a:latin typeface="Times New Roman" panose="02020603050405020304" pitchFamily="18" charset="0"/>
                <a:ea typeface="Montserrat" pitchFamily="34" charset="-122"/>
                <a:cs typeface="Times New Roman" panose="02020603050405020304" pitchFamily="18" charset="0"/>
              </a:rPr>
              <a:t>Quy trình chính:</a:t>
            </a: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 Tập trung vào </a:t>
            </a:r>
            <a:r>
              <a:rPr lang="en-US" sz="1750" b="1" dirty="0">
                <a:solidFill>
                  <a:srgbClr val="E5DCE6"/>
                </a:solidFill>
                <a:latin typeface="Times New Roman" panose="02020603050405020304" pitchFamily="18" charset="0"/>
                <a:ea typeface="Montserrat" pitchFamily="34" charset="-122"/>
                <a:cs typeface="Times New Roman" panose="02020603050405020304" pitchFamily="18" charset="0"/>
              </a:rPr>
              <a:t>EDA sâu</a:t>
            </a: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 và </a:t>
            </a:r>
            <a:r>
              <a:rPr lang="en-US" sz="1750" b="1" dirty="0">
                <a:solidFill>
                  <a:srgbClr val="E5DCE6"/>
                </a:solidFill>
                <a:latin typeface="Times New Roman" panose="02020603050405020304" pitchFamily="18" charset="0"/>
                <a:ea typeface="Montserrat" pitchFamily="34" charset="-122"/>
                <a:cs typeface="Times New Roman" panose="02020603050405020304" pitchFamily="18" charset="0"/>
              </a:rPr>
              <a:t>Kỹ thuật Tính năng Nâng cao</a:t>
            </a: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a:t>
            </a:r>
            <a:endParaRPr lang="en-US" sz="1750" dirty="0">
              <a:latin typeface="Times New Roman" panose="02020603050405020304" pitchFamily="18" charset="0"/>
              <a:cs typeface="Times New Roman" panose="02020603050405020304" pitchFamily="18" charset="0"/>
            </a:endParaRPr>
          </a:p>
        </p:txBody>
      </p:sp>
      <p:sp>
        <p:nvSpPr>
          <p:cNvPr id="6" name="Shape 4"/>
          <p:cNvSpPr/>
          <p:nvPr/>
        </p:nvSpPr>
        <p:spPr>
          <a:xfrm>
            <a:off x="793790" y="4157663"/>
            <a:ext cx="4196358" cy="3129201"/>
          </a:xfrm>
          <a:prstGeom prst="roundRect">
            <a:avLst>
              <a:gd name="adj" fmla="val 4675"/>
            </a:avLst>
          </a:prstGeom>
          <a:solidFill>
            <a:srgbClr val="090E3F"/>
          </a:solidFill>
          <a:ln/>
        </p:spPr>
      </p:sp>
      <p:sp>
        <p:nvSpPr>
          <p:cNvPr id="7" name="Shape 5"/>
          <p:cNvSpPr/>
          <p:nvPr/>
        </p:nvSpPr>
        <p:spPr>
          <a:xfrm>
            <a:off x="793790" y="4127183"/>
            <a:ext cx="4196358" cy="121920"/>
          </a:xfrm>
          <a:prstGeom prst="roundRect">
            <a:avLst>
              <a:gd name="adj" fmla="val 78139"/>
            </a:avLst>
          </a:prstGeom>
          <a:solidFill>
            <a:srgbClr val="EEAEF6"/>
          </a:solidFill>
          <a:ln/>
        </p:spPr>
      </p:sp>
      <p:sp>
        <p:nvSpPr>
          <p:cNvPr id="8" name="Shape 6"/>
          <p:cNvSpPr/>
          <p:nvPr/>
        </p:nvSpPr>
        <p:spPr>
          <a:xfrm>
            <a:off x="2551688" y="3817501"/>
            <a:ext cx="680442" cy="680442"/>
          </a:xfrm>
          <a:prstGeom prst="roundRect">
            <a:avLst>
              <a:gd name="adj" fmla="val 134383"/>
            </a:avLst>
          </a:prstGeom>
          <a:solidFill>
            <a:srgbClr val="EEAEF6"/>
          </a:solidFill>
          <a:ln/>
        </p:spPr>
      </p:sp>
      <p:pic>
        <p:nvPicPr>
          <p:cNvPr id="9" name="Image 0" descr="preencoded.png"/>
          <p:cNvPicPr>
            <a:picLocks noChangeAspect="1"/>
          </p:cNvPicPr>
          <p:nvPr/>
        </p:nvPicPr>
        <p:blipFill>
          <a:blip r:embed="rId3"/>
          <a:stretch>
            <a:fillRect/>
          </a:stretch>
        </p:blipFill>
        <p:spPr>
          <a:xfrm>
            <a:off x="2755761" y="3987641"/>
            <a:ext cx="272177" cy="340162"/>
          </a:xfrm>
          <a:prstGeom prst="rect">
            <a:avLst/>
          </a:prstGeom>
        </p:spPr>
      </p:pic>
      <p:sp>
        <p:nvSpPr>
          <p:cNvPr id="10" name="Text 7"/>
          <p:cNvSpPr/>
          <p:nvPr/>
        </p:nvSpPr>
        <p:spPr>
          <a:xfrm>
            <a:off x="1051084" y="4724638"/>
            <a:ext cx="3681770" cy="708660"/>
          </a:xfrm>
          <a:prstGeom prst="rect">
            <a:avLst/>
          </a:prstGeom>
          <a:noFill/>
          <a:ln/>
        </p:spPr>
        <p:txBody>
          <a:bodyPr wrap="square" lIns="0" tIns="0" rIns="0" bIns="0" rtlCol="0" anchor="t"/>
          <a:lstStyle/>
          <a:p>
            <a:pPr marL="0" indent="0" algn="l">
              <a:lnSpc>
                <a:spcPts val="2750"/>
              </a:lnSpc>
              <a:buNone/>
            </a:pPr>
            <a:r>
              <a:rPr lang="en-US" sz="22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1. Phân tích Dữ liệu Khám phá (EDA)</a:t>
            </a:r>
            <a:endParaRPr lang="en-US" sz="2200" dirty="0">
              <a:latin typeface="Times New Roman" panose="02020603050405020304" pitchFamily="18" charset="0"/>
              <a:cs typeface="Times New Roman" panose="02020603050405020304" pitchFamily="18" charset="0"/>
            </a:endParaRPr>
          </a:p>
        </p:txBody>
      </p:sp>
      <p:sp>
        <p:nvSpPr>
          <p:cNvPr id="11" name="Text 8"/>
          <p:cNvSpPr/>
          <p:nvPr/>
        </p:nvSpPr>
        <p:spPr>
          <a:xfrm>
            <a:off x="1051084" y="5569387"/>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Tổng quan về tập dữ liệu, xử lý giá trị bị thiếu, và tìm hiểu sự phân bố của biến mục tiêu và các tính năng quan trọng.</a:t>
            </a:r>
            <a:endParaRPr lang="en-US" sz="1750" dirty="0">
              <a:latin typeface="Times New Roman" panose="02020603050405020304" pitchFamily="18" charset="0"/>
              <a:cs typeface="Times New Roman" panose="02020603050405020304" pitchFamily="18" charset="0"/>
            </a:endParaRPr>
          </a:p>
        </p:txBody>
      </p:sp>
      <p:sp>
        <p:nvSpPr>
          <p:cNvPr id="12" name="Shape 9"/>
          <p:cNvSpPr/>
          <p:nvPr/>
        </p:nvSpPr>
        <p:spPr>
          <a:xfrm>
            <a:off x="5216962" y="4157663"/>
            <a:ext cx="4196358" cy="3129201"/>
          </a:xfrm>
          <a:prstGeom prst="roundRect">
            <a:avLst>
              <a:gd name="adj" fmla="val 4675"/>
            </a:avLst>
          </a:prstGeom>
          <a:solidFill>
            <a:srgbClr val="090E3F"/>
          </a:solidFill>
          <a:ln/>
        </p:spPr>
      </p:sp>
      <p:sp>
        <p:nvSpPr>
          <p:cNvPr id="13" name="Shape 10"/>
          <p:cNvSpPr/>
          <p:nvPr/>
        </p:nvSpPr>
        <p:spPr>
          <a:xfrm>
            <a:off x="5216962" y="4127183"/>
            <a:ext cx="4196358" cy="121920"/>
          </a:xfrm>
          <a:prstGeom prst="roundRect">
            <a:avLst>
              <a:gd name="adj" fmla="val 78139"/>
            </a:avLst>
          </a:prstGeom>
          <a:solidFill>
            <a:srgbClr val="EEAEF6"/>
          </a:solidFill>
          <a:ln/>
        </p:spPr>
      </p:sp>
      <p:sp>
        <p:nvSpPr>
          <p:cNvPr id="14" name="Shape 11"/>
          <p:cNvSpPr/>
          <p:nvPr/>
        </p:nvSpPr>
        <p:spPr>
          <a:xfrm>
            <a:off x="6974860" y="3817501"/>
            <a:ext cx="680442" cy="680442"/>
          </a:xfrm>
          <a:prstGeom prst="roundRect">
            <a:avLst>
              <a:gd name="adj" fmla="val 134383"/>
            </a:avLst>
          </a:prstGeom>
          <a:solidFill>
            <a:srgbClr val="EEAEF6"/>
          </a:solidFill>
          <a:ln/>
        </p:spPr>
      </p:sp>
      <p:pic>
        <p:nvPicPr>
          <p:cNvPr id="15" name="Image 1" descr="preencoded.png"/>
          <p:cNvPicPr>
            <a:picLocks noChangeAspect="1"/>
          </p:cNvPicPr>
          <p:nvPr/>
        </p:nvPicPr>
        <p:blipFill>
          <a:blip r:embed="rId4"/>
          <a:stretch>
            <a:fillRect/>
          </a:stretch>
        </p:blipFill>
        <p:spPr>
          <a:xfrm>
            <a:off x="7178933" y="3987641"/>
            <a:ext cx="272177" cy="340162"/>
          </a:xfrm>
          <a:prstGeom prst="rect">
            <a:avLst/>
          </a:prstGeom>
        </p:spPr>
      </p:pic>
      <p:sp>
        <p:nvSpPr>
          <p:cNvPr id="16" name="Text 12"/>
          <p:cNvSpPr/>
          <p:nvPr/>
        </p:nvSpPr>
        <p:spPr>
          <a:xfrm>
            <a:off x="5474256" y="4724638"/>
            <a:ext cx="2938939" cy="354330"/>
          </a:xfrm>
          <a:prstGeom prst="rect">
            <a:avLst/>
          </a:prstGeom>
          <a:noFill/>
          <a:ln/>
        </p:spPr>
        <p:txBody>
          <a:bodyPr wrap="none" lIns="0" tIns="0" rIns="0" bIns="0" rtlCol="0" anchor="t"/>
          <a:lstStyle/>
          <a:p>
            <a:pPr marL="0" indent="0" algn="l">
              <a:lnSpc>
                <a:spcPts val="2750"/>
              </a:lnSpc>
              <a:buNone/>
            </a:pPr>
            <a:r>
              <a:rPr lang="en-US" sz="22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2. Kỹ thuật Tính năng</a:t>
            </a:r>
            <a:endParaRPr lang="en-US" sz="2200" dirty="0">
              <a:latin typeface="Times New Roman" panose="02020603050405020304" pitchFamily="18" charset="0"/>
              <a:cs typeface="Times New Roman" panose="02020603050405020304" pitchFamily="18" charset="0"/>
            </a:endParaRPr>
          </a:p>
        </p:txBody>
      </p:sp>
      <p:sp>
        <p:nvSpPr>
          <p:cNvPr id="17" name="Text 13"/>
          <p:cNvSpPr/>
          <p:nvPr/>
        </p:nvSpPr>
        <p:spPr>
          <a:xfrm>
            <a:off x="5474256" y="5215057"/>
            <a:ext cx="3681770" cy="1814513"/>
          </a:xfrm>
          <a:prstGeom prst="rect">
            <a:avLst/>
          </a:prstGeom>
          <a:noFill/>
          <a:ln/>
        </p:spPr>
        <p:txBody>
          <a:bodyPr wrap="square" lIns="0" tIns="0" rIns="0" bIns="0" rtlCol="0" anchor="t"/>
          <a:lstStyle/>
          <a:p>
            <a:pPr marL="0" indent="0" algn="l">
              <a:lnSpc>
                <a:spcPts val="2850"/>
              </a:lnSpc>
              <a:buNone/>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Tạo các tính năng mới mạnh mẽ thông qua việc biến đổi, phân nhóm (binning) và mã hóa mục tiêu (target encoding) để tăng khả năng dự đoán.</a:t>
            </a:r>
            <a:endParaRPr lang="en-US" sz="1750" dirty="0">
              <a:latin typeface="Times New Roman" panose="02020603050405020304" pitchFamily="18" charset="0"/>
              <a:cs typeface="Times New Roman" panose="02020603050405020304" pitchFamily="18" charset="0"/>
            </a:endParaRPr>
          </a:p>
        </p:txBody>
      </p:sp>
      <p:sp>
        <p:nvSpPr>
          <p:cNvPr id="18" name="Shape 14"/>
          <p:cNvSpPr/>
          <p:nvPr/>
        </p:nvSpPr>
        <p:spPr>
          <a:xfrm>
            <a:off x="9640133" y="4157663"/>
            <a:ext cx="4196358" cy="3129201"/>
          </a:xfrm>
          <a:prstGeom prst="roundRect">
            <a:avLst>
              <a:gd name="adj" fmla="val 4675"/>
            </a:avLst>
          </a:prstGeom>
          <a:solidFill>
            <a:srgbClr val="090E3F"/>
          </a:solidFill>
          <a:ln/>
        </p:spPr>
      </p:sp>
      <p:sp>
        <p:nvSpPr>
          <p:cNvPr id="19" name="Shape 15"/>
          <p:cNvSpPr/>
          <p:nvPr/>
        </p:nvSpPr>
        <p:spPr>
          <a:xfrm>
            <a:off x="9640133" y="4127183"/>
            <a:ext cx="4196358" cy="121920"/>
          </a:xfrm>
          <a:prstGeom prst="roundRect">
            <a:avLst>
              <a:gd name="adj" fmla="val 78139"/>
            </a:avLst>
          </a:prstGeom>
          <a:solidFill>
            <a:srgbClr val="EEAEF6"/>
          </a:solidFill>
          <a:ln/>
        </p:spPr>
      </p:sp>
      <p:sp>
        <p:nvSpPr>
          <p:cNvPr id="20" name="Shape 16"/>
          <p:cNvSpPr/>
          <p:nvPr/>
        </p:nvSpPr>
        <p:spPr>
          <a:xfrm>
            <a:off x="11398032" y="3817501"/>
            <a:ext cx="680442" cy="680442"/>
          </a:xfrm>
          <a:prstGeom prst="roundRect">
            <a:avLst>
              <a:gd name="adj" fmla="val 134383"/>
            </a:avLst>
          </a:prstGeom>
          <a:solidFill>
            <a:srgbClr val="EEAEF6"/>
          </a:solidFill>
          <a:ln/>
        </p:spPr>
      </p:sp>
      <p:pic>
        <p:nvPicPr>
          <p:cNvPr id="21" name="Image 2" descr="preencoded.png"/>
          <p:cNvPicPr>
            <a:picLocks noChangeAspect="1"/>
          </p:cNvPicPr>
          <p:nvPr/>
        </p:nvPicPr>
        <p:blipFill>
          <a:blip r:embed="rId5"/>
          <a:stretch>
            <a:fillRect/>
          </a:stretch>
        </p:blipFill>
        <p:spPr>
          <a:xfrm>
            <a:off x="11602105" y="3987641"/>
            <a:ext cx="272177" cy="340162"/>
          </a:xfrm>
          <a:prstGeom prst="rect">
            <a:avLst/>
          </a:prstGeom>
        </p:spPr>
      </p:pic>
      <p:sp>
        <p:nvSpPr>
          <p:cNvPr id="22" name="Text 17"/>
          <p:cNvSpPr/>
          <p:nvPr/>
        </p:nvSpPr>
        <p:spPr>
          <a:xfrm>
            <a:off x="9897427" y="4724638"/>
            <a:ext cx="3681770" cy="708660"/>
          </a:xfrm>
          <a:prstGeom prst="rect">
            <a:avLst/>
          </a:prstGeom>
          <a:noFill/>
          <a:ln/>
        </p:spPr>
        <p:txBody>
          <a:bodyPr wrap="square" lIns="0" tIns="0" rIns="0" bIns="0" rtlCol="0" anchor="t"/>
          <a:lstStyle/>
          <a:p>
            <a:pPr marL="0" indent="0" algn="l">
              <a:lnSpc>
                <a:spcPts val="2750"/>
              </a:lnSpc>
              <a:buNone/>
            </a:pPr>
            <a:r>
              <a:rPr lang="en-US" sz="22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3. Xây dựng và Đánh giá Mô hình</a:t>
            </a:r>
            <a:endParaRPr lang="en-US" sz="2200" dirty="0">
              <a:latin typeface="Times New Roman" panose="02020603050405020304" pitchFamily="18" charset="0"/>
              <a:cs typeface="Times New Roman" panose="02020603050405020304" pitchFamily="18" charset="0"/>
            </a:endParaRPr>
          </a:p>
        </p:txBody>
      </p:sp>
      <p:sp>
        <p:nvSpPr>
          <p:cNvPr id="23" name="Text 18"/>
          <p:cNvSpPr/>
          <p:nvPr/>
        </p:nvSpPr>
        <p:spPr>
          <a:xfrm>
            <a:off x="9897427" y="5569387"/>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Sử dụng thuật toán Random Forest Classifier được tinh chỉnh để đạt hiệu suất cao trên bảng xếp hạng công khai.</a:t>
            </a:r>
            <a:endParaRPr lang="en-US" sz="17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333738"/>
            <a:ext cx="4643557" cy="566976"/>
          </a:xfrm>
          <a:prstGeom prst="rect">
            <a:avLst/>
          </a:prstGeom>
          <a:noFill/>
          <a:ln/>
        </p:spPr>
        <p:txBody>
          <a:bodyPr wrap="none" lIns="0" tIns="0" rIns="0" bIns="0" rtlCol="0" anchor="t"/>
          <a:lstStyle/>
          <a:p>
            <a:pPr marL="0" indent="0" algn="l">
              <a:lnSpc>
                <a:spcPts val="4450"/>
              </a:lnSpc>
              <a:buNone/>
            </a:pPr>
            <a:r>
              <a:rPr lang="en-US" sz="35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TỔNG QUAN DỮ LIỆU </a:t>
            </a:r>
            <a:endParaRPr lang="en-US" sz="3550" dirty="0">
              <a:latin typeface="Times New Roman" panose="02020603050405020304" pitchFamily="18" charset="0"/>
              <a:cs typeface="Times New Roman" panose="02020603050405020304" pitchFamily="18" charset="0"/>
            </a:endParaRPr>
          </a:p>
        </p:txBody>
      </p:sp>
      <p:sp>
        <p:nvSpPr>
          <p:cNvPr id="3" name="Text 1"/>
          <p:cNvSpPr/>
          <p:nvPr/>
        </p:nvSpPr>
        <p:spPr>
          <a:xfrm>
            <a:off x="793790" y="1991439"/>
            <a:ext cx="3468053" cy="425291"/>
          </a:xfrm>
          <a:prstGeom prst="rect">
            <a:avLst/>
          </a:prstGeom>
          <a:noFill/>
          <a:ln/>
        </p:spPr>
        <p:txBody>
          <a:bodyPr wrap="none" lIns="0" tIns="0" rIns="0" bIns="0" rtlCol="0" anchor="t"/>
          <a:lstStyle/>
          <a:p>
            <a:pPr marL="0" indent="0" algn="l">
              <a:lnSpc>
                <a:spcPts val="3300"/>
              </a:lnSpc>
              <a:buNone/>
            </a:pPr>
            <a:r>
              <a:rPr lang="en-US" sz="26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Cấu Trúc Tập Dữ Liệu</a:t>
            </a:r>
            <a:endParaRPr lang="en-US" sz="2650" dirty="0">
              <a:latin typeface="Times New Roman" panose="02020603050405020304" pitchFamily="18" charset="0"/>
              <a:cs typeface="Times New Roman" panose="02020603050405020304" pitchFamily="18" charset="0"/>
            </a:endParaRPr>
          </a:p>
        </p:txBody>
      </p:sp>
      <p:sp>
        <p:nvSpPr>
          <p:cNvPr id="4" name="Text 2"/>
          <p:cNvSpPr/>
          <p:nvPr/>
        </p:nvSpPr>
        <p:spPr>
          <a:xfrm>
            <a:off x="793790" y="2756892"/>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Tập Huấn luyện (Train): 891 hàng, 12 tính năng.</a:t>
            </a:r>
            <a:endParaRPr lang="en-US" sz="1750" dirty="0">
              <a:latin typeface="Times New Roman" panose="02020603050405020304" pitchFamily="18" charset="0"/>
              <a:cs typeface="Times New Roman" panose="02020603050405020304" pitchFamily="18" charset="0"/>
            </a:endParaRPr>
          </a:p>
        </p:txBody>
      </p:sp>
      <p:sp>
        <p:nvSpPr>
          <p:cNvPr id="5" name="Text 3"/>
          <p:cNvSpPr/>
          <p:nvPr/>
        </p:nvSpPr>
        <p:spPr>
          <a:xfrm>
            <a:off x="793790" y="3199090"/>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Tập Kiểm tra (Test): 418 hàng, 11 tính năng.</a:t>
            </a:r>
            <a:endParaRPr lang="en-US" sz="1750" dirty="0">
              <a:latin typeface="Times New Roman" panose="02020603050405020304" pitchFamily="18" charset="0"/>
              <a:cs typeface="Times New Roman" panose="02020603050405020304" pitchFamily="18" charset="0"/>
            </a:endParaRPr>
          </a:p>
        </p:txBody>
      </p:sp>
      <p:sp>
        <p:nvSpPr>
          <p:cNvPr id="6" name="Text 4"/>
          <p:cNvSpPr/>
          <p:nvPr/>
        </p:nvSpPr>
        <p:spPr>
          <a:xfrm>
            <a:off x="793790" y="364128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Tính năng Mục tiêu (Target): </a:t>
            </a:r>
            <a:r>
              <a:rPr lang="en-US" sz="1750" b="1" dirty="0">
                <a:solidFill>
                  <a:srgbClr val="E5DCE6"/>
                </a:solidFill>
                <a:latin typeface="Times New Roman" panose="02020603050405020304" pitchFamily="18" charset="0"/>
                <a:ea typeface="Montserrat" pitchFamily="34" charset="-122"/>
                <a:cs typeface="Times New Roman" panose="02020603050405020304" pitchFamily="18" charset="0"/>
              </a:rPr>
              <a:t>Survived</a:t>
            </a: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 (1: Sống sót, 0: Không sống sót) chỉ có trong tập huấn luyện.</a:t>
            </a:r>
            <a:endParaRPr lang="en-US" sz="1750" dirty="0">
              <a:latin typeface="Times New Roman" panose="02020603050405020304" pitchFamily="18" charset="0"/>
              <a:cs typeface="Times New Roman" panose="02020603050405020304" pitchFamily="18" charset="0"/>
            </a:endParaRPr>
          </a:p>
        </p:txBody>
      </p:sp>
      <p:sp>
        <p:nvSpPr>
          <p:cNvPr id="7" name="Text 5"/>
          <p:cNvSpPr/>
          <p:nvPr/>
        </p:nvSpPr>
        <p:spPr>
          <a:xfrm>
            <a:off x="793790" y="4083487"/>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Các tính năng quan trọng: Pclass, Sex, Age, Fare, Cabin, Embarked, SibSp, Parch.</a:t>
            </a:r>
            <a:endParaRPr lang="en-US" sz="1750" dirty="0">
              <a:latin typeface="Times New Roman" panose="02020603050405020304" pitchFamily="18" charset="0"/>
              <a:cs typeface="Times New Roman" panose="02020603050405020304" pitchFamily="18" charset="0"/>
            </a:endParaRPr>
          </a:p>
        </p:txBody>
      </p:sp>
      <p:sp>
        <p:nvSpPr>
          <p:cNvPr id="8" name="Text 6"/>
          <p:cNvSpPr/>
          <p:nvPr/>
        </p:nvSpPr>
        <p:spPr>
          <a:xfrm>
            <a:off x="793790" y="4701540"/>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Việc kết hợp tập huấn luyện và tập kiểm tra (</a:t>
            </a:r>
            <a:r>
              <a:rPr lang="en-US" sz="1750" b="1" dirty="0">
                <a:solidFill>
                  <a:srgbClr val="E5DCE6"/>
                </a:solidFill>
                <a:latin typeface="Times New Roman" panose="02020603050405020304" pitchFamily="18" charset="0"/>
                <a:ea typeface="Montserrat" pitchFamily="34" charset="-122"/>
                <a:cs typeface="Times New Roman" panose="02020603050405020304" pitchFamily="18" charset="0"/>
              </a:rPr>
              <a:t>df_all</a:t>
            </a: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 giúp việc xử lý giá trị bị thiếu và kỹ thuật tính năng được nhất quán, tránh overfitting cho từng tập hợp.</a:t>
            </a:r>
            <a:endParaRPr lang="en-US" sz="1750" dirty="0">
              <a:latin typeface="Times New Roman" panose="02020603050405020304" pitchFamily="18" charset="0"/>
              <a:cs typeface="Times New Roman" panose="02020603050405020304" pitchFamily="18" charset="0"/>
            </a:endParaRPr>
          </a:p>
        </p:txBody>
      </p:sp>
      <p:sp>
        <p:nvSpPr>
          <p:cNvPr id="9" name="Text 7"/>
          <p:cNvSpPr/>
          <p:nvPr/>
        </p:nvSpPr>
        <p:spPr>
          <a:xfrm>
            <a:off x="793790" y="5767507"/>
            <a:ext cx="5852517" cy="425291"/>
          </a:xfrm>
          <a:prstGeom prst="rect">
            <a:avLst/>
          </a:prstGeom>
          <a:noFill/>
          <a:ln/>
        </p:spPr>
        <p:txBody>
          <a:bodyPr wrap="none" lIns="0" tIns="0" rIns="0" bIns="0" rtlCol="0" anchor="t"/>
          <a:lstStyle/>
          <a:p>
            <a:pPr marL="0" indent="0" algn="l">
              <a:lnSpc>
                <a:spcPts val="3300"/>
              </a:lnSpc>
              <a:buNone/>
            </a:pPr>
            <a:r>
              <a:rPr lang="en-US" sz="26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Phân Bố Mục Tiêu (Tập Huấn luyện)</a:t>
            </a:r>
            <a:endParaRPr lang="en-US" sz="2650" dirty="0">
              <a:latin typeface="Times New Roman" panose="02020603050405020304" pitchFamily="18" charset="0"/>
              <a:cs typeface="Times New Roman" panose="02020603050405020304" pitchFamily="18" charset="0"/>
            </a:endParaRPr>
          </a:p>
        </p:txBody>
      </p:sp>
      <p:sp>
        <p:nvSpPr>
          <p:cNvPr id="10" name="Text 8"/>
          <p:cNvSpPr/>
          <p:nvPr/>
        </p:nvSpPr>
        <p:spPr>
          <a:xfrm>
            <a:off x="793790" y="653295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Chỉ </a:t>
            </a:r>
            <a:r>
              <a:rPr lang="en-US" sz="1750" dirty="0">
                <a:solidFill>
                  <a:srgbClr val="EEAEF6"/>
                </a:solidFill>
                <a:latin typeface="Times New Roman" panose="02020603050405020304" pitchFamily="18" charset="0"/>
                <a:ea typeface="Montserrat" pitchFamily="34" charset="-122"/>
                <a:cs typeface="Times New Roman" panose="02020603050405020304" pitchFamily="18" charset="0"/>
              </a:rPr>
              <a:t>38.38%</a:t>
            </a: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 hành khách sống sót. Dữ liệu mất cân bằng nhẹ, cần được ghi nhớ khi đánh giá mô hình.</a:t>
            </a:r>
            <a:endParaRPr lang="en-US" sz="17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36151" y="499824"/>
            <a:ext cx="7214354" cy="454462"/>
          </a:xfrm>
          <a:prstGeom prst="rect">
            <a:avLst/>
          </a:prstGeom>
          <a:noFill/>
          <a:ln/>
        </p:spPr>
        <p:txBody>
          <a:bodyPr wrap="none" lIns="0" tIns="0" rIns="0" bIns="0" rtlCol="0" anchor="t"/>
          <a:lstStyle/>
          <a:p>
            <a:pPr marL="0" indent="0" algn="l">
              <a:lnSpc>
                <a:spcPts val="3550"/>
              </a:lnSpc>
              <a:buNone/>
            </a:pPr>
            <a:r>
              <a:rPr lang="en-US" sz="28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TỔNG QUAN DATA &amp; QUY TRÌNH ĐỀ XUẤT</a:t>
            </a:r>
            <a:endParaRPr lang="en-US" sz="2850" dirty="0">
              <a:latin typeface="Times New Roman" panose="02020603050405020304" pitchFamily="18" charset="0"/>
              <a:cs typeface="Times New Roman" panose="02020603050405020304" pitchFamily="18" charset="0"/>
            </a:endParaRPr>
          </a:p>
        </p:txBody>
      </p:sp>
      <p:sp>
        <p:nvSpPr>
          <p:cNvPr id="3" name="Text 1"/>
          <p:cNvSpPr/>
          <p:nvPr/>
        </p:nvSpPr>
        <p:spPr>
          <a:xfrm>
            <a:off x="636151" y="1026914"/>
            <a:ext cx="2726650" cy="340757"/>
          </a:xfrm>
          <a:prstGeom prst="rect">
            <a:avLst/>
          </a:prstGeom>
          <a:noFill/>
          <a:ln/>
        </p:spPr>
        <p:txBody>
          <a:bodyPr wrap="none" lIns="0" tIns="0" rIns="0" bIns="0" rtlCol="0" anchor="t"/>
          <a:lstStyle/>
          <a:p>
            <a:pPr marL="0" indent="0" algn="l">
              <a:lnSpc>
                <a:spcPts val="2650"/>
              </a:lnSpc>
              <a:buNone/>
            </a:pPr>
            <a:r>
              <a:rPr lang="en-US" sz="21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Dataset Overview</a:t>
            </a:r>
            <a:endParaRPr lang="en-US" sz="2100" dirty="0">
              <a:latin typeface="Times New Roman" panose="02020603050405020304" pitchFamily="18" charset="0"/>
              <a:cs typeface="Times New Roman" panose="02020603050405020304" pitchFamily="18" charset="0"/>
            </a:endParaRPr>
          </a:p>
        </p:txBody>
      </p:sp>
      <p:sp>
        <p:nvSpPr>
          <p:cNvPr id="4" name="Text 2"/>
          <p:cNvSpPr/>
          <p:nvPr/>
        </p:nvSpPr>
        <p:spPr>
          <a:xfrm>
            <a:off x="636151" y="1822013"/>
            <a:ext cx="2272189" cy="283964"/>
          </a:xfrm>
          <a:prstGeom prst="rect">
            <a:avLst/>
          </a:prstGeom>
          <a:noFill/>
          <a:ln/>
        </p:spPr>
        <p:txBody>
          <a:bodyPr wrap="none" lIns="0" tIns="0" rIns="0" bIns="0" rtlCol="0" anchor="t"/>
          <a:lstStyle/>
          <a:p>
            <a:pPr marL="0" indent="0" algn="l">
              <a:lnSpc>
                <a:spcPts val="2200"/>
              </a:lnSpc>
              <a:buNone/>
            </a:pPr>
            <a:r>
              <a:rPr lang="en-US" sz="17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Dataset Split</a:t>
            </a:r>
            <a:endParaRPr lang="en-US" sz="1750" dirty="0">
              <a:latin typeface="Times New Roman" panose="02020603050405020304" pitchFamily="18" charset="0"/>
              <a:cs typeface="Times New Roman" panose="02020603050405020304" pitchFamily="18" charset="0"/>
            </a:endParaRPr>
          </a:p>
        </p:txBody>
      </p:sp>
      <p:pic>
        <p:nvPicPr>
          <p:cNvPr id="5" name="Image 0" descr="preencoded.png"/>
          <p:cNvPicPr>
            <a:picLocks noChangeAspect="1"/>
          </p:cNvPicPr>
          <p:nvPr/>
        </p:nvPicPr>
        <p:blipFill>
          <a:blip r:embed="rId3"/>
          <a:stretch>
            <a:fillRect/>
          </a:stretch>
        </p:blipFill>
        <p:spPr>
          <a:xfrm>
            <a:off x="636151" y="2310408"/>
            <a:ext cx="5009078" cy="1777127"/>
          </a:xfrm>
          <a:prstGeom prst="rect">
            <a:avLst/>
          </a:prstGeom>
        </p:spPr>
      </p:pic>
      <p:sp>
        <p:nvSpPr>
          <p:cNvPr id="6" name="Shape 3"/>
          <p:cNvSpPr/>
          <p:nvPr/>
        </p:nvSpPr>
        <p:spPr>
          <a:xfrm>
            <a:off x="2032873" y="4118015"/>
            <a:ext cx="181689" cy="181689"/>
          </a:xfrm>
          <a:prstGeom prst="roundRect">
            <a:avLst>
              <a:gd name="adj" fmla="val 10066"/>
            </a:avLst>
          </a:prstGeom>
          <a:solidFill>
            <a:srgbClr val="570B60"/>
          </a:solidFill>
          <a:ln/>
        </p:spPr>
      </p:sp>
      <p:sp>
        <p:nvSpPr>
          <p:cNvPr id="7" name="Text 4"/>
          <p:cNvSpPr/>
          <p:nvPr/>
        </p:nvSpPr>
        <p:spPr>
          <a:xfrm>
            <a:off x="2275523" y="4118015"/>
            <a:ext cx="788908" cy="181808"/>
          </a:xfrm>
          <a:prstGeom prst="rect">
            <a:avLst/>
          </a:prstGeom>
          <a:noFill/>
          <a:ln/>
        </p:spPr>
        <p:txBody>
          <a:bodyPr wrap="none" lIns="0" tIns="0" rIns="0" bIns="0" rtlCol="0" anchor="t"/>
          <a:lstStyle/>
          <a:p>
            <a:pPr marL="0" indent="0" algn="l">
              <a:lnSpc>
                <a:spcPts val="140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Train Set</a:t>
            </a:r>
            <a:endParaRPr lang="en-US" sz="1400" dirty="0">
              <a:latin typeface="Times New Roman" panose="02020603050405020304" pitchFamily="18" charset="0"/>
              <a:cs typeface="Times New Roman" panose="02020603050405020304" pitchFamily="18" charset="0"/>
            </a:endParaRPr>
          </a:p>
        </p:txBody>
      </p:sp>
      <p:sp>
        <p:nvSpPr>
          <p:cNvPr id="8" name="Shape 5"/>
          <p:cNvSpPr/>
          <p:nvPr/>
        </p:nvSpPr>
        <p:spPr>
          <a:xfrm>
            <a:off x="3216831" y="4118015"/>
            <a:ext cx="181689" cy="181689"/>
          </a:xfrm>
          <a:prstGeom prst="roundRect">
            <a:avLst>
              <a:gd name="adj" fmla="val 10066"/>
            </a:avLst>
          </a:prstGeom>
          <a:solidFill>
            <a:srgbClr val="D73EEA"/>
          </a:solidFill>
          <a:ln/>
        </p:spPr>
      </p:sp>
      <p:sp>
        <p:nvSpPr>
          <p:cNvPr id="9" name="Text 6"/>
          <p:cNvSpPr/>
          <p:nvPr/>
        </p:nvSpPr>
        <p:spPr>
          <a:xfrm>
            <a:off x="3459480" y="4118015"/>
            <a:ext cx="709374" cy="181808"/>
          </a:xfrm>
          <a:prstGeom prst="rect">
            <a:avLst/>
          </a:prstGeom>
          <a:noFill/>
          <a:ln/>
        </p:spPr>
        <p:txBody>
          <a:bodyPr wrap="none" lIns="0" tIns="0" rIns="0" bIns="0" rtlCol="0" anchor="t"/>
          <a:lstStyle/>
          <a:p>
            <a:pPr marL="0" indent="0" algn="l">
              <a:lnSpc>
                <a:spcPts val="140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Test Set</a:t>
            </a:r>
            <a:endParaRPr lang="en-US" sz="1400" dirty="0">
              <a:latin typeface="Times New Roman" panose="02020603050405020304" pitchFamily="18" charset="0"/>
              <a:cs typeface="Times New Roman" panose="02020603050405020304" pitchFamily="18" charset="0"/>
            </a:endParaRPr>
          </a:p>
        </p:txBody>
      </p:sp>
      <p:sp>
        <p:nvSpPr>
          <p:cNvPr id="10" name="Text 7"/>
          <p:cNvSpPr/>
          <p:nvPr/>
        </p:nvSpPr>
        <p:spPr>
          <a:xfrm>
            <a:off x="7544514" y="1822013"/>
            <a:ext cx="2317909" cy="283964"/>
          </a:xfrm>
          <a:prstGeom prst="rect">
            <a:avLst/>
          </a:prstGeom>
          <a:noFill/>
          <a:ln/>
        </p:spPr>
        <p:txBody>
          <a:bodyPr wrap="none" lIns="0" tIns="0" rIns="0" bIns="0" rtlCol="0" anchor="t"/>
          <a:lstStyle/>
          <a:p>
            <a:pPr marL="0" indent="0" algn="l">
              <a:lnSpc>
                <a:spcPts val="2200"/>
              </a:lnSpc>
              <a:buNone/>
            </a:pPr>
            <a:r>
              <a:rPr lang="en-US" sz="17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Survival Distribution</a:t>
            </a:r>
            <a:endParaRPr lang="en-US" sz="1750" dirty="0">
              <a:latin typeface="Times New Roman" panose="02020603050405020304" pitchFamily="18" charset="0"/>
              <a:cs typeface="Times New Roman" panose="02020603050405020304" pitchFamily="18" charset="0"/>
            </a:endParaRPr>
          </a:p>
        </p:txBody>
      </p:sp>
      <p:pic>
        <p:nvPicPr>
          <p:cNvPr id="11" name="Image 1" descr="preencoded.png"/>
          <p:cNvPicPr>
            <a:picLocks noChangeAspect="1"/>
          </p:cNvPicPr>
          <p:nvPr/>
        </p:nvPicPr>
        <p:blipFill>
          <a:blip r:embed="rId4"/>
          <a:stretch>
            <a:fillRect/>
          </a:stretch>
        </p:blipFill>
        <p:spPr>
          <a:xfrm>
            <a:off x="7544514" y="2310408"/>
            <a:ext cx="5009078" cy="1777127"/>
          </a:xfrm>
          <a:prstGeom prst="rect">
            <a:avLst/>
          </a:prstGeom>
        </p:spPr>
      </p:pic>
      <p:sp>
        <p:nvSpPr>
          <p:cNvPr id="12" name="Shape 8"/>
          <p:cNvSpPr/>
          <p:nvPr/>
        </p:nvSpPr>
        <p:spPr>
          <a:xfrm>
            <a:off x="8944689" y="4118015"/>
            <a:ext cx="181689" cy="181689"/>
          </a:xfrm>
          <a:prstGeom prst="roundRect">
            <a:avLst>
              <a:gd name="adj" fmla="val 10066"/>
            </a:avLst>
          </a:prstGeom>
          <a:solidFill>
            <a:srgbClr val="570B60"/>
          </a:solidFill>
          <a:ln/>
        </p:spPr>
      </p:sp>
      <p:sp>
        <p:nvSpPr>
          <p:cNvPr id="13" name="Text 9"/>
          <p:cNvSpPr/>
          <p:nvPr/>
        </p:nvSpPr>
        <p:spPr>
          <a:xfrm>
            <a:off x="9187339" y="4118015"/>
            <a:ext cx="785455" cy="181808"/>
          </a:xfrm>
          <a:prstGeom prst="rect">
            <a:avLst/>
          </a:prstGeom>
          <a:noFill/>
          <a:ln/>
        </p:spPr>
        <p:txBody>
          <a:bodyPr wrap="none" lIns="0" tIns="0" rIns="0" bIns="0" rtlCol="0" anchor="t"/>
          <a:lstStyle/>
          <a:p>
            <a:pPr marL="0" indent="0" algn="l">
              <a:lnSpc>
                <a:spcPts val="140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Survived</a:t>
            </a:r>
            <a:endParaRPr lang="en-US" sz="1400" dirty="0">
              <a:latin typeface="Times New Roman" panose="02020603050405020304" pitchFamily="18" charset="0"/>
              <a:cs typeface="Times New Roman" panose="02020603050405020304" pitchFamily="18" charset="0"/>
            </a:endParaRPr>
          </a:p>
        </p:txBody>
      </p:sp>
      <p:sp>
        <p:nvSpPr>
          <p:cNvPr id="14" name="Shape 10"/>
          <p:cNvSpPr/>
          <p:nvPr/>
        </p:nvSpPr>
        <p:spPr>
          <a:xfrm>
            <a:off x="10125194" y="4118015"/>
            <a:ext cx="181689" cy="181689"/>
          </a:xfrm>
          <a:prstGeom prst="roundRect">
            <a:avLst>
              <a:gd name="adj" fmla="val 10066"/>
            </a:avLst>
          </a:prstGeom>
          <a:solidFill>
            <a:srgbClr val="D73EEA"/>
          </a:solidFill>
          <a:ln/>
        </p:spPr>
      </p:sp>
      <p:sp>
        <p:nvSpPr>
          <p:cNvPr id="15" name="Text 11"/>
          <p:cNvSpPr/>
          <p:nvPr/>
        </p:nvSpPr>
        <p:spPr>
          <a:xfrm>
            <a:off x="10367843" y="4118015"/>
            <a:ext cx="1415058" cy="181808"/>
          </a:xfrm>
          <a:prstGeom prst="rect">
            <a:avLst/>
          </a:prstGeom>
          <a:noFill/>
          <a:ln/>
        </p:spPr>
        <p:txBody>
          <a:bodyPr wrap="none" lIns="0" tIns="0" rIns="0" bIns="0" rtlCol="0" anchor="t"/>
          <a:lstStyle/>
          <a:p>
            <a:pPr marL="0" indent="0" algn="l">
              <a:lnSpc>
                <a:spcPts val="140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Did Not Survive</a:t>
            </a:r>
            <a:endParaRPr lang="en-US" sz="1400" dirty="0">
              <a:latin typeface="Times New Roman" panose="02020603050405020304" pitchFamily="18" charset="0"/>
              <a:cs typeface="Times New Roman" panose="02020603050405020304" pitchFamily="18" charset="0"/>
            </a:endParaRPr>
          </a:p>
        </p:txBody>
      </p:sp>
      <p:sp>
        <p:nvSpPr>
          <p:cNvPr id="16" name="Text 12"/>
          <p:cNvSpPr/>
          <p:nvPr/>
        </p:nvSpPr>
        <p:spPr>
          <a:xfrm>
            <a:off x="636151" y="4776907"/>
            <a:ext cx="4760714" cy="340757"/>
          </a:xfrm>
          <a:prstGeom prst="rect">
            <a:avLst/>
          </a:prstGeom>
          <a:noFill/>
          <a:ln/>
        </p:spPr>
        <p:txBody>
          <a:bodyPr wrap="none" lIns="0" tIns="0" rIns="0" bIns="0" rtlCol="0" anchor="t"/>
          <a:lstStyle/>
          <a:p>
            <a:pPr marL="0" indent="0" algn="l">
              <a:lnSpc>
                <a:spcPts val="2650"/>
              </a:lnSpc>
              <a:buNone/>
            </a:pPr>
            <a:r>
              <a:rPr lang="en-US" sz="21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QUY TRÌNH PHƯƠNG PHÁP ĐỀ XUẤT</a:t>
            </a:r>
            <a:endParaRPr lang="en-US" sz="2100" dirty="0">
              <a:latin typeface="Times New Roman" panose="02020603050405020304" pitchFamily="18" charset="0"/>
              <a:cs typeface="Times New Roman" panose="02020603050405020304" pitchFamily="18" charset="0"/>
            </a:endParaRPr>
          </a:p>
        </p:txBody>
      </p:sp>
      <p:sp>
        <p:nvSpPr>
          <p:cNvPr id="17" name="Shape 13"/>
          <p:cNvSpPr/>
          <p:nvPr/>
        </p:nvSpPr>
        <p:spPr>
          <a:xfrm>
            <a:off x="636151" y="5390317"/>
            <a:ext cx="4301252" cy="988933"/>
          </a:xfrm>
          <a:prstGeom prst="roundRect">
            <a:avLst>
              <a:gd name="adj" fmla="val 7720"/>
            </a:avLst>
          </a:prstGeom>
          <a:solidFill>
            <a:srgbClr val="282D5E"/>
          </a:solidFill>
          <a:ln/>
        </p:spPr>
      </p:sp>
      <p:sp>
        <p:nvSpPr>
          <p:cNvPr id="18" name="Shape 14"/>
          <p:cNvSpPr/>
          <p:nvPr/>
        </p:nvSpPr>
        <p:spPr>
          <a:xfrm>
            <a:off x="817840" y="5668506"/>
            <a:ext cx="90845" cy="90845"/>
          </a:xfrm>
          <a:prstGeom prst="roundRect">
            <a:avLst>
              <a:gd name="adj" fmla="val 503275"/>
            </a:avLst>
          </a:prstGeom>
          <a:solidFill>
            <a:srgbClr val="EEAEF6"/>
          </a:solidFill>
          <a:ln/>
        </p:spPr>
      </p:sp>
      <p:sp>
        <p:nvSpPr>
          <p:cNvPr id="19" name="Text 15"/>
          <p:cNvSpPr/>
          <p:nvPr/>
        </p:nvSpPr>
        <p:spPr>
          <a:xfrm>
            <a:off x="1090374" y="5572006"/>
            <a:ext cx="2272189" cy="283964"/>
          </a:xfrm>
          <a:prstGeom prst="rect">
            <a:avLst/>
          </a:prstGeom>
          <a:noFill/>
          <a:ln/>
        </p:spPr>
        <p:txBody>
          <a:bodyPr wrap="none" lIns="0" tIns="0" rIns="0" bIns="0" rtlCol="0" anchor="t"/>
          <a:lstStyle/>
          <a:p>
            <a:pPr marL="0" indent="0" algn="l">
              <a:lnSpc>
                <a:spcPts val="2200"/>
              </a:lnSpc>
              <a:buNone/>
            </a:pPr>
            <a:r>
              <a:rPr lang="en-US" sz="175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1. EDA</a:t>
            </a:r>
            <a:endParaRPr lang="en-US" sz="1750" dirty="0">
              <a:latin typeface="Times New Roman" panose="02020603050405020304" pitchFamily="18" charset="0"/>
              <a:cs typeface="Times New Roman" panose="02020603050405020304" pitchFamily="18" charset="0"/>
            </a:endParaRPr>
          </a:p>
        </p:txBody>
      </p:sp>
      <p:sp>
        <p:nvSpPr>
          <p:cNvPr id="20" name="Text 16"/>
          <p:cNvSpPr/>
          <p:nvPr/>
        </p:nvSpPr>
        <p:spPr>
          <a:xfrm>
            <a:off x="1090374" y="5965031"/>
            <a:ext cx="3665339" cy="232529"/>
          </a:xfrm>
          <a:prstGeom prst="rect">
            <a:avLst/>
          </a:prstGeom>
          <a:noFill/>
          <a:ln/>
        </p:spPr>
        <p:txBody>
          <a:bodyPr wrap="none" lIns="0" tIns="0" rIns="0" bIns="0" rtlCol="0" anchor="t"/>
          <a:lstStyle/>
          <a:p>
            <a:pPr marL="0" indent="0" algn="l">
              <a:lnSpc>
                <a:spcPts val="1800"/>
              </a:lnSpc>
              <a:buNone/>
            </a:pPr>
            <a:r>
              <a:rPr lang="en-US" sz="1100" dirty="0">
                <a:solidFill>
                  <a:srgbClr val="E5DCE6"/>
                </a:solidFill>
                <a:latin typeface="Times New Roman" panose="02020603050405020304" pitchFamily="18" charset="0"/>
                <a:ea typeface="Montserrat" pitchFamily="34" charset="-122"/>
                <a:cs typeface="Times New Roman" panose="02020603050405020304" pitchFamily="18" charset="0"/>
              </a:rPr>
              <a:t>Phân tích dữ liệu khám phá</a:t>
            </a:r>
            <a:endParaRPr lang="en-US" sz="1100" dirty="0">
              <a:latin typeface="Times New Roman" panose="02020603050405020304" pitchFamily="18" charset="0"/>
              <a:cs typeface="Times New Roman" panose="02020603050405020304" pitchFamily="18" charset="0"/>
            </a:endParaRPr>
          </a:p>
        </p:txBody>
      </p:sp>
      <p:sp>
        <p:nvSpPr>
          <p:cNvPr id="21" name="Shape 17"/>
          <p:cNvSpPr/>
          <p:nvPr/>
        </p:nvSpPr>
        <p:spPr>
          <a:xfrm>
            <a:off x="5164574" y="5390317"/>
            <a:ext cx="4301252" cy="988933"/>
          </a:xfrm>
          <a:prstGeom prst="roundRect">
            <a:avLst>
              <a:gd name="adj" fmla="val 7720"/>
            </a:avLst>
          </a:prstGeom>
          <a:solidFill>
            <a:srgbClr val="282D5E"/>
          </a:solidFill>
          <a:ln/>
        </p:spPr>
      </p:sp>
      <p:sp>
        <p:nvSpPr>
          <p:cNvPr id="22" name="Shape 18"/>
          <p:cNvSpPr/>
          <p:nvPr/>
        </p:nvSpPr>
        <p:spPr>
          <a:xfrm>
            <a:off x="5346263" y="5668506"/>
            <a:ext cx="90845" cy="90845"/>
          </a:xfrm>
          <a:prstGeom prst="roundRect">
            <a:avLst>
              <a:gd name="adj" fmla="val 503275"/>
            </a:avLst>
          </a:prstGeom>
          <a:solidFill>
            <a:srgbClr val="EEAEF6"/>
          </a:solidFill>
          <a:ln/>
        </p:spPr>
      </p:sp>
      <p:sp>
        <p:nvSpPr>
          <p:cNvPr id="23" name="Text 19"/>
          <p:cNvSpPr/>
          <p:nvPr/>
        </p:nvSpPr>
        <p:spPr>
          <a:xfrm>
            <a:off x="5618798" y="5572006"/>
            <a:ext cx="2527340" cy="283964"/>
          </a:xfrm>
          <a:prstGeom prst="rect">
            <a:avLst/>
          </a:prstGeom>
          <a:noFill/>
          <a:ln/>
        </p:spPr>
        <p:txBody>
          <a:bodyPr wrap="none" lIns="0" tIns="0" rIns="0" bIns="0" rtlCol="0" anchor="t"/>
          <a:lstStyle/>
          <a:p>
            <a:pPr marL="0" indent="0" algn="l">
              <a:lnSpc>
                <a:spcPts val="2200"/>
              </a:lnSpc>
              <a:buNone/>
            </a:pPr>
            <a:r>
              <a:rPr lang="en-US" sz="175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2. Feature Engineering</a:t>
            </a:r>
            <a:endParaRPr lang="en-US" sz="1750" dirty="0">
              <a:latin typeface="Times New Roman" panose="02020603050405020304" pitchFamily="18" charset="0"/>
              <a:cs typeface="Times New Roman" panose="02020603050405020304" pitchFamily="18" charset="0"/>
            </a:endParaRPr>
          </a:p>
        </p:txBody>
      </p:sp>
      <p:sp>
        <p:nvSpPr>
          <p:cNvPr id="24" name="Text 20"/>
          <p:cNvSpPr/>
          <p:nvPr/>
        </p:nvSpPr>
        <p:spPr>
          <a:xfrm>
            <a:off x="5618798" y="5965031"/>
            <a:ext cx="3665339" cy="232529"/>
          </a:xfrm>
          <a:prstGeom prst="rect">
            <a:avLst/>
          </a:prstGeom>
          <a:noFill/>
          <a:ln/>
        </p:spPr>
        <p:txBody>
          <a:bodyPr wrap="none" lIns="0" tIns="0" rIns="0" bIns="0" rtlCol="0" anchor="t"/>
          <a:lstStyle/>
          <a:p>
            <a:pPr marL="0" indent="0" algn="l">
              <a:lnSpc>
                <a:spcPts val="1800"/>
              </a:lnSpc>
              <a:buNone/>
            </a:pPr>
            <a:r>
              <a:rPr lang="en-US" sz="1100" dirty="0">
                <a:solidFill>
                  <a:srgbClr val="E5DCE6"/>
                </a:solidFill>
                <a:latin typeface="Times New Roman" panose="02020603050405020304" pitchFamily="18" charset="0"/>
                <a:ea typeface="Montserrat" pitchFamily="34" charset="-122"/>
                <a:cs typeface="Times New Roman" panose="02020603050405020304" pitchFamily="18" charset="0"/>
              </a:rPr>
              <a:t>Tạo &amp; mã hóa đặc trưng mới</a:t>
            </a:r>
            <a:endParaRPr lang="en-US" sz="1100" dirty="0">
              <a:latin typeface="Times New Roman" panose="02020603050405020304" pitchFamily="18" charset="0"/>
              <a:cs typeface="Times New Roman" panose="02020603050405020304" pitchFamily="18" charset="0"/>
            </a:endParaRPr>
          </a:p>
        </p:txBody>
      </p:sp>
      <p:sp>
        <p:nvSpPr>
          <p:cNvPr id="25" name="Shape 21"/>
          <p:cNvSpPr/>
          <p:nvPr/>
        </p:nvSpPr>
        <p:spPr>
          <a:xfrm>
            <a:off x="9692997" y="5390317"/>
            <a:ext cx="4301252" cy="988933"/>
          </a:xfrm>
          <a:prstGeom prst="roundRect">
            <a:avLst>
              <a:gd name="adj" fmla="val 7720"/>
            </a:avLst>
          </a:prstGeom>
          <a:solidFill>
            <a:srgbClr val="282D5E"/>
          </a:solidFill>
          <a:ln/>
        </p:spPr>
      </p:sp>
      <p:sp>
        <p:nvSpPr>
          <p:cNvPr id="26" name="Shape 22"/>
          <p:cNvSpPr/>
          <p:nvPr/>
        </p:nvSpPr>
        <p:spPr>
          <a:xfrm>
            <a:off x="9874687" y="5668506"/>
            <a:ext cx="90845" cy="90845"/>
          </a:xfrm>
          <a:prstGeom prst="roundRect">
            <a:avLst>
              <a:gd name="adj" fmla="val 503275"/>
            </a:avLst>
          </a:prstGeom>
          <a:solidFill>
            <a:srgbClr val="EEAEF6"/>
          </a:solidFill>
          <a:ln/>
        </p:spPr>
      </p:sp>
      <p:sp>
        <p:nvSpPr>
          <p:cNvPr id="27" name="Text 23"/>
          <p:cNvSpPr/>
          <p:nvPr/>
        </p:nvSpPr>
        <p:spPr>
          <a:xfrm>
            <a:off x="10147221" y="5572006"/>
            <a:ext cx="2272189" cy="283964"/>
          </a:xfrm>
          <a:prstGeom prst="rect">
            <a:avLst/>
          </a:prstGeom>
          <a:noFill/>
          <a:ln/>
        </p:spPr>
        <p:txBody>
          <a:bodyPr wrap="none" lIns="0" tIns="0" rIns="0" bIns="0" rtlCol="0" anchor="t"/>
          <a:lstStyle/>
          <a:p>
            <a:pPr marL="0" indent="0" algn="l">
              <a:lnSpc>
                <a:spcPts val="2200"/>
              </a:lnSpc>
              <a:buNone/>
            </a:pPr>
            <a:r>
              <a:rPr lang="en-US" sz="175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3. Model Building</a:t>
            </a:r>
            <a:endParaRPr lang="en-US" sz="1750" dirty="0">
              <a:latin typeface="Times New Roman" panose="02020603050405020304" pitchFamily="18" charset="0"/>
              <a:cs typeface="Times New Roman" panose="02020603050405020304" pitchFamily="18" charset="0"/>
            </a:endParaRPr>
          </a:p>
        </p:txBody>
      </p:sp>
      <p:sp>
        <p:nvSpPr>
          <p:cNvPr id="28" name="Text 24"/>
          <p:cNvSpPr/>
          <p:nvPr/>
        </p:nvSpPr>
        <p:spPr>
          <a:xfrm>
            <a:off x="10147221" y="5965031"/>
            <a:ext cx="3665339" cy="232529"/>
          </a:xfrm>
          <a:prstGeom prst="rect">
            <a:avLst/>
          </a:prstGeom>
          <a:noFill/>
          <a:ln/>
        </p:spPr>
        <p:txBody>
          <a:bodyPr wrap="none" lIns="0" tIns="0" rIns="0" bIns="0" rtlCol="0" anchor="t"/>
          <a:lstStyle/>
          <a:p>
            <a:pPr marL="0" indent="0" algn="l">
              <a:lnSpc>
                <a:spcPts val="1800"/>
              </a:lnSpc>
              <a:buNone/>
            </a:pPr>
            <a:r>
              <a:rPr lang="en-US" sz="1100" dirty="0">
                <a:solidFill>
                  <a:srgbClr val="E5DCE6"/>
                </a:solidFill>
                <a:latin typeface="Times New Roman" panose="02020603050405020304" pitchFamily="18" charset="0"/>
                <a:ea typeface="Montserrat" pitchFamily="34" charset="-122"/>
                <a:cs typeface="Times New Roman" panose="02020603050405020304" pitchFamily="18" charset="0"/>
              </a:rPr>
              <a:t>Xây dựng mô hình</a:t>
            </a:r>
            <a:endParaRPr lang="en-US" sz="1100" dirty="0">
              <a:latin typeface="Times New Roman" panose="02020603050405020304" pitchFamily="18" charset="0"/>
              <a:cs typeface="Times New Roman" panose="02020603050405020304" pitchFamily="18" charset="0"/>
            </a:endParaRPr>
          </a:p>
        </p:txBody>
      </p:sp>
      <p:sp>
        <p:nvSpPr>
          <p:cNvPr id="29" name="Shape 25"/>
          <p:cNvSpPr/>
          <p:nvPr/>
        </p:nvSpPr>
        <p:spPr>
          <a:xfrm>
            <a:off x="636151" y="6742748"/>
            <a:ext cx="6565463" cy="988933"/>
          </a:xfrm>
          <a:prstGeom prst="roundRect">
            <a:avLst>
              <a:gd name="adj" fmla="val 7720"/>
            </a:avLst>
          </a:prstGeom>
          <a:solidFill>
            <a:srgbClr val="282D5E"/>
          </a:solidFill>
          <a:ln/>
        </p:spPr>
      </p:sp>
      <p:sp>
        <p:nvSpPr>
          <p:cNvPr id="30" name="Shape 26"/>
          <p:cNvSpPr/>
          <p:nvPr/>
        </p:nvSpPr>
        <p:spPr>
          <a:xfrm>
            <a:off x="817840" y="7020937"/>
            <a:ext cx="90845" cy="90845"/>
          </a:xfrm>
          <a:prstGeom prst="roundRect">
            <a:avLst>
              <a:gd name="adj" fmla="val 503275"/>
            </a:avLst>
          </a:prstGeom>
          <a:solidFill>
            <a:srgbClr val="EEAEF6"/>
          </a:solidFill>
          <a:ln/>
        </p:spPr>
      </p:sp>
      <p:sp>
        <p:nvSpPr>
          <p:cNvPr id="31" name="Text 27"/>
          <p:cNvSpPr/>
          <p:nvPr/>
        </p:nvSpPr>
        <p:spPr>
          <a:xfrm>
            <a:off x="1090374" y="6924437"/>
            <a:ext cx="2496264" cy="283964"/>
          </a:xfrm>
          <a:prstGeom prst="rect">
            <a:avLst/>
          </a:prstGeom>
          <a:noFill/>
          <a:ln/>
        </p:spPr>
        <p:txBody>
          <a:bodyPr wrap="none" lIns="0" tIns="0" rIns="0" bIns="0" rtlCol="0" anchor="t"/>
          <a:lstStyle/>
          <a:p>
            <a:pPr marL="0" indent="0" algn="l">
              <a:lnSpc>
                <a:spcPts val="2200"/>
              </a:lnSpc>
              <a:buNone/>
            </a:pPr>
            <a:r>
              <a:rPr lang="en-US" sz="175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4. Feature Importance</a:t>
            </a:r>
            <a:endParaRPr lang="en-US" sz="1750" dirty="0">
              <a:latin typeface="Times New Roman" panose="02020603050405020304" pitchFamily="18" charset="0"/>
              <a:cs typeface="Times New Roman" panose="02020603050405020304" pitchFamily="18" charset="0"/>
            </a:endParaRPr>
          </a:p>
        </p:txBody>
      </p:sp>
      <p:sp>
        <p:nvSpPr>
          <p:cNvPr id="32" name="Text 28"/>
          <p:cNvSpPr/>
          <p:nvPr/>
        </p:nvSpPr>
        <p:spPr>
          <a:xfrm>
            <a:off x="1090374" y="7317462"/>
            <a:ext cx="5929551" cy="232529"/>
          </a:xfrm>
          <a:prstGeom prst="rect">
            <a:avLst/>
          </a:prstGeom>
          <a:noFill/>
          <a:ln/>
        </p:spPr>
        <p:txBody>
          <a:bodyPr wrap="none" lIns="0" tIns="0" rIns="0" bIns="0" rtlCol="0" anchor="t"/>
          <a:lstStyle/>
          <a:p>
            <a:pPr marL="0" indent="0" algn="l">
              <a:lnSpc>
                <a:spcPts val="1800"/>
              </a:lnSpc>
              <a:buNone/>
            </a:pPr>
            <a:r>
              <a:rPr lang="en-US" sz="1100" dirty="0">
                <a:solidFill>
                  <a:srgbClr val="E5DCE6"/>
                </a:solidFill>
                <a:latin typeface="Times New Roman" panose="02020603050405020304" pitchFamily="18" charset="0"/>
                <a:ea typeface="Montserrat" pitchFamily="34" charset="-122"/>
                <a:cs typeface="Times New Roman" panose="02020603050405020304" pitchFamily="18" charset="0"/>
              </a:rPr>
              <a:t>Đánh giá tầm quan trọng các đặc trưng</a:t>
            </a:r>
            <a:endParaRPr lang="en-US" sz="1100" dirty="0">
              <a:latin typeface="Times New Roman" panose="02020603050405020304" pitchFamily="18" charset="0"/>
              <a:cs typeface="Times New Roman" panose="02020603050405020304" pitchFamily="18" charset="0"/>
            </a:endParaRPr>
          </a:p>
        </p:txBody>
      </p:sp>
      <p:sp>
        <p:nvSpPr>
          <p:cNvPr id="33" name="Shape 29"/>
          <p:cNvSpPr/>
          <p:nvPr/>
        </p:nvSpPr>
        <p:spPr>
          <a:xfrm>
            <a:off x="7428786" y="6742748"/>
            <a:ext cx="6565463" cy="988933"/>
          </a:xfrm>
          <a:prstGeom prst="roundRect">
            <a:avLst>
              <a:gd name="adj" fmla="val 7720"/>
            </a:avLst>
          </a:prstGeom>
          <a:solidFill>
            <a:srgbClr val="282D5E"/>
          </a:solidFill>
          <a:ln/>
        </p:spPr>
      </p:sp>
      <p:sp>
        <p:nvSpPr>
          <p:cNvPr id="34" name="Shape 30"/>
          <p:cNvSpPr/>
          <p:nvPr/>
        </p:nvSpPr>
        <p:spPr>
          <a:xfrm>
            <a:off x="7610475" y="7020937"/>
            <a:ext cx="90845" cy="90845"/>
          </a:xfrm>
          <a:prstGeom prst="roundRect">
            <a:avLst>
              <a:gd name="adj" fmla="val 503275"/>
            </a:avLst>
          </a:prstGeom>
          <a:solidFill>
            <a:srgbClr val="EEAEF6"/>
          </a:solidFill>
          <a:ln/>
        </p:spPr>
      </p:sp>
      <p:sp>
        <p:nvSpPr>
          <p:cNvPr id="35" name="Text 31"/>
          <p:cNvSpPr/>
          <p:nvPr/>
        </p:nvSpPr>
        <p:spPr>
          <a:xfrm>
            <a:off x="7883009" y="6924437"/>
            <a:ext cx="3518535" cy="283964"/>
          </a:xfrm>
          <a:prstGeom prst="rect">
            <a:avLst/>
          </a:prstGeom>
          <a:noFill/>
          <a:ln/>
        </p:spPr>
        <p:txBody>
          <a:bodyPr wrap="none" lIns="0" tIns="0" rIns="0" bIns="0" rtlCol="0" anchor="t"/>
          <a:lstStyle/>
          <a:p>
            <a:pPr marL="0" indent="0" algn="l">
              <a:lnSpc>
                <a:spcPts val="2200"/>
              </a:lnSpc>
              <a:buNone/>
            </a:pPr>
            <a:r>
              <a:rPr lang="en-US" sz="175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5. Model Selection &amp; Evaluation</a:t>
            </a:r>
            <a:endParaRPr lang="en-US" sz="1750" dirty="0">
              <a:latin typeface="Times New Roman" panose="02020603050405020304" pitchFamily="18" charset="0"/>
              <a:cs typeface="Times New Roman" panose="02020603050405020304" pitchFamily="18" charset="0"/>
            </a:endParaRPr>
          </a:p>
        </p:txBody>
      </p:sp>
      <p:sp>
        <p:nvSpPr>
          <p:cNvPr id="36" name="Text 32"/>
          <p:cNvSpPr/>
          <p:nvPr/>
        </p:nvSpPr>
        <p:spPr>
          <a:xfrm>
            <a:off x="7883009" y="7317462"/>
            <a:ext cx="5929551" cy="232529"/>
          </a:xfrm>
          <a:prstGeom prst="rect">
            <a:avLst/>
          </a:prstGeom>
          <a:noFill/>
          <a:ln/>
        </p:spPr>
        <p:txBody>
          <a:bodyPr wrap="none" lIns="0" tIns="0" rIns="0" bIns="0" rtlCol="0" anchor="t"/>
          <a:lstStyle/>
          <a:p>
            <a:pPr marL="0" indent="0" algn="l">
              <a:lnSpc>
                <a:spcPts val="1800"/>
              </a:lnSpc>
              <a:buNone/>
            </a:pPr>
            <a:r>
              <a:rPr lang="en-US" sz="1100" dirty="0">
                <a:solidFill>
                  <a:srgbClr val="E5DCE6"/>
                </a:solidFill>
                <a:latin typeface="Times New Roman" panose="02020603050405020304" pitchFamily="18" charset="0"/>
                <a:ea typeface="Montserrat" pitchFamily="34" charset="-122"/>
                <a:cs typeface="Times New Roman" panose="02020603050405020304" pitchFamily="18" charset="0"/>
              </a:rPr>
              <a:t>Dự đoán, tổng hợp &amp; đánh giá mô hình</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24746"/>
            <a:ext cx="5605463" cy="566976"/>
          </a:xfrm>
          <a:prstGeom prst="rect">
            <a:avLst/>
          </a:prstGeom>
          <a:noFill/>
          <a:ln/>
        </p:spPr>
        <p:txBody>
          <a:bodyPr wrap="none" lIns="0" tIns="0" rIns="0" bIns="0" rtlCol="0" anchor="t"/>
          <a:lstStyle/>
          <a:p>
            <a:pPr marL="0" indent="0" algn="l">
              <a:lnSpc>
                <a:spcPts val="4450"/>
              </a:lnSpc>
              <a:buNone/>
            </a:pPr>
            <a:r>
              <a:rPr lang="en-US" sz="35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PHÂN TÍCH GIÁ TRỊ THIẾU</a:t>
            </a:r>
            <a:endParaRPr lang="en-US" sz="3550" dirty="0">
              <a:latin typeface="Times New Roman" panose="02020603050405020304" pitchFamily="18" charset="0"/>
              <a:cs typeface="Times New Roman" panose="02020603050405020304" pitchFamily="18" charset="0"/>
            </a:endParaRPr>
          </a:p>
        </p:txBody>
      </p:sp>
      <p:sp>
        <p:nvSpPr>
          <p:cNvPr id="3" name="Text 1"/>
          <p:cNvSpPr/>
          <p:nvPr/>
        </p:nvSpPr>
        <p:spPr>
          <a:xfrm>
            <a:off x="793790" y="1845350"/>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Tình hình giá trị bị thiếu trong dữ liệu cần được xử lý cẩn thận:</a:t>
            </a:r>
            <a:endParaRPr lang="en-US" sz="175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793790" y="2718554"/>
            <a:ext cx="6244709" cy="4431030"/>
          </a:xfrm>
          <a:prstGeom prst="rect">
            <a:avLst/>
          </a:prstGeom>
        </p:spPr>
      </p:pic>
      <p:sp>
        <p:nvSpPr>
          <p:cNvPr id="5" name="Text 2"/>
          <p:cNvSpPr/>
          <p:nvPr/>
        </p:nvSpPr>
        <p:spPr>
          <a:xfrm>
            <a:off x="7599521" y="3465552"/>
            <a:ext cx="6244709"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E5DCE6"/>
                </a:solidFill>
                <a:latin typeface="Times New Roman" panose="02020603050405020304" pitchFamily="18" charset="0"/>
                <a:ea typeface="Montserrat" pitchFamily="34" charset="-122"/>
                <a:cs typeface="Times New Roman" panose="02020603050405020304" pitchFamily="18" charset="0"/>
              </a:rPr>
              <a:t>Age</a:t>
            </a: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 Khoảng 20% dữ liệu thiếu - có thể điền bằng các phương pháp thống kê như giá trị trung bình hoặc trung vị.</a:t>
            </a:r>
            <a:endParaRPr lang="en-US" sz="1750" dirty="0">
              <a:latin typeface="Times New Roman" panose="02020603050405020304" pitchFamily="18" charset="0"/>
              <a:cs typeface="Times New Roman" panose="02020603050405020304" pitchFamily="18" charset="0"/>
            </a:endParaRPr>
          </a:p>
        </p:txBody>
      </p:sp>
      <p:sp>
        <p:nvSpPr>
          <p:cNvPr id="6" name="Text 3"/>
          <p:cNvSpPr/>
          <p:nvPr/>
        </p:nvSpPr>
        <p:spPr>
          <a:xfrm>
            <a:off x="7599521" y="4633555"/>
            <a:ext cx="6244709"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E5DCE6"/>
                </a:solidFill>
                <a:latin typeface="Times New Roman" panose="02020603050405020304" pitchFamily="18" charset="0"/>
                <a:ea typeface="Montserrat" pitchFamily="34" charset="-122"/>
                <a:cs typeface="Times New Roman" panose="02020603050405020304" pitchFamily="18" charset="0"/>
              </a:rPr>
              <a:t>Cabin</a:t>
            </a: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 Khoảng 80% dữ liệu thiếu - cần phương pháp sáng tạo (trích xuất Deck) hoặc xóa bỏ cột nếu không hiệu quả.</a:t>
            </a:r>
            <a:endParaRPr lang="en-US" sz="1750" dirty="0">
              <a:latin typeface="Times New Roman" panose="02020603050405020304" pitchFamily="18" charset="0"/>
              <a:cs typeface="Times New Roman" panose="02020603050405020304" pitchFamily="18" charset="0"/>
            </a:endParaRPr>
          </a:p>
        </p:txBody>
      </p:sp>
      <p:sp>
        <p:nvSpPr>
          <p:cNvPr id="7" name="Text 4"/>
          <p:cNvSpPr/>
          <p:nvPr/>
        </p:nvSpPr>
        <p:spPr>
          <a:xfrm>
            <a:off x="7599521" y="5801558"/>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E5DCE6"/>
                </a:solidFill>
                <a:latin typeface="Times New Roman" panose="02020603050405020304" pitchFamily="18" charset="0"/>
                <a:ea typeface="Montserrat" pitchFamily="34" charset="-122"/>
                <a:cs typeface="Times New Roman" panose="02020603050405020304" pitchFamily="18" charset="0"/>
              </a:rPr>
              <a:t>Embarked</a:t>
            </a: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 Dưới 1% dữ liệu thiếu - dễ dàng xử lý, ví dụ bằng cách điền giá trị phổ biến nhất (mode).</a:t>
            </a:r>
            <a:endParaRPr lang="en-US" sz="17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20804" y="675323"/>
            <a:ext cx="11302484" cy="514945"/>
          </a:xfrm>
          <a:prstGeom prst="rect">
            <a:avLst/>
          </a:prstGeom>
          <a:noFill/>
          <a:ln/>
        </p:spPr>
        <p:txBody>
          <a:bodyPr wrap="none" lIns="0" tIns="0" rIns="0" bIns="0" rtlCol="0" anchor="t"/>
          <a:lstStyle/>
          <a:p>
            <a:pPr marL="0" indent="0" algn="l">
              <a:lnSpc>
                <a:spcPts val="4050"/>
              </a:lnSpc>
              <a:buNone/>
            </a:pPr>
            <a:r>
              <a:rPr lang="en-US" sz="32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MỐI QUAN HỆ GIỮA CÁC ĐẶC TRƯNG VÀ TỶ LỆ SỐNG SÓT</a:t>
            </a:r>
            <a:endParaRPr lang="en-US" sz="3200" dirty="0">
              <a:latin typeface="Times New Roman" panose="02020603050405020304" pitchFamily="18" charset="0"/>
              <a:cs typeface="Times New Roman" panose="02020603050405020304" pitchFamily="18" charset="0"/>
            </a:endParaRPr>
          </a:p>
        </p:txBody>
      </p:sp>
      <p:sp>
        <p:nvSpPr>
          <p:cNvPr id="3" name="Text 1"/>
          <p:cNvSpPr/>
          <p:nvPr/>
        </p:nvSpPr>
        <p:spPr>
          <a:xfrm>
            <a:off x="720804" y="1602105"/>
            <a:ext cx="13188791" cy="329565"/>
          </a:xfrm>
          <a:prstGeom prst="rect">
            <a:avLst/>
          </a:prstGeom>
          <a:noFill/>
          <a:ln/>
        </p:spPr>
        <p:txBody>
          <a:bodyPr wrap="none" lIns="0" tIns="0" rIns="0" bIns="0" rtlCol="0" anchor="t"/>
          <a:lstStyle/>
          <a:p>
            <a:pPr marL="0" indent="0" algn="l">
              <a:lnSpc>
                <a:spcPts val="2550"/>
              </a:lnSpc>
              <a:buNone/>
            </a:pP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Biểu đồ cho thấy sự khác biệt rõ rệt trong tỷ lệ sống sót giữa các nhóm:</a:t>
            </a:r>
            <a:endParaRPr lang="en-US" sz="16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720804" y="2500551"/>
            <a:ext cx="6343174" cy="4155043"/>
          </a:xfrm>
          <a:prstGeom prst="rect">
            <a:avLst/>
          </a:prstGeom>
        </p:spPr>
      </p:pic>
      <p:sp>
        <p:nvSpPr>
          <p:cNvPr id="5" name="Text 2"/>
          <p:cNvSpPr/>
          <p:nvPr/>
        </p:nvSpPr>
        <p:spPr>
          <a:xfrm>
            <a:off x="7574042" y="2348508"/>
            <a:ext cx="6343174" cy="659130"/>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Sex vs Survival: </a:t>
            </a: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Nữ giới có tỷ lệ sống sót cao hơn đáng kể (~75%) so với nam giới (~20%). </a:t>
            </a:r>
            <a:endParaRPr lang="en-US" sz="1600" dirty="0">
              <a:latin typeface="Times New Roman" panose="02020603050405020304" pitchFamily="18" charset="0"/>
              <a:cs typeface="Times New Roman" panose="02020603050405020304" pitchFamily="18" charset="0"/>
            </a:endParaRPr>
          </a:p>
        </p:txBody>
      </p:sp>
      <p:sp>
        <p:nvSpPr>
          <p:cNvPr id="6" name="Text 3"/>
          <p:cNvSpPr/>
          <p:nvPr/>
        </p:nvSpPr>
        <p:spPr>
          <a:xfrm>
            <a:off x="7574042" y="3079671"/>
            <a:ext cx="6343174" cy="988695"/>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Embarked vs Survival: </a:t>
            </a: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Hành khách từ Cherbourg (C) có tỷ lệ sống sót cao nhất (~55%). Southampton (S) có tỷ lệ thấp nhất (~35%). </a:t>
            </a:r>
            <a:endParaRPr lang="en-US" sz="1600" dirty="0">
              <a:latin typeface="Times New Roman" panose="02020603050405020304" pitchFamily="18" charset="0"/>
              <a:cs typeface="Times New Roman" panose="02020603050405020304" pitchFamily="18" charset="0"/>
            </a:endParaRPr>
          </a:p>
        </p:txBody>
      </p:sp>
      <p:sp>
        <p:nvSpPr>
          <p:cNvPr id="7" name="Text 4"/>
          <p:cNvSpPr/>
          <p:nvPr/>
        </p:nvSpPr>
        <p:spPr>
          <a:xfrm>
            <a:off x="7574042" y="4140398"/>
            <a:ext cx="6343174" cy="659130"/>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Pclass vs Survival: </a:t>
            </a: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Hạng 1: Tỷ lệ sống sót cao nhất (~63%). Hạng 2: Mức trung bình (~47%). Hạng 3: Thấp nhất (~24%)</a:t>
            </a:r>
            <a:endParaRPr lang="en-US" sz="1600" dirty="0">
              <a:latin typeface="Times New Roman" panose="02020603050405020304" pitchFamily="18" charset="0"/>
              <a:cs typeface="Times New Roman" panose="02020603050405020304" pitchFamily="18" charset="0"/>
            </a:endParaRPr>
          </a:p>
        </p:txBody>
      </p:sp>
      <p:sp>
        <p:nvSpPr>
          <p:cNvPr id="8" name="Text 5"/>
          <p:cNvSpPr/>
          <p:nvPr/>
        </p:nvSpPr>
        <p:spPr>
          <a:xfrm>
            <a:off x="7574042" y="4871561"/>
            <a:ext cx="6343174" cy="988695"/>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SibSp vs Survival: </a:t>
            </a: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Hành khách có 1-2 anh chị em/vợ chồng có tỷ lệ sống sót tốt nhất. Đi một mình hoặc có quá nhiều người thân cùng đi có tỷ lệ thấp hơn</a:t>
            </a:r>
            <a:endParaRPr lang="en-US" sz="1600" dirty="0">
              <a:latin typeface="Times New Roman" panose="02020603050405020304" pitchFamily="18" charset="0"/>
              <a:cs typeface="Times New Roman" panose="02020603050405020304" pitchFamily="18" charset="0"/>
            </a:endParaRPr>
          </a:p>
        </p:txBody>
      </p:sp>
      <p:sp>
        <p:nvSpPr>
          <p:cNvPr id="9" name="Text 6"/>
          <p:cNvSpPr/>
          <p:nvPr/>
        </p:nvSpPr>
        <p:spPr>
          <a:xfrm>
            <a:off x="7574042" y="5932289"/>
            <a:ext cx="6343174" cy="988695"/>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Parch vs Survival: </a:t>
            </a: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Tương tự SibSp, có 1-3 cha mẹ/con cái cùng đi có lợi thế sống sót. Gia đình quá lớn hoặc đi một mình gặp bất lợi</a:t>
            </a:r>
            <a:endParaRPr lang="en-US" sz="1600" dirty="0">
              <a:latin typeface="Times New Roman" panose="02020603050405020304" pitchFamily="18" charset="0"/>
              <a:cs typeface="Times New Roman" panose="02020603050405020304" pitchFamily="18" charset="0"/>
            </a:endParaRPr>
          </a:p>
        </p:txBody>
      </p:sp>
      <p:sp>
        <p:nvSpPr>
          <p:cNvPr id="10" name="Text 7"/>
          <p:cNvSpPr/>
          <p:nvPr/>
        </p:nvSpPr>
        <p:spPr>
          <a:xfrm>
            <a:off x="720804" y="7224593"/>
            <a:ext cx="13188791" cy="329565"/>
          </a:xfrm>
          <a:prstGeom prst="rect">
            <a:avLst/>
          </a:prstGeom>
          <a:noFill/>
          <a:ln/>
        </p:spPr>
        <p:txBody>
          <a:bodyPr wrap="none" lIns="0" tIns="0" rIns="0" bIns="0" rtlCol="0" anchor="t"/>
          <a:lstStyle/>
          <a:p>
            <a:pPr marL="0" indent="0" algn="l">
              <a:lnSpc>
                <a:spcPts val="2550"/>
              </a:lnSpc>
              <a:buNone/>
            </a:pP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Kết luận:</a:t>
            </a: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 Các yếu tố xã hội (giới tính, giai cấp, cảng khởi hành) và kích thước gia đình có tác động mạnh đến khả năng sống sót.</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4607" y="535543"/>
            <a:ext cx="8476655" cy="474702"/>
          </a:xfrm>
          <a:prstGeom prst="rect">
            <a:avLst/>
          </a:prstGeom>
          <a:noFill/>
          <a:ln/>
        </p:spPr>
        <p:txBody>
          <a:bodyPr wrap="none" lIns="0" tIns="0" rIns="0" bIns="0" rtlCol="0" anchor="t"/>
          <a:lstStyle/>
          <a:p>
            <a:pPr marL="0" indent="0" algn="l">
              <a:lnSpc>
                <a:spcPts val="3700"/>
              </a:lnSpc>
              <a:buNone/>
            </a:pPr>
            <a:r>
              <a:rPr lang="en-US" sz="29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XÁC ĐỊNH TÁC ĐỘNG CỦA MẠNG LƯỚI XÃ HỘI:</a:t>
            </a:r>
            <a:endParaRPr lang="en-US" sz="2950" dirty="0">
              <a:latin typeface="Times New Roman" panose="02020603050405020304" pitchFamily="18" charset="0"/>
              <a:cs typeface="Times New Roman" panose="02020603050405020304" pitchFamily="18" charset="0"/>
            </a:endParaRPr>
          </a:p>
        </p:txBody>
      </p:sp>
      <p:sp>
        <p:nvSpPr>
          <p:cNvPr id="3" name="Text 1"/>
          <p:cNvSpPr/>
          <p:nvPr/>
        </p:nvSpPr>
        <p:spPr>
          <a:xfrm>
            <a:off x="664607" y="1389936"/>
            <a:ext cx="13301186" cy="911543"/>
          </a:xfrm>
          <a:prstGeom prst="rect">
            <a:avLst/>
          </a:prstGeom>
          <a:noFill/>
          <a:ln/>
        </p:spPr>
        <p:txBody>
          <a:bodyPr wrap="square" lIns="0" tIns="0" rIns="0" bIns="0" rtlCol="0" anchor="t"/>
          <a:lstStyle/>
          <a:p>
            <a:pPr marL="0" indent="0" algn="l">
              <a:lnSpc>
                <a:spcPts val="2350"/>
              </a:lnSpc>
              <a:buNone/>
            </a:pP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Chúng tôi tạo các tính năng mới từ dữ liệu hiện có để khám phá các mối quan hệ tiềm ẩn và tăng cường sức mạnh dự đoán của mô hình. Các tính năng này bao gồm kích thước gia đình và tần suất vé, giúp phân loại hành khách dựa trên hành vi và tình trạng xã hội, với F</a:t>
            </a: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amily Size</a:t>
            </a: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 đại diện cho </a:t>
            </a: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Mạng lưới Gia đình Chính thức </a:t>
            </a: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và </a:t>
            </a: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Ticket Frequency</a:t>
            </a: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 đại diện cho </a:t>
            </a: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Mạng lưới Xã hội Mở rộng</a:t>
            </a:r>
            <a:endParaRPr lang="en-US" sz="1450" dirty="0">
              <a:latin typeface="Times New Roman" panose="02020603050405020304" pitchFamily="18" charset="0"/>
              <a:cs typeface="Times New Roman" panose="02020603050405020304" pitchFamily="18" charset="0"/>
            </a:endParaRPr>
          </a:p>
        </p:txBody>
      </p:sp>
      <p:sp>
        <p:nvSpPr>
          <p:cNvPr id="4" name="Text 2"/>
          <p:cNvSpPr/>
          <p:nvPr/>
        </p:nvSpPr>
        <p:spPr>
          <a:xfrm>
            <a:off x="664607" y="2704862"/>
            <a:ext cx="4669631" cy="355997"/>
          </a:xfrm>
          <a:prstGeom prst="rect">
            <a:avLst/>
          </a:prstGeom>
          <a:noFill/>
          <a:ln/>
        </p:spPr>
        <p:txBody>
          <a:bodyPr wrap="none" lIns="0" tIns="0" rIns="0" bIns="0" rtlCol="0" anchor="t"/>
          <a:lstStyle/>
          <a:p>
            <a:pPr marL="0" indent="0" algn="l">
              <a:lnSpc>
                <a:spcPts val="2800"/>
              </a:lnSpc>
              <a:buNone/>
            </a:pPr>
            <a:r>
              <a:rPr lang="en-US" sz="22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Kích thước Gia đình (Family_Size)</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664607" y="3250644"/>
            <a:ext cx="6419017" cy="1519238"/>
          </a:xfrm>
          <a:prstGeom prst="rect">
            <a:avLst/>
          </a:prstGeom>
          <a:noFill/>
          <a:ln/>
        </p:spPr>
        <p:txBody>
          <a:bodyPr wrap="square" lIns="0" tIns="0" rIns="0" bIns="0" rtlCol="0" anchor="t"/>
          <a:lstStyle/>
          <a:p>
            <a:pPr marL="0" indent="0" algn="l">
              <a:lnSpc>
                <a:spcPts val="2350"/>
              </a:lnSpc>
              <a:buNone/>
            </a:pP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Tính năng </a:t>
            </a: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Family_Size</a:t>
            </a: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 được tạo bằng cách cộng </a:t>
            </a: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SibSp</a:t>
            </a: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 (số anh chị em và vợ/chồng), </a:t>
            </a: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Parch</a:t>
            </a: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 (số cha mẹ và con cái) và thêm 1 (cho bản thân hành khách). Kích thước gia đình là một yếu tố dự đoán khả năng sống sót, vì các kích thước khác nhau có tỷ lệ sống sót khác nhau.</a:t>
            </a:r>
            <a:endParaRPr lang="en-US" sz="1450" dirty="0">
              <a:latin typeface="Times New Roman" panose="02020603050405020304" pitchFamily="18" charset="0"/>
              <a:cs typeface="Times New Roman" panose="02020603050405020304" pitchFamily="18" charset="0"/>
            </a:endParaRPr>
          </a:p>
        </p:txBody>
      </p:sp>
      <p:sp>
        <p:nvSpPr>
          <p:cNvPr id="6" name="Text 4"/>
          <p:cNvSpPr/>
          <p:nvPr/>
        </p:nvSpPr>
        <p:spPr>
          <a:xfrm>
            <a:off x="664607" y="4940737"/>
            <a:ext cx="6419017" cy="303848"/>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Gia đình có 1 người: </a:t>
            </a: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Alone</a:t>
            </a:r>
            <a:endParaRPr lang="en-US" sz="1450" dirty="0">
              <a:latin typeface="Times New Roman" panose="02020603050405020304" pitchFamily="18" charset="0"/>
              <a:cs typeface="Times New Roman" panose="02020603050405020304" pitchFamily="18" charset="0"/>
            </a:endParaRPr>
          </a:p>
        </p:txBody>
      </p:sp>
      <p:sp>
        <p:nvSpPr>
          <p:cNvPr id="7" name="Text 5"/>
          <p:cNvSpPr/>
          <p:nvPr/>
        </p:nvSpPr>
        <p:spPr>
          <a:xfrm>
            <a:off x="664607" y="5311021"/>
            <a:ext cx="6419017" cy="303848"/>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Gia đình có 2, 3, 4 người: </a:t>
            </a: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Small</a:t>
            </a:r>
            <a:endParaRPr lang="en-US" sz="1450" dirty="0">
              <a:latin typeface="Times New Roman" panose="02020603050405020304" pitchFamily="18" charset="0"/>
              <a:cs typeface="Times New Roman" panose="02020603050405020304" pitchFamily="18" charset="0"/>
            </a:endParaRPr>
          </a:p>
        </p:txBody>
      </p:sp>
      <p:sp>
        <p:nvSpPr>
          <p:cNvPr id="8" name="Text 6"/>
          <p:cNvSpPr/>
          <p:nvPr/>
        </p:nvSpPr>
        <p:spPr>
          <a:xfrm>
            <a:off x="664607" y="5681305"/>
            <a:ext cx="6419017" cy="303848"/>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Gia đình có 5, 6 người: </a:t>
            </a: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Medium</a:t>
            </a:r>
            <a:endParaRPr lang="en-US" sz="1450" dirty="0">
              <a:latin typeface="Times New Roman" panose="02020603050405020304" pitchFamily="18" charset="0"/>
              <a:cs typeface="Times New Roman" panose="02020603050405020304" pitchFamily="18" charset="0"/>
            </a:endParaRPr>
          </a:p>
        </p:txBody>
      </p:sp>
      <p:sp>
        <p:nvSpPr>
          <p:cNvPr id="9" name="Text 7"/>
          <p:cNvSpPr/>
          <p:nvPr/>
        </p:nvSpPr>
        <p:spPr>
          <a:xfrm>
            <a:off x="664607" y="6051590"/>
            <a:ext cx="6419017" cy="303848"/>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Gia đình có 7, 8, 11 người: </a:t>
            </a: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Large</a:t>
            </a:r>
            <a:endParaRPr lang="en-US" sz="1450" dirty="0">
              <a:latin typeface="Times New Roman" panose="02020603050405020304" pitchFamily="18" charset="0"/>
              <a:cs typeface="Times New Roman" panose="02020603050405020304" pitchFamily="18" charset="0"/>
            </a:endParaRPr>
          </a:p>
        </p:txBody>
      </p:sp>
      <p:sp>
        <p:nvSpPr>
          <p:cNvPr id="10" name="Text 8"/>
          <p:cNvSpPr/>
          <p:nvPr/>
        </p:nvSpPr>
        <p:spPr>
          <a:xfrm>
            <a:off x="664607" y="6526292"/>
            <a:ext cx="6419017" cy="911543"/>
          </a:xfrm>
          <a:prstGeom prst="rect">
            <a:avLst/>
          </a:prstGeom>
          <a:noFill/>
          <a:ln/>
        </p:spPr>
        <p:txBody>
          <a:bodyPr wrap="square" lIns="0" tIns="0" rIns="0" bIns="0" rtlCol="0" anchor="t"/>
          <a:lstStyle/>
          <a:p>
            <a:pPr marL="0" indent="0" algn="l">
              <a:lnSpc>
                <a:spcPts val="2350"/>
              </a:lnSpc>
              <a:buNone/>
            </a:pP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Biểu đồ cho thấy các nhóm với 2, 3 và 4 thành viên gia đình có tỷ lệ sống sót cao hơn. Hành khách đi một mình có tỷ lệ sống sót thấp nhất. Sau 4 thành viên, tỷ lệ sống sót giảm đáng kể.</a:t>
            </a:r>
            <a:endParaRPr lang="en-US" sz="1450" dirty="0">
              <a:latin typeface="Times New Roman" panose="02020603050405020304" pitchFamily="18" charset="0"/>
              <a:cs typeface="Times New Roman" panose="02020603050405020304" pitchFamily="18" charset="0"/>
            </a:endParaRPr>
          </a:p>
        </p:txBody>
      </p:sp>
      <p:sp>
        <p:nvSpPr>
          <p:cNvPr id="11" name="Text 9"/>
          <p:cNvSpPr/>
          <p:nvPr/>
        </p:nvSpPr>
        <p:spPr>
          <a:xfrm>
            <a:off x="7554397" y="2704862"/>
            <a:ext cx="4381619" cy="355997"/>
          </a:xfrm>
          <a:prstGeom prst="rect">
            <a:avLst/>
          </a:prstGeom>
          <a:noFill/>
          <a:ln/>
        </p:spPr>
        <p:txBody>
          <a:bodyPr wrap="none" lIns="0" tIns="0" rIns="0" bIns="0" rtlCol="0" anchor="t"/>
          <a:lstStyle/>
          <a:p>
            <a:pPr marL="0" indent="0" algn="l">
              <a:lnSpc>
                <a:spcPts val="2800"/>
              </a:lnSpc>
              <a:buNone/>
            </a:pPr>
            <a:r>
              <a:rPr lang="en-US" sz="22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Tần suất Vé (Ticket_Frequency)</a:t>
            </a:r>
            <a:endParaRPr lang="en-US" sz="2200" dirty="0">
              <a:latin typeface="Times New Roman" panose="02020603050405020304" pitchFamily="18" charset="0"/>
              <a:cs typeface="Times New Roman" panose="02020603050405020304" pitchFamily="18" charset="0"/>
            </a:endParaRPr>
          </a:p>
        </p:txBody>
      </p:sp>
      <p:sp>
        <p:nvSpPr>
          <p:cNvPr id="12" name="Text 10"/>
          <p:cNvSpPr/>
          <p:nvPr/>
        </p:nvSpPr>
        <p:spPr>
          <a:xfrm>
            <a:off x="7554397" y="3250644"/>
            <a:ext cx="6419017" cy="1519238"/>
          </a:xfrm>
          <a:prstGeom prst="rect">
            <a:avLst/>
          </a:prstGeom>
          <a:noFill/>
          <a:ln/>
        </p:spPr>
        <p:txBody>
          <a:bodyPr wrap="square" lIns="0" tIns="0" rIns="0" bIns="0" rtlCol="0" anchor="t"/>
          <a:lstStyle/>
          <a:p>
            <a:pPr marL="0" indent="0" algn="l">
              <a:lnSpc>
                <a:spcPts val="2350"/>
              </a:lnSpc>
              <a:buNone/>
            </a:pP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Do có quá nhiều giá trị vé riêng lẻ để phân tích, chúng tôi nhóm chúng lại theo tần suất để dễ dàng hơn. Tính năng này khác với </a:t>
            </a: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Family_Size</a:t>
            </a: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 vì nó bao gồm các nhóm bạn bè, người giúp việc, v.v., những người không được tính là gia đình nhưng sử dụng cùng một vé.</a:t>
            </a:r>
            <a:endParaRPr lang="en-US" sz="1450" dirty="0">
              <a:latin typeface="Times New Roman" panose="02020603050405020304" pitchFamily="18" charset="0"/>
              <a:cs typeface="Times New Roman" panose="02020603050405020304" pitchFamily="18" charset="0"/>
            </a:endParaRPr>
          </a:p>
        </p:txBody>
      </p:sp>
      <p:sp>
        <p:nvSpPr>
          <p:cNvPr id="13" name="Text 11"/>
          <p:cNvSpPr/>
          <p:nvPr/>
        </p:nvSpPr>
        <p:spPr>
          <a:xfrm>
            <a:off x="7554397" y="4940737"/>
            <a:ext cx="6419017" cy="911543"/>
          </a:xfrm>
          <a:prstGeom prst="rect">
            <a:avLst/>
          </a:prstGeom>
          <a:noFill/>
          <a:ln/>
        </p:spPr>
        <p:txBody>
          <a:bodyPr wrap="square" lIns="0" tIns="0" rIns="0" bIns="0" rtlCol="0" anchor="t"/>
          <a:lstStyle/>
          <a:p>
            <a:pPr marL="0" indent="0" algn="l">
              <a:lnSpc>
                <a:spcPts val="2350"/>
              </a:lnSpc>
              <a:buNone/>
            </a:pP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Tần suất vé giúp nắm bắt các nhóm hành khách du lịch cùng nhau nhưng không phải là gia đình. Tương tự như </a:t>
            </a: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Family_Size</a:t>
            </a: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 các nhóm có 2, 3 và 4 thành viên có tỷ lệ sống sót cao hơn.</a:t>
            </a:r>
            <a:endParaRPr lang="en-US" sz="1450" dirty="0">
              <a:latin typeface="Times New Roman" panose="02020603050405020304" pitchFamily="18" charset="0"/>
              <a:cs typeface="Times New Roman" panose="02020603050405020304" pitchFamily="18" charset="0"/>
            </a:endParaRPr>
          </a:p>
        </p:txBody>
      </p:sp>
      <p:sp>
        <p:nvSpPr>
          <p:cNvPr id="14" name="Shape 12"/>
          <p:cNvSpPr/>
          <p:nvPr/>
        </p:nvSpPr>
        <p:spPr>
          <a:xfrm>
            <a:off x="7554397" y="6065877"/>
            <a:ext cx="6419017" cy="1414463"/>
          </a:xfrm>
          <a:prstGeom prst="roundRect">
            <a:avLst>
              <a:gd name="adj" fmla="val 5639"/>
            </a:avLst>
          </a:prstGeom>
          <a:solidFill>
            <a:srgbClr val="3E0845"/>
          </a:solidFill>
          <a:ln/>
        </p:spPr>
      </p:sp>
      <p:pic>
        <p:nvPicPr>
          <p:cNvPr id="15" name="Image 0" descr="preencoded.png"/>
          <p:cNvPicPr>
            <a:picLocks noChangeAspect="1"/>
          </p:cNvPicPr>
          <p:nvPr/>
        </p:nvPicPr>
        <p:blipFill>
          <a:blip r:embed="rId3"/>
          <a:stretch>
            <a:fillRect/>
          </a:stretch>
        </p:blipFill>
        <p:spPr>
          <a:xfrm>
            <a:off x="7744182" y="6350317"/>
            <a:ext cx="237292" cy="189786"/>
          </a:xfrm>
          <a:prstGeom prst="rect">
            <a:avLst/>
          </a:prstGeom>
        </p:spPr>
      </p:pic>
      <p:sp>
        <p:nvSpPr>
          <p:cNvPr id="16" name="Text 13"/>
          <p:cNvSpPr/>
          <p:nvPr/>
        </p:nvSpPr>
        <p:spPr>
          <a:xfrm>
            <a:off x="8171259" y="6303050"/>
            <a:ext cx="5612368" cy="911543"/>
          </a:xfrm>
          <a:prstGeom prst="rect">
            <a:avLst/>
          </a:prstGeom>
          <a:noFill/>
          <a:ln/>
        </p:spPr>
        <p:txBody>
          <a:bodyPr wrap="square" lIns="0" tIns="0" rIns="0" bIns="0" rtlCol="0" anchor="t"/>
          <a:lstStyle/>
          <a:p>
            <a:pPr marL="0" indent="0" algn="l">
              <a:lnSpc>
                <a:spcPts val="2350"/>
              </a:lnSpc>
              <a:buNone/>
            </a:pPr>
            <a:r>
              <a:rPr lang="en-US" sz="1450" dirty="0">
                <a:solidFill>
                  <a:srgbClr val="FFFFFF"/>
                </a:solidFill>
                <a:latin typeface="Times New Roman" panose="02020603050405020304" pitchFamily="18" charset="0"/>
                <a:ea typeface="Montserrat" pitchFamily="34" charset="-122"/>
                <a:cs typeface="Times New Roman" panose="02020603050405020304" pitchFamily="18" charset="0"/>
              </a:rPr>
              <a:t>Chúng tôi không nhóm các giá trị </a:t>
            </a:r>
            <a:r>
              <a:rPr lang="en-US" sz="1450" b="1" dirty="0">
                <a:solidFill>
                  <a:srgbClr val="FFFFFF"/>
                </a:solidFill>
                <a:latin typeface="Times New Roman" panose="02020603050405020304" pitchFamily="18" charset="0"/>
                <a:ea typeface="Montserrat" pitchFamily="34" charset="-122"/>
                <a:cs typeface="Times New Roman" panose="02020603050405020304" pitchFamily="18" charset="0"/>
              </a:rPr>
              <a:t>Ticket_Frequency</a:t>
            </a:r>
            <a:r>
              <a:rPr lang="en-US" sz="1450" dirty="0">
                <a:solidFill>
                  <a:srgbClr val="FFFFFF"/>
                </a:solidFill>
                <a:latin typeface="Times New Roman" panose="02020603050405020304" pitchFamily="18" charset="0"/>
                <a:ea typeface="Montserrat" pitchFamily="34" charset="-122"/>
                <a:cs typeface="Times New Roman" panose="02020603050405020304" pitchFamily="18" charset="0"/>
              </a:rPr>
              <a:t> như </a:t>
            </a:r>
            <a:r>
              <a:rPr lang="en-US" sz="1450" b="1" dirty="0">
                <a:solidFill>
                  <a:srgbClr val="FFFFFF"/>
                </a:solidFill>
                <a:latin typeface="Times New Roman" panose="02020603050405020304" pitchFamily="18" charset="0"/>
                <a:ea typeface="Montserrat" pitchFamily="34" charset="-122"/>
                <a:cs typeface="Times New Roman" panose="02020603050405020304" pitchFamily="18" charset="0"/>
              </a:rPr>
              <a:t>Family_Size</a:t>
            </a:r>
            <a:r>
              <a:rPr lang="en-US" sz="1450" dirty="0">
                <a:solidFill>
                  <a:srgbClr val="FFFFFF"/>
                </a:solidFill>
                <a:latin typeface="Times New Roman" panose="02020603050405020304" pitchFamily="18" charset="0"/>
                <a:ea typeface="Montserrat" pitchFamily="34" charset="-122"/>
                <a:cs typeface="Times New Roman" panose="02020603050405020304" pitchFamily="18" charset="0"/>
              </a:rPr>
              <a:t> để tránh tạo ra các tính năng tương đồng hoàn hảo, vốn không mang lại thông tin bổ sung.</a:t>
            </a:r>
            <a:endParaRPr lang="en-US" sz="14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42236" y="752832"/>
            <a:ext cx="12007215" cy="530185"/>
          </a:xfrm>
          <a:prstGeom prst="rect">
            <a:avLst/>
          </a:prstGeom>
          <a:noFill/>
          <a:ln/>
        </p:spPr>
        <p:txBody>
          <a:bodyPr wrap="none" lIns="0" tIns="0" rIns="0" bIns="0" rtlCol="0" anchor="t"/>
          <a:lstStyle/>
          <a:p>
            <a:pPr marL="0" indent="0" algn="l">
              <a:lnSpc>
                <a:spcPts val="4150"/>
              </a:lnSpc>
              <a:buNone/>
            </a:pPr>
            <a:r>
              <a:rPr lang="en-US" sz="33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TẠO TÍNH NĂNG TỪ DANH XƯNG VÀ KÍCH THƯỚC GIA ĐÌNH</a:t>
            </a:r>
            <a:endParaRPr lang="en-US" sz="3300" dirty="0">
              <a:latin typeface="Times New Roman" panose="02020603050405020304" pitchFamily="18" charset="0"/>
              <a:cs typeface="Times New Roman" panose="02020603050405020304" pitchFamily="18" charset="0"/>
            </a:endParaRPr>
          </a:p>
        </p:txBody>
      </p:sp>
      <p:sp>
        <p:nvSpPr>
          <p:cNvPr id="3" name="Text 1"/>
          <p:cNvSpPr/>
          <p:nvPr/>
        </p:nvSpPr>
        <p:spPr>
          <a:xfrm>
            <a:off x="742236" y="1707118"/>
            <a:ext cx="13145929" cy="339209"/>
          </a:xfrm>
          <a:prstGeom prst="rect">
            <a:avLst/>
          </a:prstGeom>
          <a:noFill/>
          <a:ln/>
        </p:spPr>
        <p:txBody>
          <a:bodyPr wrap="none" lIns="0" tIns="0" rIns="0" bIns="0" rtlCol="0" anchor="t"/>
          <a:lstStyle/>
          <a:p>
            <a:pPr marL="0" indent="0" algn="l">
              <a:lnSpc>
                <a:spcPts val="2650"/>
              </a:lnSpc>
              <a:buNone/>
            </a:pP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Kỹ thuật Tính năng được áp dụng để chuyển các tính năng thô thành các tính năng có sức mạnh dự đoán cao.</a:t>
            </a:r>
            <a:endParaRPr lang="en-US" sz="1650" dirty="0">
              <a:latin typeface="Times New Roman" panose="02020603050405020304" pitchFamily="18" charset="0"/>
              <a:cs typeface="Times New Roman" panose="02020603050405020304" pitchFamily="18" charset="0"/>
            </a:endParaRPr>
          </a:p>
        </p:txBody>
      </p:sp>
      <p:sp>
        <p:nvSpPr>
          <p:cNvPr id="4" name="Shape 2"/>
          <p:cNvSpPr/>
          <p:nvPr/>
        </p:nvSpPr>
        <p:spPr>
          <a:xfrm>
            <a:off x="742236" y="2523530"/>
            <a:ext cx="13145929" cy="22860"/>
          </a:xfrm>
          <a:prstGeom prst="roundRect">
            <a:avLst>
              <a:gd name="adj" fmla="val 389683"/>
            </a:avLst>
          </a:prstGeom>
          <a:solidFill>
            <a:srgbClr val="414677"/>
          </a:solidFill>
          <a:ln/>
        </p:spPr>
      </p:sp>
      <p:sp>
        <p:nvSpPr>
          <p:cNvPr id="5" name="Shape 3"/>
          <p:cNvSpPr/>
          <p:nvPr/>
        </p:nvSpPr>
        <p:spPr>
          <a:xfrm>
            <a:off x="3950970" y="2523530"/>
            <a:ext cx="22860" cy="636270"/>
          </a:xfrm>
          <a:prstGeom prst="roundRect">
            <a:avLst>
              <a:gd name="adj" fmla="val 389683"/>
            </a:avLst>
          </a:prstGeom>
          <a:solidFill>
            <a:srgbClr val="414677"/>
          </a:solidFill>
          <a:ln/>
        </p:spPr>
      </p:sp>
      <p:sp>
        <p:nvSpPr>
          <p:cNvPr id="6" name="Shape 4"/>
          <p:cNvSpPr/>
          <p:nvPr/>
        </p:nvSpPr>
        <p:spPr>
          <a:xfrm>
            <a:off x="3723799" y="2284928"/>
            <a:ext cx="477203" cy="477202"/>
          </a:xfrm>
          <a:prstGeom prst="roundRect">
            <a:avLst>
              <a:gd name="adj" fmla="val 18667"/>
            </a:avLst>
          </a:prstGeom>
          <a:solidFill>
            <a:srgbClr val="282D5E"/>
          </a:solidFill>
          <a:ln/>
        </p:spPr>
      </p:sp>
      <p:pic>
        <p:nvPicPr>
          <p:cNvPr id="7" name="Image 0" descr="preencoded.png"/>
          <p:cNvPicPr>
            <a:picLocks noChangeAspect="1"/>
          </p:cNvPicPr>
          <p:nvPr/>
        </p:nvPicPr>
        <p:blipFill>
          <a:blip r:embed="rId3"/>
          <a:stretch>
            <a:fillRect/>
          </a:stretch>
        </p:blipFill>
        <p:spPr>
          <a:xfrm>
            <a:off x="3803333" y="2364462"/>
            <a:ext cx="318135" cy="318135"/>
          </a:xfrm>
          <a:prstGeom prst="rect">
            <a:avLst/>
          </a:prstGeom>
        </p:spPr>
      </p:pic>
      <p:sp>
        <p:nvSpPr>
          <p:cNvPr id="8" name="Text 5"/>
          <p:cNvSpPr/>
          <p:nvPr/>
        </p:nvSpPr>
        <p:spPr>
          <a:xfrm>
            <a:off x="954286" y="3371850"/>
            <a:ext cx="4089559" cy="331351"/>
          </a:xfrm>
          <a:prstGeom prst="rect">
            <a:avLst/>
          </a:prstGeom>
          <a:noFill/>
          <a:ln/>
        </p:spPr>
        <p:txBody>
          <a:bodyPr wrap="none" lIns="0" tIns="0" rIns="0" bIns="0" rtlCol="0" anchor="t"/>
          <a:lstStyle/>
          <a:p>
            <a:pPr marL="0" indent="0" algn="l">
              <a:lnSpc>
                <a:spcPts val="2600"/>
              </a:lnSpc>
              <a:buNone/>
            </a:pPr>
            <a:r>
              <a:rPr lang="en-US" sz="205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Title (Danh Xưng) và Is_Married</a:t>
            </a:r>
            <a:endParaRPr lang="en-US" sz="2050" dirty="0">
              <a:latin typeface="Times New Roman" panose="02020603050405020304" pitchFamily="18" charset="0"/>
              <a:cs typeface="Times New Roman" panose="02020603050405020304" pitchFamily="18" charset="0"/>
            </a:endParaRPr>
          </a:p>
        </p:txBody>
      </p:sp>
      <p:sp>
        <p:nvSpPr>
          <p:cNvPr id="9" name="Text 6"/>
          <p:cNvSpPr/>
          <p:nvPr/>
        </p:nvSpPr>
        <p:spPr>
          <a:xfrm>
            <a:off x="954286" y="3830360"/>
            <a:ext cx="6016347" cy="1356836"/>
          </a:xfrm>
          <a:prstGeom prst="rect">
            <a:avLst/>
          </a:prstGeom>
          <a:noFill/>
          <a:ln/>
        </p:spPr>
        <p:txBody>
          <a:bodyPr wrap="square" lIns="0" tIns="0" rIns="0" bIns="0" rtlCol="0" anchor="t"/>
          <a:lstStyle/>
          <a:p>
            <a:pPr marL="0" indent="0" algn="l">
              <a:lnSpc>
                <a:spcPts val="2650"/>
              </a:lnSpc>
              <a:buNone/>
            </a:pP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Trích xuất danh xưng từ cột </a:t>
            </a:r>
            <a:r>
              <a:rPr lang="en-US" sz="1650" b="1" dirty="0">
                <a:solidFill>
                  <a:srgbClr val="E5DCE6"/>
                </a:solidFill>
                <a:latin typeface="Times New Roman" panose="02020603050405020304" pitchFamily="18" charset="0"/>
                <a:ea typeface="Montserrat" pitchFamily="34" charset="-122"/>
                <a:cs typeface="Times New Roman" panose="02020603050405020304" pitchFamily="18" charset="0"/>
              </a:rPr>
              <a:t>Name</a:t>
            </a: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 (ví dụ: Mr, Miss, Master). Sau đó, các danh xưng hiếm hoặc tương tự được gộp lại (ví dụ: </a:t>
            </a:r>
            <a:r>
              <a:rPr lang="en-US" sz="1650" dirty="0">
                <a:solidFill>
                  <a:srgbClr val="000000"/>
                </a:solidFill>
                <a:highlight>
                  <a:srgbClr val="EEAEF6"/>
                </a:highlight>
                <a:latin typeface="Times New Roman" panose="02020603050405020304" pitchFamily="18" charset="0"/>
                <a:ea typeface="Montserrat" pitchFamily="34" charset="-122"/>
                <a:cs typeface="Times New Roman" panose="02020603050405020304" pitchFamily="18" charset="0"/>
              </a:rPr>
              <a:t>Miss/Mrs/Ms</a:t>
            </a: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 </a:t>
            </a:r>
            <a:r>
              <a:rPr lang="en-US" sz="1650" dirty="0">
                <a:solidFill>
                  <a:srgbClr val="000000"/>
                </a:solidFill>
                <a:highlight>
                  <a:srgbClr val="EEAEF6"/>
                </a:highlight>
                <a:latin typeface="Times New Roman" panose="02020603050405020304" pitchFamily="18" charset="0"/>
                <a:ea typeface="Montserrat" pitchFamily="34" charset="-122"/>
                <a:cs typeface="Times New Roman" panose="02020603050405020304" pitchFamily="18" charset="0"/>
              </a:rPr>
              <a:t>Dr/Military/Noble/Clergy</a:t>
            </a: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a:t>
            </a:r>
            <a:endParaRPr lang="en-US" sz="1650" dirty="0">
              <a:latin typeface="Times New Roman" panose="02020603050405020304" pitchFamily="18" charset="0"/>
              <a:cs typeface="Times New Roman" panose="02020603050405020304" pitchFamily="18" charset="0"/>
            </a:endParaRPr>
          </a:p>
        </p:txBody>
      </p:sp>
      <p:sp>
        <p:nvSpPr>
          <p:cNvPr id="10" name="Text 7"/>
          <p:cNvSpPr/>
          <p:nvPr/>
        </p:nvSpPr>
        <p:spPr>
          <a:xfrm>
            <a:off x="954286" y="5314355"/>
            <a:ext cx="6016347" cy="1017627"/>
          </a:xfrm>
          <a:prstGeom prst="rect">
            <a:avLst/>
          </a:prstGeom>
          <a:noFill/>
          <a:ln/>
        </p:spPr>
        <p:txBody>
          <a:bodyPr wrap="square" lIns="0" tIns="0" rIns="0" bIns="0" rtlCol="0" anchor="t"/>
          <a:lstStyle/>
          <a:p>
            <a:pPr marL="0" indent="0" algn="l">
              <a:lnSpc>
                <a:spcPts val="2650"/>
              </a:lnSpc>
              <a:buNone/>
            </a:pP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Đáng chú ý, </a:t>
            </a:r>
            <a:r>
              <a:rPr lang="en-US" sz="1650" b="1" dirty="0">
                <a:solidFill>
                  <a:srgbClr val="E5DCE6"/>
                </a:solidFill>
                <a:latin typeface="Times New Roman" panose="02020603050405020304" pitchFamily="18" charset="0"/>
                <a:ea typeface="Montserrat" pitchFamily="34" charset="-122"/>
                <a:cs typeface="Times New Roman" panose="02020603050405020304" pitchFamily="18" charset="0"/>
              </a:rPr>
              <a:t>Master</a:t>
            </a: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 là danh xưng độc đáo cho bé trai dưới 26 tuổi và họ có tỷ lệ sống sót cao nhất trong số các hành khách nam.</a:t>
            </a:r>
            <a:endParaRPr lang="en-US" sz="1650" dirty="0">
              <a:latin typeface="Times New Roman" panose="02020603050405020304" pitchFamily="18" charset="0"/>
              <a:cs typeface="Times New Roman" panose="02020603050405020304" pitchFamily="18" charset="0"/>
            </a:endParaRPr>
          </a:p>
        </p:txBody>
      </p:sp>
      <p:sp>
        <p:nvSpPr>
          <p:cNvPr id="11" name="Text 8"/>
          <p:cNvSpPr/>
          <p:nvPr/>
        </p:nvSpPr>
        <p:spPr>
          <a:xfrm>
            <a:off x="954286" y="6459141"/>
            <a:ext cx="6016347" cy="1017627"/>
          </a:xfrm>
          <a:prstGeom prst="rect">
            <a:avLst/>
          </a:prstGeom>
          <a:noFill/>
          <a:ln/>
        </p:spPr>
        <p:txBody>
          <a:bodyPr wrap="square" lIns="0" tIns="0" rIns="0" bIns="0" rtlCol="0" anchor="t"/>
          <a:lstStyle/>
          <a:p>
            <a:pPr marL="0" indent="0" algn="l">
              <a:lnSpc>
                <a:spcPts val="2650"/>
              </a:lnSpc>
              <a:buNone/>
            </a:pPr>
            <a:r>
              <a:rPr lang="en-US" sz="1650" b="1" dirty="0">
                <a:solidFill>
                  <a:srgbClr val="E5DCE6"/>
                </a:solidFill>
                <a:latin typeface="Times New Roman" panose="02020603050405020304" pitchFamily="18" charset="0"/>
                <a:ea typeface="Montserrat" pitchFamily="34" charset="-122"/>
                <a:cs typeface="Times New Roman" panose="02020603050405020304" pitchFamily="18" charset="0"/>
              </a:rPr>
              <a:t>Is_Married</a:t>
            </a: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 (Boolean) được tạo ra từ danh xưng 'Mrs' vì đây là nhóm nữ có tỷ lệ sống sót cao nhất trong số các danh xưng nữ đã gộp, cung cấp thêm thông tin.</a:t>
            </a:r>
            <a:endParaRPr lang="en-US" sz="1650" dirty="0">
              <a:latin typeface="Times New Roman" panose="02020603050405020304" pitchFamily="18" charset="0"/>
              <a:cs typeface="Times New Roman" panose="02020603050405020304" pitchFamily="18" charset="0"/>
            </a:endParaRPr>
          </a:p>
        </p:txBody>
      </p:sp>
      <p:sp>
        <p:nvSpPr>
          <p:cNvPr id="12" name="Shape 9"/>
          <p:cNvSpPr/>
          <p:nvPr/>
        </p:nvSpPr>
        <p:spPr>
          <a:xfrm>
            <a:off x="10656451" y="2523530"/>
            <a:ext cx="22860" cy="636270"/>
          </a:xfrm>
          <a:prstGeom prst="roundRect">
            <a:avLst>
              <a:gd name="adj" fmla="val 389683"/>
            </a:avLst>
          </a:prstGeom>
          <a:solidFill>
            <a:srgbClr val="414677"/>
          </a:solidFill>
          <a:ln/>
        </p:spPr>
      </p:sp>
      <p:sp>
        <p:nvSpPr>
          <p:cNvPr id="13" name="Shape 10"/>
          <p:cNvSpPr/>
          <p:nvPr/>
        </p:nvSpPr>
        <p:spPr>
          <a:xfrm>
            <a:off x="10429280" y="2284928"/>
            <a:ext cx="477203" cy="477202"/>
          </a:xfrm>
          <a:prstGeom prst="roundRect">
            <a:avLst>
              <a:gd name="adj" fmla="val 18667"/>
            </a:avLst>
          </a:prstGeom>
          <a:solidFill>
            <a:srgbClr val="282D5E"/>
          </a:solidFill>
          <a:ln/>
        </p:spPr>
      </p:sp>
      <p:pic>
        <p:nvPicPr>
          <p:cNvPr id="14" name="Image 1" descr="preencoded.png"/>
          <p:cNvPicPr>
            <a:picLocks noChangeAspect="1"/>
          </p:cNvPicPr>
          <p:nvPr/>
        </p:nvPicPr>
        <p:blipFill>
          <a:blip r:embed="rId4"/>
          <a:stretch>
            <a:fillRect/>
          </a:stretch>
        </p:blipFill>
        <p:spPr>
          <a:xfrm>
            <a:off x="10508813" y="2364462"/>
            <a:ext cx="318135" cy="318135"/>
          </a:xfrm>
          <a:prstGeom prst="rect">
            <a:avLst/>
          </a:prstGeom>
        </p:spPr>
      </p:pic>
      <p:sp>
        <p:nvSpPr>
          <p:cNvPr id="15" name="Text 11"/>
          <p:cNvSpPr/>
          <p:nvPr/>
        </p:nvSpPr>
        <p:spPr>
          <a:xfrm>
            <a:off x="7659767" y="3371850"/>
            <a:ext cx="4591526" cy="331351"/>
          </a:xfrm>
          <a:prstGeom prst="rect">
            <a:avLst/>
          </a:prstGeom>
          <a:noFill/>
          <a:ln/>
        </p:spPr>
        <p:txBody>
          <a:bodyPr wrap="none" lIns="0" tIns="0" rIns="0" bIns="0" rtlCol="0" anchor="t"/>
          <a:lstStyle/>
          <a:p>
            <a:pPr marL="0" indent="0" algn="l">
              <a:lnSpc>
                <a:spcPts val="2600"/>
              </a:lnSpc>
              <a:buNone/>
            </a:pPr>
            <a:r>
              <a:rPr lang="en-US" sz="205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Family Size và Family Size Grouped</a:t>
            </a:r>
            <a:endParaRPr lang="en-US" sz="2050" dirty="0">
              <a:latin typeface="Times New Roman" panose="02020603050405020304" pitchFamily="18" charset="0"/>
              <a:cs typeface="Times New Roman" panose="02020603050405020304" pitchFamily="18" charset="0"/>
            </a:endParaRPr>
          </a:p>
        </p:txBody>
      </p:sp>
      <p:sp>
        <p:nvSpPr>
          <p:cNvPr id="16" name="Text 12"/>
          <p:cNvSpPr/>
          <p:nvPr/>
        </p:nvSpPr>
        <p:spPr>
          <a:xfrm>
            <a:off x="7659767" y="3830360"/>
            <a:ext cx="6016347" cy="339209"/>
          </a:xfrm>
          <a:prstGeom prst="rect">
            <a:avLst/>
          </a:prstGeom>
          <a:noFill/>
          <a:ln/>
        </p:spPr>
        <p:txBody>
          <a:bodyPr wrap="none" lIns="0" tIns="0" rIns="0" bIns="0" rtlCol="0" anchor="t"/>
          <a:lstStyle/>
          <a:p>
            <a:pPr marL="0" indent="0" algn="l">
              <a:lnSpc>
                <a:spcPts val="2650"/>
              </a:lnSpc>
              <a:buNone/>
            </a:pP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Kích thước gia đình được tính bằng </a:t>
            </a:r>
            <a:r>
              <a:rPr lang="en-US" sz="1650" b="1" dirty="0">
                <a:solidFill>
                  <a:srgbClr val="E5DCE6"/>
                </a:solidFill>
                <a:latin typeface="Times New Roman" panose="02020603050405020304" pitchFamily="18" charset="0"/>
                <a:ea typeface="Montserrat" pitchFamily="34" charset="-122"/>
                <a:cs typeface="Times New Roman" panose="02020603050405020304" pitchFamily="18" charset="0"/>
              </a:rPr>
              <a:t>SibSp + Parch + 1</a:t>
            </a: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a:t>
            </a:r>
            <a:endParaRPr lang="en-US" sz="1650" dirty="0">
              <a:latin typeface="Times New Roman" panose="02020603050405020304" pitchFamily="18" charset="0"/>
              <a:cs typeface="Times New Roman" panose="02020603050405020304" pitchFamily="18" charset="0"/>
            </a:endParaRPr>
          </a:p>
        </p:txBody>
      </p:sp>
      <p:sp>
        <p:nvSpPr>
          <p:cNvPr id="17" name="Text 13"/>
          <p:cNvSpPr/>
          <p:nvPr/>
        </p:nvSpPr>
        <p:spPr>
          <a:xfrm>
            <a:off x="7659767" y="4296727"/>
            <a:ext cx="6016347" cy="678418"/>
          </a:xfrm>
          <a:prstGeom prst="rect">
            <a:avLst/>
          </a:prstGeom>
          <a:noFill/>
          <a:ln/>
        </p:spPr>
        <p:txBody>
          <a:bodyPr wrap="square" lIns="0" tIns="0" rIns="0" bIns="0" rtlCol="0" anchor="t"/>
          <a:lstStyle/>
          <a:p>
            <a:pPr marL="0" indent="0" algn="l">
              <a:lnSpc>
                <a:spcPts val="2650"/>
              </a:lnSpc>
              <a:buNone/>
            </a:pP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Phân nhóm </a:t>
            </a:r>
            <a:r>
              <a:rPr lang="en-US" sz="1650" b="1" dirty="0">
                <a:solidFill>
                  <a:srgbClr val="E5DCE6"/>
                </a:solidFill>
                <a:latin typeface="Times New Roman" panose="02020603050405020304" pitchFamily="18" charset="0"/>
                <a:ea typeface="Montserrat" pitchFamily="34" charset="-122"/>
                <a:cs typeface="Times New Roman" panose="02020603050405020304" pitchFamily="18" charset="0"/>
              </a:rPr>
              <a:t>Family_Size</a:t>
            </a: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 thành các nhóm hữu ích hơn: </a:t>
            </a:r>
            <a:r>
              <a:rPr lang="en-US" sz="1650" dirty="0">
                <a:solidFill>
                  <a:srgbClr val="000000"/>
                </a:solidFill>
                <a:highlight>
                  <a:srgbClr val="EEAEF6"/>
                </a:highlight>
                <a:latin typeface="Times New Roman" panose="02020603050405020304" pitchFamily="18" charset="0"/>
                <a:ea typeface="Montserrat" pitchFamily="34" charset="-122"/>
                <a:cs typeface="Times New Roman" panose="02020603050405020304" pitchFamily="18" charset="0"/>
              </a:rPr>
              <a:t>Alone</a:t>
            </a: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 (1), </a:t>
            </a:r>
            <a:r>
              <a:rPr lang="en-US" sz="1650" dirty="0">
                <a:solidFill>
                  <a:srgbClr val="000000"/>
                </a:solidFill>
                <a:highlight>
                  <a:srgbClr val="EEAEF6"/>
                </a:highlight>
                <a:latin typeface="Times New Roman" panose="02020603050405020304" pitchFamily="18" charset="0"/>
                <a:ea typeface="Montserrat" pitchFamily="34" charset="-122"/>
                <a:cs typeface="Times New Roman" panose="02020603050405020304" pitchFamily="18" charset="0"/>
              </a:rPr>
              <a:t>Small</a:t>
            </a: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 (2-4), </a:t>
            </a:r>
            <a:r>
              <a:rPr lang="en-US" sz="1650" dirty="0">
                <a:solidFill>
                  <a:srgbClr val="000000"/>
                </a:solidFill>
                <a:highlight>
                  <a:srgbClr val="EEAEF6"/>
                </a:highlight>
                <a:latin typeface="Times New Roman" panose="02020603050405020304" pitchFamily="18" charset="0"/>
                <a:ea typeface="Montserrat" pitchFamily="34" charset="-122"/>
                <a:cs typeface="Times New Roman" panose="02020603050405020304" pitchFamily="18" charset="0"/>
              </a:rPr>
              <a:t>Medium</a:t>
            </a: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 (5-6), và </a:t>
            </a:r>
            <a:r>
              <a:rPr lang="en-US" sz="1650" dirty="0">
                <a:solidFill>
                  <a:srgbClr val="000000"/>
                </a:solidFill>
                <a:highlight>
                  <a:srgbClr val="EEAEF6"/>
                </a:highlight>
                <a:latin typeface="Times New Roman" panose="02020603050405020304" pitchFamily="18" charset="0"/>
                <a:ea typeface="Montserrat" pitchFamily="34" charset="-122"/>
                <a:cs typeface="Times New Roman" panose="02020603050405020304" pitchFamily="18" charset="0"/>
              </a:rPr>
              <a:t>Large</a:t>
            </a: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 (7-11).</a:t>
            </a:r>
            <a:endParaRPr lang="en-US" sz="1650" dirty="0">
              <a:latin typeface="Times New Roman" panose="02020603050405020304" pitchFamily="18" charset="0"/>
              <a:cs typeface="Times New Roman" panose="02020603050405020304" pitchFamily="18" charset="0"/>
            </a:endParaRPr>
          </a:p>
        </p:txBody>
      </p:sp>
      <p:sp>
        <p:nvSpPr>
          <p:cNvPr id="18" name="Text 14"/>
          <p:cNvSpPr/>
          <p:nvPr/>
        </p:nvSpPr>
        <p:spPr>
          <a:xfrm>
            <a:off x="7659767" y="5102304"/>
            <a:ext cx="6016347" cy="678418"/>
          </a:xfrm>
          <a:prstGeom prst="rect">
            <a:avLst/>
          </a:prstGeom>
          <a:noFill/>
          <a:ln/>
        </p:spPr>
        <p:txBody>
          <a:bodyPr wrap="square" lIns="0" tIns="0" rIns="0" bIns="0" rtlCol="0" anchor="t"/>
          <a:lstStyle/>
          <a:p>
            <a:pPr marL="0" indent="0" algn="l">
              <a:lnSpc>
                <a:spcPts val="2650"/>
              </a:lnSpc>
              <a:buNone/>
            </a:pP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Kết quả: Nhóm </a:t>
            </a:r>
            <a:r>
              <a:rPr lang="en-US" sz="1650" b="1" dirty="0">
                <a:solidFill>
                  <a:srgbClr val="E5DCE6"/>
                </a:solidFill>
                <a:latin typeface="Times New Roman" panose="02020603050405020304" pitchFamily="18" charset="0"/>
                <a:ea typeface="Montserrat" pitchFamily="34" charset="-122"/>
                <a:cs typeface="Times New Roman" panose="02020603050405020304" pitchFamily="18" charset="0"/>
              </a:rPr>
              <a:t>Small</a:t>
            </a: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 có tỷ lệ sống sót cao nhất; nhóm </a:t>
            </a:r>
            <a:r>
              <a:rPr lang="en-US" sz="1650" b="1" dirty="0">
                <a:solidFill>
                  <a:srgbClr val="E5DCE6"/>
                </a:solidFill>
                <a:latin typeface="Times New Roman" panose="02020603050405020304" pitchFamily="18" charset="0"/>
                <a:ea typeface="Montserrat" pitchFamily="34" charset="-122"/>
                <a:cs typeface="Times New Roman" panose="02020603050405020304" pitchFamily="18" charset="0"/>
              </a:rPr>
              <a:t>Alone</a:t>
            </a: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 và </a:t>
            </a:r>
            <a:r>
              <a:rPr lang="en-US" sz="1650" b="1" dirty="0">
                <a:solidFill>
                  <a:srgbClr val="E5DCE6"/>
                </a:solidFill>
                <a:latin typeface="Times New Roman" panose="02020603050405020304" pitchFamily="18" charset="0"/>
                <a:ea typeface="Montserrat" pitchFamily="34" charset="-122"/>
                <a:cs typeface="Times New Roman" panose="02020603050405020304" pitchFamily="18" charset="0"/>
              </a:rPr>
              <a:t>Large</a:t>
            </a: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 có tỷ lệ sống sót thấp nhất.</a:t>
            </a:r>
            <a:endParaRPr lang="en-US" sz="16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20554" y="616744"/>
            <a:ext cx="7102554" cy="443151"/>
          </a:xfrm>
          <a:prstGeom prst="rect">
            <a:avLst/>
          </a:prstGeom>
          <a:noFill/>
          <a:ln/>
        </p:spPr>
        <p:txBody>
          <a:bodyPr wrap="none" lIns="0" tIns="0" rIns="0" bIns="0" rtlCol="0" anchor="t"/>
          <a:lstStyle/>
          <a:p>
            <a:pPr marL="0" indent="0" algn="l">
              <a:lnSpc>
                <a:spcPts val="3450"/>
              </a:lnSpc>
              <a:buNone/>
            </a:pPr>
            <a:r>
              <a:rPr lang="en-US" sz="27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KỸ THUẬT TARGET ENCODING NÂNG CAO</a:t>
            </a:r>
            <a:endParaRPr lang="en-US" sz="2750" dirty="0">
              <a:latin typeface="Times New Roman" panose="02020603050405020304" pitchFamily="18" charset="0"/>
              <a:cs typeface="Times New Roman" panose="02020603050405020304" pitchFamily="18" charset="0"/>
            </a:endParaRPr>
          </a:p>
        </p:txBody>
      </p:sp>
      <p:sp>
        <p:nvSpPr>
          <p:cNvPr id="3" name="Text 1"/>
          <p:cNvSpPr/>
          <p:nvPr/>
        </p:nvSpPr>
        <p:spPr>
          <a:xfrm>
            <a:off x="620554" y="1414463"/>
            <a:ext cx="13389293" cy="283607"/>
          </a:xfrm>
          <a:prstGeom prst="rect">
            <a:avLst/>
          </a:prstGeom>
          <a:noFill/>
          <a:ln/>
        </p:spPr>
        <p:txBody>
          <a:bodyPr wrap="none" lIns="0" tIns="0" rIns="0" bIns="0" rtlCol="0" anchor="t"/>
          <a:lstStyle/>
          <a:p>
            <a:pPr marL="0" indent="0" algn="l">
              <a:lnSpc>
                <a:spcPts val="2200"/>
              </a:lnSpc>
              <a:buNone/>
            </a:pP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Target Encoding (Mã hóa Mục tiêu) là một kỹ thuật mạnh mẽ nhưng cần được xử lý cẩn thận để tránh rò rỉ dữ liệu (data leakage).</a:t>
            </a:r>
            <a:endParaRPr lang="en-US" sz="1350" dirty="0">
              <a:latin typeface="Times New Roman" panose="02020603050405020304" pitchFamily="18" charset="0"/>
              <a:cs typeface="Times New Roman" panose="02020603050405020304" pitchFamily="18" charset="0"/>
            </a:endParaRPr>
          </a:p>
        </p:txBody>
      </p:sp>
      <p:sp>
        <p:nvSpPr>
          <p:cNvPr id="4" name="Text 2"/>
          <p:cNvSpPr/>
          <p:nvPr/>
        </p:nvSpPr>
        <p:spPr>
          <a:xfrm>
            <a:off x="620554" y="1897499"/>
            <a:ext cx="13389293" cy="567214"/>
          </a:xfrm>
          <a:prstGeom prst="rect">
            <a:avLst/>
          </a:prstGeom>
          <a:noFill/>
          <a:ln/>
        </p:spPr>
        <p:txBody>
          <a:bodyPr wrap="square" lIns="0" tIns="0" rIns="0" bIns="0" rtlCol="0" anchor="t"/>
          <a:lstStyle/>
          <a:p>
            <a:pPr marL="0" indent="0" algn="l">
              <a:lnSpc>
                <a:spcPts val="2200"/>
              </a:lnSpc>
              <a:buNone/>
            </a:pP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Chúng tôi tính toán Tỷ lệ Sống sót của các gia đình (</a:t>
            </a: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Family_Survival_Rate</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và các nhóm dùng chung vé (</a:t>
            </a: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Ticket_Survival_Rate</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chỉ dựa trên các gia đình/vé xuất hiện trong cả tập huấn luyện và tập kiểm tra, và có nhiều hơn một thành viên.</a:t>
            </a:r>
            <a:endParaRPr lang="en-US" sz="1350" dirty="0">
              <a:latin typeface="Times New Roman" panose="02020603050405020304" pitchFamily="18" charset="0"/>
              <a:cs typeface="Times New Roman" panose="02020603050405020304" pitchFamily="18" charset="0"/>
            </a:endParaRPr>
          </a:p>
        </p:txBody>
      </p:sp>
      <p:sp>
        <p:nvSpPr>
          <p:cNvPr id="5" name="Shape 3"/>
          <p:cNvSpPr/>
          <p:nvPr/>
        </p:nvSpPr>
        <p:spPr>
          <a:xfrm>
            <a:off x="620554" y="2930009"/>
            <a:ext cx="6605945" cy="1262301"/>
          </a:xfrm>
          <a:prstGeom prst="roundRect">
            <a:avLst>
              <a:gd name="adj" fmla="val 5899"/>
            </a:avLst>
          </a:prstGeom>
          <a:solidFill>
            <a:srgbClr val="090E3F"/>
          </a:solidFill>
          <a:ln w="22860">
            <a:solidFill>
              <a:srgbClr val="414677"/>
            </a:solidFill>
            <a:prstDash val="solid"/>
          </a:ln>
        </p:spPr>
      </p:sp>
      <p:sp>
        <p:nvSpPr>
          <p:cNvPr id="6" name="Shape 4"/>
          <p:cNvSpPr/>
          <p:nvPr/>
        </p:nvSpPr>
        <p:spPr>
          <a:xfrm>
            <a:off x="643414" y="2952869"/>
            <a:ext cx="6560225" cy="177284"/>
          </a:xfrm>
          <a:prstGeom prst="roundRect">
            <a:avLst>
              <a:gd name="adj" fmla="val 26532"/>
            </a:avLst>
          </a:prstGeom>
          <a:solidFill>
            <a:srgbClr val="282D5E"/>
          </a:solidFill>
          <a:ln/>
        </p:spPr>
      </p:sp>
      <p:sp>
        <p:nvSpPr>
          <p:cNvPr id="7" name="Text 5"/>
          <p:cNvSpPr/>
          <p:nvPr/>
        </p:nvSpPr>
        <p:spPr>
          <a:xfrm>
            <a:off x="820698" y="3307437"/>
            <a:ext cx="2400419" cy="277058"/>
          </a:xfrm>
          <a:prstGeom prst="rect">
            <a:avLst/>
          </a:prstGeom>
          <a:noFill/>
          <a:ln/>
        </p:spPr>
        <p:txBody>
          <a:bodyPr wrap="none" lIns="0" tIns="0" rIns="0" bIns="0" rtlCol="0" anchor="t"/>
          <a:lstStyle/>
          <a:p>
            <a:pPr marL="0" indent="0" algn="l">
              <a:lnSpc>
                <a:spcPts val="2150"/>
              </a:lnSpc>
              <a:buNone/>
            </a:pPr>
            <a:r>
              <a:rPr lang="en-US" sz="17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1. Trích Xuất Họ và Tên</a:t>
            </a:r>
            <a:endParaRPr lang="en-US" sz="1700" dirty="0">
              <a:latin typeface="Times New Roman" panose="02020603050405020304" pitchFamily="18" charset="0"/>
              <a:cs typeface="Times New Roman" panose="02020603050405020304" pitchFamily="18" charset="0"/>
            </a:endParaRPr>
          </a:p>
        </p:txBody>
      </p:sp>
      <p:sp>
        <p:nvSpPr>
          <p:cNvPr id="8" name="Text 6"/>
          <p:cNvSpPr/>
          <p:nvPr/>
        </p:nvSpPr>
        <p:spPr>
          <a:xfrm>
            <a:off x="820698" y="3690818"/>
            <a:ext cx="6205657" cy="283607"/>
          </a:xfrm>
          <a:prstGeom prst="rect">
            <a:avLst/>
          </a:prstGeom>
          <a:noFill/>
          <a:ln/>
        </p:spPr>
        <p:txBody>
          <a:bodyPr wrap="none" lIns="0" tIns="0" rIns="0" bIns="0" rtlCol="0" anchor="t"/>
          <a:lstStyle/>
          <a:p>
            <a:pPr marL="0" indent="0" algn="l">
              <a:lnSpc>
                <a:spcPts val="2200"/>
              </a:lnSpc>
              <a:buNone/>
            </a:pP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Trích xuất họ của hành khách từ cột </a:t>
            </a: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Name</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để tạo tính năng </a:t>
            </a: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Family</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a:t>
            </a:r>
            <a:endParaRPr lang="en-US" sz="1350" dirty="0">
              <a:latin typeface="Times New Roman" panose="02020603050405020304" pitchFamily="18" charset="0"/>
              <a:cs typeface="Times New Roman" panose="02020603050405020304" pitchFamily="18" charset="0"/>
            </a:endParaRPr>
          </a:p>
        </p:txBody>
      </p:sp>
      <p:sp>
        <p:nvSpPr>
          <p:cNvPr id="9" name="Shape 7"/>
          <p:cNvSpPr/>
          <p:nvPr/>
        </p:nvSpPr>
        <p:spPr>
          <a:xfrm>
            <a:off x="7403783" y="2664143"/>
            <a:ext cx="6606064" cy="1528167"/>
          </a:xfrm>
          <a:prstGeom prst="roundRect">
            <a:avLst>
              <a:gd name="adj" fmla="val 4873"/>
            </a:avLst>
          </a:prstGeom>
          <a:solidFill>
            <a:srgbClr val="090E3F"/>
          </a:solidFill>
          <a:ln w="22860">
            <a:solidFill>
              <a:srgbClr val="414677"/>
            </a:solidFill>
            <a:prstDash val="solid"/>
          </a:ln>
        </p:spPr>
      </p:sp>
      <p:sp>
        <p:nvSpPr>
          <p:cNvPr id="10" name="Shape 8"/>
          <p:cNvSpPr/>
          <p:nvPr/>
        </p:nvSpPr>
        <p:spPr>
          <a:xfrm>
            <a:off x="7426642" y="2687003"/>
            <a:ext cx="6560344" cy="177284"/>
          </a:xfrm>
          <a:prstGeom prst="roundRect">
            <a:avLst>
              <a:gd name="adj" fmla="val 26532"/>
            </a:avLst>
          </a:prstGeom>
          <a:solidFill>
            <a:srgbClr val="282D5E"/>
          </a:solidFill>
          <a:ln/>
        </p:spPr>
      </p:sp>
      <p:sp>
        <p:nvSpPr>
          <p:cNvPr id="11" name="Text 9"/>
          <p:cNvSpPr/>
          <p:nvPr/>
        </p:nvSpPr>
        <p:spPr>
          <a:xfrm>
            <a:off x="7603927" y="3041571"/>
            <a:ext cx="2677120" cy="277058"/>
          </a:xfrm>
          <a:prstGeom prst="rect">
            <a:avLst/>
          </a:prstGeom>
          <a:noFill/>
          <a:ln/>
        </p:spPr>
        <p:txBody>
          <a:bodyPr wrap="none" lIns="0" tIns="0" rIns="0" bIns="0" rtlCol="0" anchor="t"/>
          <a:lstStyle/>
          <a:p>
            <a:pPr marL="0" indent="0" algn="l">
              <a:lnSpc>
                <a:spcPts val="2150"/>
              </a:lnSpc>
              <a:buNone/>
            </a:pPr>
            <a:r>
              <a:rPr lang="en-US" sz="17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2. Xác định Nhóm Chung</a:t>
            </a:r>
            <a:endParaRPr lang="en-US" sz="1700" dirty="0">
              <a:latin typeface="Times New Roman" panose="02020603050405020304" pitchFamily="18" charset="0"/>
              <a:cs typeface="Times New Roman" panose="02020603050405020304" pitchFamily="18" charset="0"/>
            </a:endParaRPr>
          </a:p>
        </p:txBody>
      </p:sp>
      <p:sp>
        <p:nvSpPr>
          <p:cNvPr id="12" name="Text 10"/>
          <p:cNvSpPr/>
          <p:nvPr/>
        </p:nvSpPr>
        <p:spPr>
          <a:xfrm>
            <a:off x="7603927" y="3424952"/>
            <a:ext cx="6205776" cy="567214"/>
          </a:xfrm>
          <a:prstGeom prst="rect">
            <a:avLst/>
          </a:prstGeom>
          <a:noFill/>
          <a:ln/>
        </p:spPr>
        <p:txBody>
          <a:bodyPr wrap="square" lIns="0" tIns="0" rIns="0" bIns="0" rtlCol="0" anchor="t"/>
          <a:lstStyle/>
          <a:p>
            <a:pPr marL="0" indent="0" algn="l">
              <a:lnSpc>
                <a:spcPts val="2200"/>
              </a:lnSpc>
              <a:buNone/>
            </a:pP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Tạo danh sách các họ và số vé xuất hiện đồng thời trong cả tập huấn luyện và tập kiểm tra.</a:t>
            </a:r>
            <a:endParaRPr lang="en-US" sz="1350" dirty="0">
              <a:latin typeface="Times New Roman" panose="02020603050405020304" pitchFamily="18" charset="0"/>
              <a:cs typeface="Times New Roman" panose="02020603050405020304" pitchFamily="18" charset="0"/>
            </a:endParaRPr>
          </a:p>
        </p:txBody>
      </p:sp>
      <p:sp>
        <p:nvSpPr>
          <p:cNvPr id="13" name="Shape 11"/>
          <p:cNvSpPr/>
          <p:nvPr/>
        </p:nvSpPr>
        <p:spPr>
          <a:xfrm>
            <a:off x="620554" y="4635460"/>
            <a:ext cx="6605945" cy="1811774"/>
          </a:xfrm>
          <a:prstGeom prst="roundRect">
            <a:avLst>
              <a:gd name="adj" fmla="val 4110"/>
            </a:avLst>
          </a:prstGeom>
          <a:solidFill>
            <a:srgbClr val="090E3F"/>
          </a:solidFill>
          <a:ln w="22860">
            <a:solidFill>
              <a:srgbClr val="414677"/>
            </a:solidFill>
            <a:prstDash val="solid"/>
          </a:ln>
        </p:spPr>
      </p:sp>
      <p:sp>
        <p:nvSpPr>
          <p:cNvPr id="14" name="Shape 12"/>
          <p:cNvSpPr/>
          <p:nvPr/>
        </p:nvSpPr>
        <p:spPr>
          <a:xfrm>
            <a:off x="643414" y="4658320"/>
            <a:ext cx="6560225" cy="177284"/>
          </a:xfrm>
          <a:prstGeom prst="roundRect">
            <a:avLst>
              <a:gd name="adj" fmla="val 26532"/>
            </a:avLst>
          </a:prstGeom>
          <a:solidFill>
            <a:srgbClr val="282D5E"/>
          </a:solidFill>
          <a:ln/>
        </p:spPr>
      </p:sp>
      <p:sp>
        <p:nvSpPr>
          <p:cNvPr id="15" name="Text 13"/>
          <p:cNvSpPr/>
          <p:nvPr/>
        </p:nvSpPr>
        <p:spPr>
          <a:xfrm>
            <a:off x="820698" y="5012888"/>
            <a:ext cx="2346365" cy="277058"/>
          </a:xfrm>
          <a:prstGeom prst="rect">
            <a:avLst/>
          </a:prstGeom>
          <a:noFill/>
          <a:ln/>
        </p:spPr>
        <p:txBody>
          <a:bodyPr wrap="none" lIns="0" tIns="0" rIns="0" bIns="0" rtlCol="0" anchor="t"/>
          <a:lstStyle/>
          <a:p>
            <a:pPr marL="0" indent="0" algn="l">
              <a:lnSpc>
                <a:spcPts val="2150"/>
              </a:lnSpc>
              <a:buNone/>
            </a:pPr>
            <a:r>
              <a:rPr lang="en-US" sz="17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3. Tính Tỷ Lệ Sống Sót</a:t>
            </a:r>
            <a:endParaRPr lang="en-US" sz="1700" dirty="0">
              <a:latin typeface="Times New Roman" panose="02020603050405020304" pitchFamily="18" charset="0"/>
              <a:cs typeface="Times New Roman" panose="02020603050405020304" pitchFamily="18" charset="0"/>
            </a:endParaRPr>
          </a:p>
        </p:txBody>
      </p:sp>
      <p:sp>
        <p:nvSpPr>
          <p:cNvPr id="16" name="Text 14"/>
          <p:cNvSpPr/>
          <p:nvPr/>
        </p:nvSpPr>
        <p:spPr>
          <a:xfrm>
            <a:off x="820698" y="5396270"/>
            <a:ext cx="6205657" cy="850821"/>
          </a:xfrm>
          <a:prstGeom prst="rect">
            <a:avLst/>
          </a:prstGeom>
          <a:noFill/>
          <a:ln/>
        </p:spPr>
        <p:txBody>
          <a:bodyPr wrap="square" lIns="0" tIns="0" rIns="0" bIns="0" rtlCol="0" anchor="t"/>
          <a:lstStyle/>
          <a:p>
            <a:pPr marL="0" indent="0" algn="l">
              <a:lnSpc>
                <a:spcPts val="2200"/>
              </a:lnSpc>
              <a:buNone/>
            </a:pP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Tính Tỷ lệ Sống sót cho các nhóm này. Các nhóm còn lại (độc nhất trong tập kiểm tra) được điền bằng Tỷ lệ Sống sót trung bình toàn bộ dữ liệu, cùng với một cờ </a:t>
            </a: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_NA</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để đánh dấu.</a:t>
            </a:r>
            <a:endParaRPr lang="en-US" sz="1350" dirty="0">
              <a:latin typeface="Times New Roman" panose="02020603050405020304" pitchFamily="18" charset="0"/>
              <a:cs typeface="Times New Roman" panose="02020603050405020304" pitchFamily="18" charset="0"/>
            </a:endParaRPr>
          </a:p>
        </p:txBody>
      </p:sp>
      <p:sp>
        <p:nvSpPr>
          <p:cNvPr id="17" name="Shape 15"/>
          <p:cNvSpPr/>
          <p:nvPr/>
        </p:nvSpPr>
        <p:spPr>
          <a:xfrm>
            <a:off x="7403783" y="4369594"/>
            <a:ext cx="6606064" cy="2077641"/>
          </a:xfrm>
          <a:prstGeom prst="roundRect">
            <a:avLst>
              <a:gd name="adj" fmla="val 3584"/>
            </a:avLst>
          </a:prstGeom>
          <a:solidFill>
            <a:srgbClr val="090E3F"/>
          </a:solidFill>
          <a:ln w="22860">
            <a:solidFill>
              <a:srgbClr val="414677"/>
            </a:solidFill>
            <a:prstDash val="solid"/>
          </a:ln>
        </p:spPr>
      </p:sp>
      <p:sp>
        <p:nvSpPr>
          <p:cNvPr id="18" name="Shape 16"/>
          <p:cNvSpPr/>
          <p:nvPr/>
        </p:nvSpPr>
        <p:spPr>
          <a:xfrm>
            <a:off x="7426642" y="4392454"/>
            <a:ext cx="6560344" cy="177284"/>
          </a:xfrm>
          <a:prstGeom prst="roundRect">
            <a:avLst>
              <a:gd name="adj" fmla="val 26532"/>
            </a:avLst>
          </a:prstGeom>
          <a:solidFill>
            <a:srgbClr val="282D5E"/>
          </a:solidFill>
          <a:ln/>
        </p:spPr>
      </p:sp>
      <p:sp>
        <p:nvSpPr>
          <p:cNvPr id="19" name="Text 17"/>
          <p:cNvSpPr/>
          <p:nvPr/>
        </p:nvSpPr>
        <p:spPr>
          <a:xfrm>
            <a:off x="7603927" y="4747022"/>
            <a:ext cx="2216348" cy="277058"/>
          </a:xfrm>
          <a:prstGeom prst="rect">
            <a:avLst/>
          </a:prstGeom>
          <a:noFill/>
          <a:ln/>
        </p:spPr>
        <p:txBody>
          <a:bodyPr wrap="none" lIns="0" tIns="0" rIns="0" bIns="0" rtlCol="0" anchor="t"/>
          <a:lstStyle/>
          <a:p>
            <a:pPr marL="0" indent="0" algn="l">
              <a:lnSpc>
                <a:spcPts val="2150"/>
              </a:lnSpc>
              <a:buNone/>
            </a:pPr>
            <a:r>
              <a:rPr lang="en-US" sz="17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4. Kết Hợp Tỷ Lệ</a:t>
            </a:r>
            <a:endParaRPr lang="en-US" sz="1700" dirty="0">
              <a:latin typeface="Times New Roman" panose="02020603050405020304" pitchFamily="18" charset="0"/>
              <a:cs typeface="Times New Roman" panose="02020603050405020304" pitchFamily="18" charset="0"/>
            </a:endParaRPr>
          </a:p>
        </p:txBody>
      </p:sp>
      <p:sp>
        <p:nvSpPr>
          <p:cNvPr id="20" name="Text 18"/>
          <p:cNvSpPr/>
          <p:nvPr/>
        </p:nvSpPr>
        <p:spPr>
          <a:xfrm>
            <a:off x="7603927" y="5130403"/>
            <a:ext cx="6205776" cy="850821"/>
          </a:xfrm>
          <a:prstGeom prst="rect">
            <a:avLst/>
          </a:prstGeom>
          <a:noFill/>
          <a:ln/>
        </p:spPr>
        <p:txBody>
          <a:bodyPr wrap="square" lIns="0" tIns="0" rIns="0" bIns="0" rtlCol="0" anchor="t"/>
          <a:lstStyle/>
          <a:p>
            <a:pPr marL="0" indent="0" algn="l">
              <a:lnSpc>
                <a:spcPts val="2200"/>
              </a:lnSpc>
              <a:buNone/>
            </a:pP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Tính năng cuối cùng </a:t>
            </a: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Survival_Rate</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là trung bình của </a:t>
            </a: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Family_Survival_Rate</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và </a:t>
            </a: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Ticket_Survival_Rate</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(cùng với cờ </a:t>
            </a: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Survival_Rate_NA</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tương ứng).</a:t>
            </a:r>
            <a:endParaRPr lang="en-US" sz="1350" dirty="0">
              <a:latin typeface="Times New Roman" panose="02020603050405020304" pitchFamily="18" charset="0"/>
              <a:cs typeface="Times New Roman" panose="02020603050405020304" pitchFamily="18" charset="0"/>
            </a:endParaRPr>
          </a:p>
        </p:txBody>
      </p:sp>
      <p:sp>
        <p:nvSpPr>
          <p:cNvPr id="21" name="Text 19"/>
          <p:cNvSpPr/>
          <p:nvPr/>
        </p:nvSpPr>
        <p:spPr>
          <a:xfrm>
            <a:off x="886420" y="6846094"/>
            <a:ext cx="13123426" cy="567214"/>
          </a:xfrm>
          <a:prstGeom prst="rect">
            <a:avLst/>
          </a:prstGeom>
          <a:noFill/>
          <a:ln/>
        </p:spPr>
        <p:txBody>
          <a:bodyPr wrap="square" lIns="0" tIns="0" rIns="0" bIns="0" rtlCol="0" anchor="t"/>
          <a:lstStyle/>
          <a:p>
            <a:pPr marL="0" indent="0" algn="l">
              <a:lnSpc>
                <a:spcPts val="2200"/>
              </a:lnSpc>
              <a:buNone/>
            </a:pP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Tính năng </a:t>
            </a: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Survival_Rate</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là một tính năng dự đoán mạnh mẽ vì nó tổng hợp thông tin về khả năng sống sót của nhóm xã hội mà hành khách đó thuộc về, vượt qua giới hạn của tính năng </a:t>
            </a: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Family_Size</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đơn thuần.</a:t>
            </a:r>
            <a:endParaRPr lang="en-US" sz="1350" dirty="0">
              <a:latin typeface="Times New Roman" panose="02020603050405020304" pitchFamily="18" charset="0"/>
              <a:cs typeface="Times New Roman" panose="02020603050405020304" pitchFamily="18" charset="0"/>
            </a:endParaRPr>
          </a:p>
        </p:txBody>
      </p:sp>
      <p:sp>
        <p:nvSpPr>
          <p:cNvPr id="22" name="Shape 20"/>
          <p:cNvSpPr/>
          <p:nvPr/>
        </p:nvSpPr>
        <p:spPr>
          <a:xfrm>
            <a:off x="620554" y="6646664"/>
            <a:ext cx="22860" cy="966073"/>
          </a:xfrm>
          <a:prstGeom prst="rect">
            <a:avLst/>
          </a:prstGeom>
          <a:solidFill>
            <a:srgbClr val="EEAEF6"/>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83419"/>
            <a:ext cx="6871216" cy="566976"/>
          </a:xfrm>
          <a:prstGeom prst="rect">
            <a:avLst/>
          </a:prstGeom>
          <a:noFill/>
          <a:ln/>
        </p:spPr>
        <p:txBody>
          <a:bodyPr wrap="none" lIns="0" tIns="0" rIns="0" bIns="0" rtlCol="0" anchor="t"/>
          <a:lstStyle/>
          <a:p>
            <a:pPr marL="0" indent="0" algn="l">
              <a:lnSpc>
                <a:spcPts val="4450"/>
              </a:lnSpc>
              <a:buNone/>
            </a:pPr>
            <a:r>
              <a:rPr lang="en-US" sz="35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TIỀN XỬ LÝ DỮ LIỆU CUỐI CÙNG</a:t>
            </a:r>
            <a:endParaRPr lang="en-US" sz="3550" dirty="0">
              <a:latin typeface="Times New Roman" panose="02020603050405020304" pitchFamily="18" charset="0"/>
              <a:cs typeface="Times New Roman" panose="02020603050405020304" pitchFamily="18" charset="0"/>
            </a:endParaRPr>
          </a:p>
        </p:txBody>
      </p:sp>
      <p:sp>
        <p:nvSpPr>
          <p:cNvPr id="3" name="Text 1"/>
          <p:cNvSpPr/>
          <p:nvPr/>
        </p:nvSpPr>
        <p:spPr>
          <a:xfrm>
            <a:off x="793790" y="1704023"/>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(Chuẩn bị dữ liệu trước khi huấn luyện mô hình)</a:t>
            </a:r>
            <a:endParaRPr lang="en-US" sz="1750" dirty="0">
              <a:latin typeface="Times New Roman" panose="02020603050405020304" pitchFamily="18" charset="0"/>
              <a:cs typeface="Times New Roman" panose="02020603050405020304" pitchFamily="18" charset="0"/>
            </a:endParaRPr>
          </a:p>
        </p:txBody>
      </p:sp>
      <p:sp>
        <p:nvSpPr>
          <p:cNvPr id="4" name="Text 2"/>
          <p:cNvSpPr/>
          <p:nvPr/>
        </p:nvSpPr>
        <p:spPr>
          <a:xfrm>
            <a:off x="793790" y="2322076"/>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Để đảm bảo mô hình học máy hoạt động hiệu quả, dữ liệu được xử lý theo các bước sau:</a:t>
            </a:r>
            <a:endParaRPr lang="en-US" sz="1750" dirty="0">
              <a:latin typeface="Times New Roman" panose="02020603050405020304" pitchFamily="18" charset="0"/>
              <a:cs typeface="Times New Roman" panose="02020603050405020304" pitchFamily="18" charset="0"/>
            </a:endParaRPr>
          </a:p>
        </p:txBody>
      </p:sp>
      <p:pic>
        <p:nvPicPr>
          <p:cNvPr id="5" name="Image 0" descr="preencoded.png"/>
          <p:cNvPicPr>
            <a:picLocks noChangeAspect="1"/>
          </p:cNvPicPr>
          <p:nvPr/>
        </p:nvPicPr>
        <p:blipFill>
          <a:blip r:embed="rId3"/>
          <a:stretch>
            <a:fillRect/>
          </a:stretch>
        </p:blipFill>
        <p:spPr>
          <a:xfrm>
            <a:off x="2778562" y="2940129"/>
            <a:ext cx="226814" cy="283488"/>
          </a:xfrm>
          <a:prstGeom prst="rect">
            <a:avLst/>
          </a:prstGeom>
        </p:spPr>
      </p:pic>
      <p:sp>
        <p:nvSpPr>
          <p:cNvPr id="6" name="Shape 3"/>
          <p:cNvSpPr/>
          <p:nvPr/>
        </p:nvSpPr>
        <p:spPr>
          <a:xfrm>
            <a:off x="793790" y="3295174"/>
            <a:ext cx="4196358" cy="30480"/>
          </a:xfrm>
          <a:prstGeom prst="rect">
            <a:avLst/>
          </a:prstGeom>
          <a:solidFill>
            <a:srgbClr val="EEAEF6"/>
          </a:solidFill>
          <a:ln/>
        </p:spPr>
      </p:sp>
      <p:sp>
        <p:nvSpPr>
          <p:cNvPr id="7" name="Text 4"/>
          <p:cNvSpPr/>
          <p:nvPr/>
        </p:nvSpPr>
        <p:spPr>
          <a:xfrm>
            <a:off x="793790" y="3469481"/>
            <a:ext cx="4196358" cy="708660"/>
          </a:xfrm>
          <a:prstGeom prst="rect">
            <a:avLst/>
          </a:prstGeom>
          <a:noFill/>
          <a:ln/>
        </p:spPr>
        <p:txBody>
          <a:bodyPr wrap="square" lIns="0" tIns="0" rIns="0" bIns="0" rtlCol="0" anchor="t"/>
          <a:lstStyle/>
          <a:p>
            <a:pPr marL="0" indent="0" algn="l">
              <a:lnSpc>
                <a:spcPts val="2750"/>
              </a:lnSpc>
              <a:buNone/>
            </a:pPr>
            <a:r>
              <a:rPr lang="en-US" sz="22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Mã hóa các đặc trưng phân loại</a:t>
            </a:r>
            <a:endParaRPr lang="en-US" sz="2200" dirty="0">
              <a:latin typeface="Times New Roman" panose="02020603050405020304" pitchFamily="18" charset="0"/>
              <a:cs typeface="Times New Roman" panose="02020603050405020304" pitchFamily="18" charset="0"/>
            </a:endParaRPr>
          </a:p>
        </p:txBody>
      </p:sp>
      <p:sp>
        <p:nvSpPr>
          <p:cNvPr id="8" name="Text 5"/>
          <p:cNvSpPr/>
          <p:nvPr/>
        </p:nvSpPr>
        <p:spPr>
          <a:xfrm>
            <a:off x="793790" y="4314230"/>
            <a:ext cx="4196358"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Các biến không phải số: Embarked, Sex, Deck, Title, Family_Size_Grouped</a:t>
            </a:r>
            <a:endParaRPr lang="en-US" sz="1750" dirty="0">
              <a:latin typeface="Times New Roman" panose="02020603050405020304" pitchFamily="18" charset="0"/>
              <a:cs typeface="Times New Roman" panose="02020603050405020304" pitchFamily="18" charset="0"/>
            </a:endParaRPr>
          </a:p>
        </p:txBody>
      </p:sp>
      <p:sp>
        <p:nvSpPr>
          <p:cNvPr id="9" name="Text 6"/>
          <p:cNvSpPr/>
          <p:nvPr/>
        </p:nvSpPr>
        <p:spPr>
          <a:xfrm>
            <a:off x="793790" y="5482233"/>
            <a:ext cx="4196358"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Áp dụng Label Encoding để chuyển sang dạng số</a:t>
            </a:r>
            <a:endParaRPr lang="en-US" sz="1750" dirty="0">
              <a:latin typeface="Times New Roman" panose="02020603050405020304" pitchFamily="18" charset="0"/>
              <a:cs typeface="Times New Roman" panose="02020603050405020304" pitchFamily="18" charset="0"/>
            </a:endParaRPr>
          </a:p>
        </p:txBody>
      </p:sp>
      <p:sp>
        <p:nvSpPr>
          <p:cNvPr id="10" name="Text 7"/>
          <p:cNvSpPr/>
          <p:nvPr/>
        </p:nvSpPr>
        <p:spPr>
          <a:xfrm>
            <a:off x="793790" y="6287333"/>
            <a:ext cx="4196358"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Sau đó One-Hot Encoding để tránh tạo thứ bậc giả và giúp mô hình học tốt hơn</a:t>
            </a:r>
            <a:endParaRPr lang="en-US" sz="1750" dirty="0">
              <a:latin typeface="Times New Roman" panose="02020603050405020304" pitchFamily="18" charset="0"/>
              <a:cs typeface="Times New Roman" panose="02020603050405020304" pitchFamily="18" charset="0"/>
            </a:endParaRPr>
          </a:p>
        </p:txBody>
      </p:sp>
      <p:pic>
        <p:nvPicPr>
          <p:cNvPr id="11" name="Image 1" descr="preencoded.png"/>
          <p:cNvPicPr>
            <a:picLocks noChangeAspect="1"/>
          </p:cNvPicPr>
          <p:nvPr/>
        </p:nvPicPr>
        <p:blipFill>
          <a:blip r:embed="rId4"/>
          <a:stretch>
            <a:fillRect/>
          </a:stretch>
        </p:blipFill>
        <p:spPr>
          <a:xfrm>
            <a:off x="7201733" y="2940129"/>
            <a:ext cx="226814" cy="283488"/>
          </a:xfrm>
          <a:prstGeom prst="rect">
            <a:avLst/>
          </a:prstGeom>
        </p:spPr>
      </p:pic>
      <p:sp>
        <p:nvSpPr>
          <p:cNvPr id="12" name="Shape 8"/>
          <p:cNvSpPr/>
          <p:nvPr/>
        </p:nvSpPr>
        <p:spPr>
          <a:xfrm>
            <a:off x="5216962" y="3295174"/>
            <a:ext cx="4196358" cy="30480"/>
          </a:xfrm>
          <a:prstGeom prst="rect">
            <a:avLst/>
          </a:prstGeom>
          <a:solidFill>
            <a:srgbClr val="EEAEF6"/>
          </a:solidFill>
          <a:ln/>
        </p:spPr>
      </p:sp>
      <p:sp>
        <p:nvSpPr>
          <p:cNvPr id="13" name="Text 9"/>
          <p:cNvSpPr/>
          <p:nvPr/>
        </p:nvSpPr>
        <p:spPr>
          <a:xfrm>
            <a:off x="5216962" y="3469481"/>
            <a:ext cx="4196358" cy="708660"/>
          </a:xfrm>
          <a:prstGeom prst="rect">
            <a:avLst/>
          </a:prstGeom>
          <a:noFill/>
          <a:ln/>
        </p:spPr>
        <p:txBody>
          <a:bodyPr wrap="square" lIns="0" tIns="0" rIns="0" bIns="0" rtlCol="0" anchor="t"/>
          <a:lstStyle/>
          <a:p>
            <a:pPr marL="0" indent="0" algn="l">
              <a:lnSpc>
                <a:spcPts val="2750"/>
              </a:lnSpc>
              <a:buNone/>
            </a:pPr>
            <a:r>
              <a:rPr lang="en-US" sz="22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Xử lý và chuẩn hóa đặc trưng số</a:t>
            </a:r>
            <a:endParaRPr lang="en-US" sz="2200" dirty="0">
              <a:latin typeface="Times New Roman" panose="02020603050405020304" pitchFamily="18" charset="0"/>
              <a:cs typeface="Times New Roman" panose="02020603050405020304" pitchFamily="18" charset="0"/>
            </a:endParaRPr>
          </a:p>
        </p:txBody>
      </p:sp>
      <p:sp>
        <p:nvSpPr>
          <p:cNvPr id="14" name="Text 10"/>
          <p:cNvSpPr/>
          <p:nvPr/>
        </p:nvSpPr>
        <p:spPr>
          <a:xfrm>
            <a:off x="5216962" y="4314230"/>
            <a:ext cx="4196358"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Các biến số: Age, Fare (sau khi binning) và các đặc trưng mới</a:t>
            </a:r>
            <a:endParaRPr lang="en-US" sz="1750" dirty="0">
              <a:latin typeface="Times New Roman" panose="02020603050405020304" pitchFamily="18" charset="0"/>
              <a:cs typeface="Times New Roman" panose="02020603050405020304" pitchFamily="18" charset="0"/>
            </a:endParaRPr>
          </a:p>
        </p:txBody>
      </p:sp>
      <p:sp>
        <p:nvSpPr>
          <p:cNvPr id="15" name="Text 11"/>
          <p:cNvSpPr/>
          <p:nvPr/>
        </p:nvSpPr>
        <p:spPr>
          <a:xfrm>
            <a:off x="5216962" y="5119330"/>
            <a:ext cx="4196358" cy="1451610"/>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Giữ nguyên giá trị nhưng chuẩn hóa bằng StandardScaler để các mô hình nhạy với scale (SVM, KNN, LR) đạt hiệu suất cao</a:t>
            </a:r>
            <a:endParaRPr lang="en-US" sz="1750" dirty="0">
              <a:latin typeface="Times New Roman" panose="02020603050405020304" pitchFamily="18" charset="0"/>
              <a:cs typeface="Times New Roman" panose="02020603050405020304" pitchFamily="18" charset="0"/>
            </a:endParaRPr>
          </a:p>
        </p:txBody>
      </p:sp>
      <p:pic>
        <p:nvPicPr>
          <p:cNvPr id="16" name="Image 2" descr="preencoded.png"/>
          <p:cNvPicPr>
            <a:picLocks noChangeAspect="1"/>
          </p:cNvPicPr>
          <p:nvPr/>
        </p:nvPicPr>
        <p:blipFill>
          <a:blip r:embed="rId5"/>
          <a:stretch>
            <a:fillRect/>
          </a:stretch>
        </p:blipFill>
        <p:spPr>
          <a:xfrm>
            <a:off x="11624905" y="2940129"/>
            <a:ext cx="226814" cy="283488"/>
          </a:xfrm>
          <a:prstGeom prst="rect">
            <a:avLst/>
          </a:prstGeom>
        </p:spPr>
      </p:pic>
      <p:sp>
        <p:nvSpPr>
          <p:cNvPr id="17" name="Shape 12"/>
          <p:cNvSpPr/>
          <p:nvPr/>
        </p:nvSpPr>
        <p:spPr>
          <a:xfrm>
            <a:off x="9640133" y="3295174"/>
            <a:ext cx="4196358" cy="30480"/>
          </a:xfrm>
          <a:prstGeom prst="rect">
            <a:avLst/>
          </a:prstGeom>
          <a:solidFill>
            <a:srgbClr val="EEAEF6"/>
          </a:solidFill>
          <a:ln/>
        </p:spPr>
      </p:sp>
      <p:sp>
        <p:nvSpPr>
          <p:cNvPr id="18" name="Text 13"/>
          <p:cNvSpPr/>
          <p:nvPr/>
        </p:nvSpPr>
        <p:spPr>
          <a:xfrm>
            <a:off x="9640133" y="3469481"/>
            <a:ext cx="4196358" cy="708660"/>
          </a:xfrm>
          <a:prstGeom prst="rect">
            <a:avLst/>
          </a:prstGeom>
          <a:noFill/>
          <a:ln/>
        </p:spPr>
        <p:txBody>
          <a:bodyPr wrap="square" lIns="0" tIns="0" rIns="0" bIns="0" rtlCol="0" anchor="t"/>
          <a:lstStyle/>
          <a:p>
            <a:pPr marL="0" indent="0" algn="l">
              <a:lnSpc>
                <a:spcPts val="2750"/>
              </a:lnSpc>
              <a:buNone/>
            </a:pPr>
            <a:r>
              <a:rPr lang="en-US" sz="22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Loại bỏ các cột không cần thiết</a:t>
            </a:r>
            <a:endParaRPr lang="en-US" sz="2200" dirty="0">
              <a:latin typeface="Times New Roman" panose="02020603050405020304" pitchFamily="18" charset="0"/>
              <a:cs typeface="Times New Roman" panose="02020603050405020304" pitchFamily="18" charset="0"/>
            </a:endParaRPr>
          </a:p>
        </p:txBody>
      </p:sp>
      <p:sp>
        <p:nvSpPr>
          <p:cNvPr id="19" name="Text 14"/>
          <p:cNvSpPr/>
          <p:nvPr/>
        </p:nvSpPr>
        <p:spPr>
          <a:xfrm>
            <a:off x="9640133" y="4314230"/>
            <a:ext cx="4196358"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Loại bỏ: Name, Ticket, PassengerId gốc, ...</a:t>
            </a:r>
            <a:endParaRPr lang="en-US" sz="1750" dirty="0">
              <a:latin typeface="Times New Roman" panose="02020603050405020304" pitchFamily="18" charset="0"/>
              <a:cs typeface="Times New Roman" panose="02020603050405020304" pitchFamily="18" charset="0"/>
            </a:endParaRPr>
          </a:p>
        </p:txBody>
      </p:sp>
      <p:sp>
        <p:nvSpPr>
          <p:cNvPr id="20" name="Text 15"/>
          <p:cNvSpPr/>
          <p:nvPr/>
        </p:nvSpPr>
        <p:spPr>
          <a:xfrm>
            <a:off x="9640133" y="5119330"/>
            <a:ext cx="4196358"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E5DCE6"/>
                </a:solidFill>
                <a:latin typeface="Times New Roman" panose="02020603050405020304" pitchFamily="18" charset="0"/>
                <a:ea typeface="Montserrat" pitchFamily="34" charset="-122"/>
                <a:cs typeface="Times New Roman" panose="02020603050405020304" pitchFamily="18" charset="0"/>
              </a:rPr>
              <a:t>Các cột này không mang thông tin hữu ích hoặc gây nhiễu cho mô hình</a:t>
            </a:r>
            <a:endParaRPr lang="en-US" sz="17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50094" y="632103"/>
            <a:ext cx="10504408" cy="535781"/>
          </a:xfrm>
          <a:prstGeom prst="rect">
            <a:avLst/>
          </a:prstGeom>
          <a:noFill/>
          <a:ln/>
        </p:spPr>
        <p:txBody>
          <a:bodyPr wrap="none" lIns="0" tIns="0" rIns="0" bIns="0" rtlCol="0" anchor="t"/>
          <a:lstStyle/>
          <a:p>
            <a:pPr marL="0" indent="0" algn="l">
              <a:lnSpc>
                <a:spcPts val="4200"/>
              </a:lnSpc>
              <a:buNone/>
            </a:pPr>
            <a:r>
              <a:rPr lang="en-US" sz="33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THIẾT KẾ THÍ NGHIỆM (Overall Experiment Design)</a:t>
            </a:r>
            <a:endParaRPr lang="en-US" sz="3350" dirty="0">
              <a:latin typeface="Times New Roman" panose="02020603050405020304" pitchFamily="18" charset="0"/>
              <a:cs typeface="Times New Roman" panose="02020603050405020304" pitchFamily="18" charset="0"/>
            </a:endParaRPr>
          </a:p>
        </p:txBody>
      </p:sp>
      <p:sp>
        <p:nvSpPr>
          <p:cNvPr id="3" name="Text 1"/>
          <p:cNvSpPr/>
          <p:nvPr/>
        </p:nvSpPr>
        <p:spPr>
          <a:xfrm>
            <a:off x="750094" y="1596509"/>
            <a:ext cx="13130213" cy="685800"/>
          </a:xfrm>
          <a:prstGeom prst="rect">
            <a:avLst/>
          </a:prstGeom>
          <a:noFill/>
          <a:ln/>
        </p:spPr>
        <p:txBody>
          <a:bodyPr wrap="square" lIns="0" tIns="0" rIns="0" bIns="0" rtlCol="0" anchor="t"/>
          <a:lstStyle/>
          <a:p>
            <a:pPr marL="0" indent="0" algn="l">
              <a:lnSpc>
                <a:spcPts val="2700"/>
              </a:lnSpc>
              <a:buNone/>
            </a:pP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Để đánh giá tác động của đặc trưng và mô hình, chúng tôi xây dựng 3 kịch bản thí nghiệm (Exp1 – Exp2 – Exp3). Trong mỗi thí nghiệm, chúng tôi huấn luyện 5 mô hình học máy khác nhau và đánh giá bằng 5-Fold Stratified Cross Validation.</a:t>
            </a:r>
            <a:endParaRPr lang="en-US" sz="165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750094" y="2764512"/>
            <a:ext cx="6303645" cy="4007882"/>
          </a:xfrm>
          <a:prstGeom prst="rect">
            <a:avLst/>
          </a:prstGeom>
        </p:spPr>
      </p:pic>
      <p:sp>
        <p:nvSpPr>
          <p:cNvPr id="5" name="Text 2"/>
          <p:cNvSpPr/>
          <p:nvPr/>
        </p:nvSpPr>
        <p:spPr>
          <a:xfrm>
            <a:off x="7584281" y="3225403"/>
            <a:ext cx="6303645" cy="803672"/>
          </a:xfrm>
          <a:prstGeom prst="rect">
            <a:avLst/>
          </a:prstGeom>
          <a:noFill/>
          <a:ln/>
        </p:spPr>
        <p:txBody>
          <a:bodyPr wrap="square" lIns="0" tIns="0" rIns="0" bIns="0" rtlCol="0" anchor="t"/>
          <a:lstStyle/>
          <a:p>
            <a:pPr marL="0" indent="0" algn="l">
              <a:lnSpc>
                <a:spcPts val="3150"/>
              </a:lnSpc>
              <a:buNone/>
            </a:pPr>
            <a:r>
              <a:rPr lang="en-US" sz="25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Phần 1: Phương pháp đánh giá (áp dụng cho mọi thí nghiệm)</a:t>
            </a:r>
            <a:endParaRPr lang="en-US" sz="2500" dirty="0">
              <a:latin typeface="Times New Roman" panose="02020603050405020304" pitchFamily="18" charset="0"/>
              <a:cs typeface="Times New Roman" panose="02020603050405020304" pitchFamily="18" charset="0"/>
            </a:endParaRPr>
          </a:p>
        </p:txBody>
      </p:sp>
      <p:sp>
        <p:nvSpPr>
          <p:cNvPr id="6" name="Text 3"/>
          <p:cNvSpPr/>
          <p:nvPr/>
        </p:nvSpPr>
        <p:spPr>
          <a:xfrm>
            <a:off x="7584281" y="4243388"/>
            <a:ext cx="6303645" cy="685800"/>
          </a:xfrm>
          <a:prstGeom prst="rect">
            <a:avLst/>
          </a:prstGeom>
          <a:noFill/>
          <a:ln/>
        </p:spPr>
        <p:txBody>
          <a:bodyPr wrap="square" lIns="0" tIns="0" rIns="0" bIns="0" rtlCol="0" anchor="t"/>
          <a:lstStyle/>
          <a:p>
            <a:pPr marL="342900" indent="-342900" algn="l">
              <a:lnSpc>
                <a:spcPts val="2700"/>
              </a:lnSpc>
              <a:buSzPct val="100000"/>
              <a:buChar char="•"/>
            </a:pP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Mỗi mô hình được huấn luyện 5 lần: 1 fold làm test, 4 fold làm train</a:t>
            </a:r>
            <a:endParaRPr lang="en-US" sz="1650" dirty="0">
              <a:latin typeface="Times New Roman" panose="02020603050405020304" pitchFamily="18" charset="0"/>
              <a:cs typeface="Times New Roman" panose="02020603050405020304" pitchFamily="18" charset="0"/>
            </a:endParaRPr>
          </a:p>
        </p:txBody>
      </p:sp>
      <p:sp>
        <p:nvSpPr>
          <p:cNvPr id="7" name="Text 4"/>
          <p:cNvSpPr/>
          <p:nvPr/>
        </p:nvSpPr>
        <p:spPr>
          <a:xfrm>
            <a:off x="7584281" y="5004197"/>
            <a:ext cx="6303645" cy="685800"/>
          </a:xfrm>
          <a:prstGeom prst="rect">
            <a:avLst/>
          </a:prstGeom>
          <a:noFill/>
          <a:ln/>
        </p:spPr>
        <p:txBody>
          <a:bodyPr wrap="square" lIns="0" tIns="0" rIns="0" bIns="0" rtlCol="0" anchor="t"/>
          <a:lstStyle/>
          <a:p>
            <a:pPr marL="342900" indent="-342900" algn="l">
              <a:lnSpc>
                <a:spcPts val="2700"/>
              </a:lnSpc>
              <a:buSzPct val="100000"/>
              <a:buChar char="•"/>
            </a:pP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Lặp lại 5 lần để đảm bảo công bằng và cân bằng tỷ lệ sống/chết (Stratified)</a:t>
            </a:r>
            <a:endParaRPr lang="en-US" sz="1650" dirty="0">
              <a:latin typeface="Times New Roman" panose="02020603050405020304" pitchFamily="18" charset="0"/>
              <a:cs typeface="Times New Roman" panose="02020603050405020304" pitchFamily="18" charset="0"/>
            </a:endParaRPr>
          </a:p>
        </p:txBody>
      </p:sp>
      <p:sp>
        <p:nvSpPr>
          <p:cNvPr id="8" name="Text 5"/>
          <p:cNvSpPr/>
          <p:nvPr/>
        </p:nvSpPr>
        <p:spPr>
          <a:xfrm>
            <a:off x="7584281" y="5765006"/>
            <a:ext cx="6303645" cy="685800"/>
          </a:xfrm>
          <a:prstGeom prst="rect">
            <a:avLst/>
          </a:prstGeom>
          <a:noFill/>
          <a:ln/>
        </p:spPr>
        <p:txBody>
          <a:bodyPr wrap="square" lIns="0" tIns="0" rIns="0" bIns="0" rtlCol="0" anchor="t"/>
          <a:lstStyle/>
          <a:p>
            <a:pPr marL="342900" indent="-342900" algn="l">
              <a:lnSpc>
                <a:spcPts val="2700"/>
              </a:lnSpc>
              <a:buSzPct val="100000"/>
              <a:buChar char="•"/>
            </a:pP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Hiệu suất cuối cùng = trung bình của 5 lần → Accuracy / F1-score / ROC AUC</a:t>
            </a:r>
            <a:endParaRPr lang="en-US" sz="1650" dirty="0">
              <a:latin typeface="Times New Roman" panose="02020603050405020304" pitchFamily="18" charset="0"/>
              <a:cs typeface="Times New Roman" panose="02020603050405020304" pitchFamily="18" charset="0"/>
            </a:endParaRPr>
          </a:p>
        </p:txBody>
      </p:sp>
      <p:sp>
        <p:nvSpPr>
          <p:cNvPr id="9" name="Text 6"/>
          <p:cNvSpPr/>
          <p:nvPr/>
        </p:nvSpPr>
        <p:spPr>
          <a:xfrm>
            <a:off x="750094" y="7254597"/>
            <a:ext cx="13130213" cy="342900"/>
          </a:xfrm>
          <a:prstGeom prst="rect">
            <a:avLst/>
          </a:prstGeom>
          <a:noFill/>
          <a:ln/>
        </p:spPr>
        <p:txBody>
          <a:bodyPr wrap="none" lIns="0" tIns="0" rIns="0" bIns="0" rtlCol="0" anchor="t"/>
          <a:lstStyle/>
          <a:p>
            <a:pPr marL="0" indent="0" algn="l">
              <a:lnSpc>
                <a:spcPts val="2700"/>
              </a:lnSpc>
              <a:buNone/>
            </a:pPr>
            <a:r>
              <a:rPr lang="en-US" sz="1650" dirty="0">
                <a:solidFill>
                  <a:srgbClr val="E5DCE6"/>
                </a:solidFill>
                <a:latin typeface="Times New Roman" panose="02020603050405020304" pitchFamily="18" charset="0"/>
                <a:ea typeface="Montserrat" pitchFamily="34" charset="-122"/>
                <a:cs typeface="Times New Roman" panose="02020603050405020304" pitchFamily="18" charset="0"/>
              </a:rPr>
              <a:t>Điều này giúp: Giảm overfitting, đánh giá ổn định và khách quan hơn.</a:t>
            </a:r>
            <a:endParaRPr lang="en-US" sz="16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05445" y="555308"/>
            <a:ext cx="4031456" cy="503873"/>
          </a:xfrm>
          <a:prstGeom prst="rect">
            <a:avLst/>
          </a:prstGeom>
          <a:noFill/>
          <a:ln/>
        </p:spPr>
        <p:txBody>
          <a:bodyPr wrap="none" lIns="0" tIns="0" rIns="0" bIns="0" rtlCol="0" anchor="t"/>
          <a:lstStyle/>
          <a:p>
            <a:pPr marL="0" indent="0" algn="l">
              <a:lnSpc>
                <a:spcPts val="3950"/>
              </a:lnSpc>
              <a:buNone/>
            </a:pPr>
            <a:r>
              <a:rPr lang="en-US" sz="31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MÔ HÌNH SỬ DỤNG</a:t>
            </a:r>
            <a:endParaRPr lang="en-US" sz="3150" dirty="0">
              <a:latin typeface="Times New Roman" panose="02020603050405020304" pitchFamily="18" charset="0"/>
              <a:cs typeface="Times New Roman" panose="02020603050405020304" pitchFamily="18" charset="0"/>
            </a:endParaRPr>
          </a:p>
        </p:txBody>
      </p:sp>
      <p:sp>
        <p:nvSpPr>
          <p:cNvPr id="3" name="Shape 1"/>
          <p:cNvSpPr/>
          <p:nvPr/>
        </p:nvSpPr>
        <p:spPr>
          <a:xfrm>
            <a:off x="705445" y="1462326"/>
            <a:ext cx="13219509" cy="3491389"/>
          </a:xfrm>
          <a:prstGeom prst="roundRect">
            <a:avLst>
              <a:gd name="adj" fmla="val 2425"/>
            </a:avLst>
          </a:prstGeom>
          <a:noFill/>
          <a:ln w="7620">
            <a:solidFill>
              <a:srgbClr val="FFFFFF">
                <a:alpha val="24000"/>
              </a:srgbClr>
            </a:solidFill>
            <a:prstDash val="solid"/>
          </a:ln>
        </p:spPr>
      </p:sp>
      <p:sp>
        <p:nvSpPr>
          <p:cNvPr id="4" name="Shape 2"/>
          <p:cNvSpPr/>
          <p:nvPr/>
        </p:nvSpPr>
        <p:spPr>
          <a:xfrm>
            <a:off x="713065" y="1469946"/>
            <a:ext cx="13204269" cy="579358"/>
          </a:xfrm>
          <a:prstGeom prst="rect">
            <a:avLst/>
          </a:prstGeom>
          <a:solidFill>
            <a:srgbClr val="FFFFFF">
              <a:alpha val="4000"/>
            </a:srgbClr>
          </a:solidFill>
          <a:ln/>
        </p:spPr>
      </p:sp>
      <p:sp>
        <p:nvSpPr>
          <p:cNvPr id="5" name="Text 3"/>
          <p:cNvSpPr/>
          <p:nvPr/>
        </p:nvSpPr>
        <p:spPr>
          <a:xfrm>
            <a:off x="914638" y="1598414"/>
            <a:ext cx="6195179" cy="322421"/>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Mô hình</a:t>
            </a:r>
            <a:endParaRPr lang="en-US" sz="1550" dirty="0">
              <a:latin typeface="Times New Roman" panose="02020603050405020304" pitchFamily="18" charset="0"/>
              <a:cs typeface="Times New Roman" panose="02020603050405020304" pitchFamily="18" charset="0"/>
            </a:endParaRPr>
          </a:p>
        </p:txBody>
      </p:sp>
      <p:sp>
        <p:nvSpPr>
          <p:cNvPr id="6" name="Text 4"/>
          <p:cNvSpPr/>
          <p:nvPr/>
        </p:nvSpPr>
        <p:spPr>
          <a:xfrm>
            <a:off x="7520583" y="1598414"/>
            <a:ext cx="6195179" cy="322421"/>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Mô tả</a:t>
            </a:r>
            <a:endParaRPr lang="en-US" sz="1550" dirty="0">
              <a:latin typeface="Times New Roman" panose="02020603050405020304" pitchFamily="18" charset="0"/>
              <a:cs typeface="Times New Roman" panose="02020603050405020304" pitchFamily="18" charset="0"/>
            </a:endParaRPr>
          </a:p>
        </p:txBody>
      </p:sp>
      <p:sp>
        <p:nvSpPr>
          <p:cNvPr id="7" name="Shape 5"/>
          <p:cNvSpPr/>
          <p:nvPr/>
        </p:nvSpPr>
        <p:spPr>
          <a:xfrm>
            <a:off x="713065" y="2049304"/>
            <a:ext cx="13204269" cy="579358"/>
          </a:xfrm>
          <a:prstGeom prst="rect">
            <a:avLst/>
          </a:prstGeom>
          <a:solidFill>
            <a:srgbClr val="000000">
              <a:alpha val="4000"/>
            </a:srgbClr>
          </a:solidFill>
          <a:ln/>
        </p:spPr>
      </p:sp>
      <p:sp>
        <p:nvSpPr>
          <p:cNvPr id="8" name="Text 6"/>
          <p:cNvSpPr/>
          <p:nvPr/>
        </p:nvSpPr>
        <p:spPr>
          <a:xfrm>
            <a:off x="914638" y="2177772"/>
            <a:ext cx="6195179" cy="322421"/>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Logistic Regression</a:t>
            </a:r>
            <a:endParaRPr lang="en-US" sz="1550" dirty="0">
              <a:latin typeface="Times New Roman" panose="02020603050405020304" pitchFamily="18" charset="0"/>
              <a:cs typeface="Times New Roman" panose="02020603050405020304" pitchFamily="18" charset="0"/>
            </a:endParaRPr>
          </a:p>
        </p:txBody>
      </p:sp>
      <p:sp>
        <p:nvSpPr>
          <p:cNvPr id="9" name="Text 7"/>
          <p:cNvSpPr/>
          <p:nvPr/>
        </p:nvSpPr>
        <p:spPr>
          <a:xfrm>
            <a:off x="7520583" y="2177772"/>
            <a:ext cx="6195179" cy="322421"/>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Baseline tuyến tính, dễ giải thích</a:t>
            </a:r>
            <a:endParaRPr lang="en-US" sz="1550" dirty="0">
              <a:latin typeface="Times New Roman" panose="02020603050405020304" pitchFamily="18" charset="0"/>
              <a:cs typeface="Times New Roman" panose="02020603050405020304" pitchFamily="18" charset="0"/>
            </a:endParaRPr>
          </a:p>
        </p:txBody>
      </p:sp>
      <p:sp>
        <p:nvSpPr>
          <p:cNvPr id="10" name="Shape 8"/>
          <p:cNvSpPr/>
          <p:nvPr/>
        </p:nvSpPr>
        <p:spPr>
          <a:xfrm>
            <a:off x="713065" y="2628662"/>
            <a:ext cx="13204269" cy="579358"/>
          </a:xfrm>
          <a:prstGeom prst="rect">
            <a:avLst/>
          </a:prstGeom>
          <a:solidFill>
            <a:srgbClr val="FFFFFF">
              <a:alpha val="4000"/>
            </a:srgbClr>
          </a:solidFill>
          <a:ln/>
        </p:spPr>
      </p:sp>
      <p:sp>
        <p:nvSpPr>
          <p:cNvPr id="11" name="Text 9"/>
          <p:cNvSpPr/>
          <p:nvPr/>
        </p:nvSpPr>
        <p:spPr>
          <a:xfrm>
            <a:off x="914638" y="2757130"/>
            <a:ext cx="6195179" cy="322421"/>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KNN</a:t>
            </a:r>
            <a:endParaRPr lang="en-US" sz="1550" dirty="0">
              <a:latin typeface="Times New Roman" panose="02020603050405020304" pitchFamily="18" charset="0"/>
              <a:cs typeface="Times New Roman" panose="02020603050405020304" pitchFamily="18" charset="0"/>
            </a:endParaRPr>
          </a:p>
        </p:txBody>
      </p:sp>
      <p:sp>
        <p:nvSpPr>
          <p:cNvPr id="12" name="Text 10"/>
          <p:cNvSpPr/>
          <p:nvPr/>
        </p:nvSpPr>
        <p:spPr>
          <a:xfrm>
            <a:off x="7520583" y="2757130"/>
            <a:ext cx="6195179" cy="322421"/>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Instance-based, nhạy với scale</a:t>
            </a:r>
            <a:endParaRPr lang="en-US" sz="1550" dirty="0">
              <a:latin typeface="Times New Roman" panose="02020603050405020304" pitchFamily="18" charset="0"/>
              <a:cs typeface="Times New Roman" panose="02020603050405020304" pitchFamily="18" charset="0"/>
            </a:endParaRPr>
          </a:p>
        </p:txBody>
      </p:sp>
      <p:sp>
        <p:nvSpPr>
          <p:cNvPr id="13" name="Shape 11"/>
          <p:cNvSpPr/>
          <p:nvPr/>
        </p:nvSpPr>
        <p:spPr>
          <a:xfrm>
            <a:off x="713065" y="3208020"/>
            <a:ext cx="13204269" cy="579358"/>
          </a:xfrm>
          <a:prstGeom prst="rect">
            <a:avLst/>
          </a:prstGeom>
          <a:solidFill>
            <a:srgbClr val="000000">
              <a:alpha val="4000"/>
            </a:srgbClr>
          </a:solidFill>
          <a:ln/>
        </p:spPr>
      </p:sp>
      <p:sp>
        <p:nvSpPr>
          <p:cNvPr id="14" name="Text 12"/>
          <p:cNvSpPr/>
          <p:nvPr/>
        </p:nvSpPr>
        <p:spPr>
          <a:xfrm>
            <a:off x="914638" y="3336488"/>
            <a:ext cx="6195179" cy="322421"/>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SVM (RBF)</a:t>
            </a:r>
            <a:endParaRPr lang="en-US" sz="1550" dirty="0">
              <a:latin typeface="Times New Roman" panose="02020603050405020304" pitchFamily="18" charset="0"/>
              <a:cs typeface="Times New Roman" panose="02020603050405020304" pitchFamily="18" charset="0"/>
            </a:endParaRPr>
          </a:p>
        </p:txBody>
      </p:sp>
      <p:sp>
        <p:nvSpPr>
          <p:cNvPr id="15" name="Text 13"/>
          <p:cNvSpPr/>
          <p:nvPr/>
        </p:nvSpPr>
        <p:spPr>
          <a:xfrm>
            <a:off x="7520583" y="3336488"/>
            <a:ext cx="6195179" cy="322421"/>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Tối ưu margin, xử lý ranh giới phức tạp</a:t>
            </a:r>
            <a:endParaRPr lang="en-US" sz="1550" dirty="0">
              <a:latin typeface="Times New Roman" panose="02020603050405020304" pitchFamily="18" charset="0"/>
              <a:cs typeface="Times New Roman" panose="02020603050405020304" pitchFamily="18" charset="0"/>
            </a:endParaRPr>
          </a:p>
        </p:txBody>
      </p:sp>
      <p:sp>
        <p:nvSpPr>
          <p:cNvPr id="16" name="Shape 14"/>
          <p:cNvSpPr/>
          <p:nvPr/>
        </p:nvSpPr>
        <p:spPr>
          <a:xfrm>
            <a:off x="713065" y="3787378"/>
            <a:ext cx="13204269" cy="579358"/>
          </a:xfrm>
          <a:prstGeom prst="rect">
            <a:avLst/>
          </a:prstGeom>
          <a:solidFill>
            <a:srgbClr val="FFFFFF">
              <a:alpha val="4000"/>
            </a:srgbClr>
          </a:solidFill>
          <a:ln/>
        </p:spPr>
      </p:sp>
      <p:sp>
        <p:nvSpPr>
          <p:cNvPr id="17" name="Text 15"/>
          <p:cNvSpPr/>
          <p:nvPr/>
        </p:nvSpPr>
        <p:spPr>
          <a:xfrm>
            <a:off x="914638" y="3915847"/>
            <a:ext cx="6195179" cy="322421"/>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Random Forest</a:t>
            </a:r>
            <a:endParaRPr lang="en-US" sz="1550" dirty="0">
              <a:latin typeface="Times New Roman" panose="02020603050405020304" pitchFamily="18" charset="0"/>
              <a:cs typeface="Times New Roman" panose="02020603050405020304" pitchFamily="18" charset="0"/>
            </a:endParaRPr>
          </a:p>
        </p:txBody>
      </p:sp>
      <p:sp>
        <p:nvSpPr>
          <p:cNvPr id="18" name="Text 16"/>
          <p:cNvSpPr/>
          <p:nvPr/>
        </p:nvSpPr>
        <p:spPr>
          <a:xfrm>
            <a:off x="7520583" y="3915847"/>
            <a:ext cx="6195179" cy="322421"/>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Tree-based bagging, ổn định</a:t>
            </a:r>
            <a:endParaRPr lang="en-US" sz="1550" dirty="0">
              <a:latin typeface="Times New Roman" panose="02020603050405020304" pitchFamily="18" charset="0"/>
              <a:cs typeface="Times New Roman" panose="02020603050405020304" pitchFamily="18" charset="0"/>
            </a:endParaRPr>
          </a:p>
        </p:txBody>
      </p:sp>
      <p:sp>
        <p:nvSpPr>
          <p:cNvPr id="19" name="Shape 17"/>
          <p:cNvSpPr/>
          <p:nvPr/>
        </p:nvSpPr>
        <p:spPr>
          <a:xfrm>
            <a:off x="713065" y="4366736"/>
            <a:ext cx="13204269" cy="579358"/>
          </a:xfrm>
          <a:prstGeom prst="rect">
            <a:avLst/>
          </a:prstGeom>
          <a:solidFill>
            <a:srgbClr val="000000">
              <a:alpha val="4000"/>
            </a:srgbClr>
          </a:solidFill>
          <a:ln/>
        </p:spPr>
      </p:sp>
      <p:sp>
        <p:nvSpPr>
          <p:cNvPr id="20" name="Text 18"/>
          <p:cNvSpPr/>
          <p:nvPr/>
        </p:nvSpPr>
        <p:spPr>
          <a:xfrm>
            <a:off x="914638" y="4495205"/>
            <a:ext cx="6195179" cy="322421"/>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XGBoost</a:t>
            </a:r>
            <a:endParaRPr lang="en-US" sz="1550" dirty="0">
              <a:latin typeface="Times New Roman" panose="02020603050405020304" pitchFamily="18" charset="0"/>
              <a:cs typeface="Times New Roman" panose="02020603050405020304" pitchFamily="18" charset="0"/>
            </a:endParaRPr>
          </a:p>
        </p:txBody>
      </p:sp>
      <p:sp>
        <p:nvSpPr>
          <p:cNvPr id="21" name="Text 19"/>
          <p:cNvSpPr/>
          <p:nvPr/>
        </p:nvSpPr>
        <p:spPr>
          <a:xfrm>
            <a:off x="7520583" y="4495205"/>
            <a:ext cx="6195179" cy="322421"/>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Boosting mạnh nhất trên tabular data</a:t>
            </a:r>
            <a:endParaRPr lang="en-US" sz="1550" dirty="0">
              <a:latin typeface="Times New Roman" panose="02020603050405020304" pitchFamily="18" charset="0"/>
              <a:cs typeface="Times New Roman" panose="02020603050405020304" pitchFamily="18" charset="0"/>
            </a:endParaRPr>
          </a:p>
        </p:txBody>
      </p:sp>
      <p:sp>
        <p:nvSpPr>
          <p:cNvPr id="22" name="Text 20"/>
          <p:cNvSpPr/>
          <p:nvPr/>
        </p:nvSpPr>
        <p:spPr>
          <a:xfrm>
            <a:off x="705445" y="5180409"/>
            <a:ext cx="13219509" cy="322421"/>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Ta có 3 kịch bản thí nghiệm: </a:t>
            </a:r>
            <a:endParaRPr lang="en-US" sz="1550" dirty="0">
              <a:latin typeface="Times New Roman" panose="02020603050405020304" pitchFamily="18" charset="0"/>
              <a:cs typeface="Times New Roman" panose="02020603050405020304" pitchFamily="18" charset="0"/>
            </a:endParaRPr>
          </a:p>
        </p:txBody>
      </p:sp>
      <p:pic>
        <p:nvPicPr>
          <p:cNvPr id="23" name="Image 0" descr="preencoded.png"/>
          <p:cNvPicPr>
            <a:picLocks noChangeAspect="1"/>
          </p:cNvPicPr>
          <p:nvPr/>
        </p:nvPicPr>
        <p:blipFill>
          <a:blip r:embed="rId3"/>
          <a:stretch>
            <a:fillRect/>
          </a:stretch>
        </p:blipFill>
        <p:spPr>
          <a:xfrm>
            <a:off x="781050" y="5697915"/>
            <a:ext cx="302300" cy="377904"/>
          </a:xfrm>
          <a:prstGeom prst="rect">
            <a:avLst/>
          </a:prstGeom>
        </p:spPr>
      </p:pic>
      <p:sp>
        <p:nvSpPr>
          <p:cNvPr id="24" name="Text 21"/>
          <p:cNvSpPr/>
          <p:nvPr/>
        </p:nvSpPr>
        <p:spPr>
          <a:xfrm>
            <a:off x="1360527" y="5729526"/>
            <a:ext cx="3583424" cy="629841"/>
          </a:xfrm>
          <a:prstGeom prst="rect">
            <a:avLst/>
          </a:prstGeom>
          <a:noFill/>
          <a:ln/>
        </p:spPr>
        <p:txBody>
          <a:bodyPr wrap="square" lIns="0" tIns="0" rIns="0" bIns="0" rtlCol="0" anchor="t"/>
          <a:lstStyle/>
          <a:p>
            <a:pPr marL="0" indent="0" algn="l">
              <a:lnSpc>
                <a:spcPts val="2450"/>
              </a:lnSpc>
              <a:buNone/>
            </a:pPr>
            <a:r>
              <a:rPr lang="en-US" sz="195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Exp 1 — Không dùng Feature Engineering</a:t>
            </a:r>
            <a:endParaRPr lang="en-US" sz="1950" dirty="0">
              <a:latin typeface="Times New Roman" panose="02020603050405020304" pitchFamily="18" charset="0"/>
              <a:cs typeface="Times New Roman" panose="02020603050405020304" pitchFamily="18" charset="0"/>
            </a:endParaRPr>
          </a:p>
        </p:txBody>
      </p:sp>
      <p:sp>
        <p:nvSpPr>
          <p:cNvPr id="25" name="Text 22"/>
          <p:cNvSpPr/>
          <p:nvPr/>
        </p:nvSpPr>
        <p:spPr>
          <a:xfrm>
            <a:off x="1360527" y="6480215"/>
            <a:ext cx="3583424" cy="322421"/>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Chỉ dùng 7 cột gốc cơ bản</a:t>
            </a:r>
            <a:endParaRPr lang="en-US" sz="1550" dirty="0">
              <a:latin typeface="Times New Roman" panose="02020603050405020304" pitchFamily="18" charset="0"/>
              <a:cs typeface="Times New Roman" panose="02020603050405020304" pitchFamily="18" charset="0"/>
            </a:endParaRPr>
          </a:p>
        </p:txBody>
      </p:sp>
      <p:pic>
        <p:nvPicPr>
          <p:cNvPr id="26" name="Image 1" descr="preencoded.png"/>
          <p:cNvPicPr>
            <a:picLocks noChangeAspect="1"/>
          </p:cNvPicPr>
          <p:nvPr/>
        </p:nvPicPr>
        <p:blipFill>
          <a:blip r:embed="rId3"/>
          <a:stretch>
            <a:fillRect/>
          </a:stretch>
        </p:blipFill>
        <p:spPr>
          <a:xfrm>
            <a:off x="5271492" y="5697915"/>
            <a:ext cx="302300" cy="377904"/>
          </a:xfrm>
          <a:prstGeom prst="rect">
            <a:avLst/>
          </a:prstGeom>
        </p:spPr>
      </p:pic>
      <p:sp>
        <p:nvSpPr>
          <p:cNvPr id="27" name="Text 23"/>
          <p:cNvSpPr/>
          <p:nvPr/>
        </p:nvSpPr>
        <p:spPr>
          <a:xfrm>
            <a:off x="5850969" y="5729526"/>
            <a:ext cx="3583424" cy="629841"/>
          </a:xfrm>
          <a:prstGeom prst="rect">
            <a:avLst/>
          </a:prstGeom>
          <a:noFill/>
          <a:ln/>
        </p:spPr>
        <p:txBody>
          <a:bodyPr wrap="square" lIns="0" tIns="0" rIns="0" bIns="0" rtlCol="0" anchor="t"/>
          <a:lstStyle/>
          <a:p>
            <a:pPr marL="0" indent="0" algn="l">
              <a:lnSpc>
                <a:spcPts val="2450"/>
              </a:lnSpc>
              <a:buNone/>
            </a:pPr>
            <a:r>
              <a:rPr lang="en-US" sz="195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Exp 2 — Thêm đặc trưng đơn giản</a:t>
            </a:r>
            <a:endParaRPr lang="en-US" sz="1950" dirty="0">
              <a:latin typeface="Times New Roman" panose="02020603050405020304" pitchFamily="18" charset="0"/>
              <a:cs typeface="Times New Roman" panose="02020603050405020304" pitchFamily="18" charset="0"/>
            </a:endParaRPr>
          </a:p>
        </p:txBody>
      </p:sp>
      <p:sp>
        <p:nvSpPr>
          <p:cNvPr id="28" name="Text 24"/>
          <p:cNvSpPr/>
          <p:nvPr/>
        </p:nvSpPr>
        <p:spPr>
          <a:xfrm>
            <a:off x="5850969" y="6480215"/>
            <a:ext cx="3583424" cy="322421"/>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Thêm Title và FamilySize (9 cột)</a:t>
            </a:r>
            <a:endParaRPr lang="en-US" sz="1550" dirty="0">
              <a:latin typeface="Times New Roman" panose="02020603050405020304" pitchFamily="18" charset="0"/>
              <a:cs typeface="Times New Roman" panose="02020603050405020304" pitchFamily="18" charset="0"/>
            </a:endParaRPr>
          </a:p>
        </p:txBody>
      </p:sp>
      <p:pic>
        <p:nvPicPr>
          <p:cNvPr id="29" name="Image 2" descr="preencoded.png"/>
          <p:cNvPicPr>
            <a:picLocks noChangeAspect="1"/>
          </p:cNvPicPr>
          <p:nvPr/>
        </p:nvPicPr>
        <p:blipFill>
          <a:blip r:embed="rId3"/>
          <a:stretch>
            <a:fillRect/>
          </a:stretch>
        </p:blipFill>
        <p:spPr>
          <a:xfrm>
            <a:off x="9761934" y="5697915"/>
            <a:ext cx="302300" cy="377904"/>
          </a:xfrm>
          <a:prstGeom prst="rect">
            <a:avLst/>
          </a:prstGeom>
        </p:spPr>
      </p:pic>
      <p:sp>
        <p:nvSpPr>
          <p:cNvPr id="30" name="Text 25"/>
          <p:cNvSpPr/>
          <p:nvPr/>
        </p:nvSpPr>
        <p:spPr>
          <a:xfrm>
            <a:off x="10341412" y="5729526"/>
            <a:ext cx="3583424" cy="629841"/>
          </a:xfrm>
          <a:prstGeom prst="rect">
            <a:avLst/>
          </a:prstGeom>
          <a:noFill/>
          <a:ln/>
        </p:spPr>
        <p:txBody>
          <a:bodyPr wrap="square" lIns="0" tIns="0" rIns="0" bIns="0" rtlCol="0" anchor="t"/>
          <a:lstStyle/>
          <a:p>
            <a:pPr marL="0" indent="0" algn="l">
              <a:lnSpc>
                <a:spcPts val="2450"/>
              </a:lnSpc>
              <a:buNone/>
            </a:pPr>
            <a:r>
              <a:rPr lang="en-US" sz="195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Exp 3 — Full Feature Engineering</a:t>
            </a:r>
            <a:endParaRPr lang="en-US" sz="1950" dirty="0">
              <a:latin typeface="Times New Roman" panose="02020603050405020304" pitchFamily="18" charset="0"/>
              <a:cs typeface="Times New Roman" panose="02020603050405020304" pitchFamily="18" charset="0"/>
            </a:endParaRPr>
          </a:p>
        </p:txBody>
      </p:sp>
      <p:sp>
        <p:nvSpPr>
          <p:cNvPr id="31" name="Text 26"/>
          <p:cNvSpPr/>
          <p:nvPr/>
        </p:nvSpPr>
        <p:spPr>
          <a:xfrm>
            <a:off x="10341412" y="6480215"/>
            <a:ext cx="3583424" cy="644843"/>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Dùng toàn bộ 13 đặc trưng nâng cao</a:t>
            </a:r>
            <a:endParaRPr lang="en-US" sz="1550" dirty="0">
              <a:latin typeface="Times New Roman" panose="02020603050405020304" pitchFamily="18" charset="0"/>
              <a:cs typeface="Times New Roman" panose="02020603050405020304" pitchFamily="18" charset="0"/>
            </a:endParaRPr>
          </a:p>
        </p:txBody>
      </p:sp>
      <p:sp>
        <p:nvSpPr>
          <p:cNvPr id="32" name="Text 27"/>
          <p:cNvSpPr/>
          <p:nvPr/>
        </p:nvSpPr>
        <p:spPr>
          <a:xfrm>
            <a:off x="705445" y="7351752"/>
            <a:ext cx="13219509" cy="322421"/>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Times New Roman" panose="02020603050405020304" pitchFamily="18" charset="0"/>
                <a:ea typeface="Montserrat" pitchFamily="34" charset="-122"/>
                <a:cs typeface="Times New Roman" panose="02020603050405020304" pitchFamily="18" charset="0"/>
              </a:rPr>
              <a:t>Từ đó có thể so sánh ảnh hưởng của đặc trưng, hiệu suất từng mô hình và chọn mô hình + tập đặc trưng tối ưu nhất.</a:t>
            </a:r>
            <a:endParaRPr lang="en-US" sz="15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85192" y="459819"/>
            <a:ext cx="10041969" cy="418028"/>
          </a:xfrm>
          <a:prstGeom prst="rect">
            <a:avLst/>
          </a:prstGeom>
          <a:noFill/>
          <a:ln/>
        </p:spPr>
        <p:txBody>
          <a:bodyPr wrap="none" lIns="0" tIns="0" rIns="0" bIns="0" rtlCol="0" anchor="t"/>
          <a:lstStyle/>
          <a:p>
            <a:pPr marL="0" indent="0" algn="l">
              <a:lnSpc>
                <a:spcPts val="3250"/>
              </a:lnSpc>
              <a:buNone/>
            </a:pPr>
            <a:r>
              <a:rPr lang="en-US" sz="26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THÍ NGHIỆM 1: BASELINE MODEL (Không Feature Engineering)</a:t>
            </a:r>
            <a:endParaRPr lang="en-US" sz="2600" dirty="0">
              <a:latin typeface="Times New Roman" panose="02020603050405020304" pitchFamily="18" charset="0"/>
              <a:cs typeface="Times New Roman" panose="02020603050405020304" pitchFamily="18" charset="0"/>
            </a:endParaRPr>
          </a:p>
        </p:txBody>
      </p:sp>
      <p:sp>
        <p:nvSpPr>
          <p:cNvPr id="3" name="Text 1"/>
          <p:cNvSpPr/>
          <p:nvPr/>
        </p:nvSpPr>
        <p:spPr>
          <a:xfrm>
            <a:off x="585192" y="1212294"/>
            <a:ext cx="13460016" cy="267653"/>
          </a:xfrm>
          <a:prstGeom prst="rect">
            <a:avLst/>
          </a:prstGeom>
          <a:noFill/>
          <a:ln/>
        </p:spPr>
        <p:txBody>
          <a:bodyPr wrap="none" lIns="0" tIns="0" rIns="0" bIns="0" rtlCol="0" anchor="t"/>
          <a:lstStyle/>
          <a:p>
            <a:pPr marL="0" indent="0" algn="l">
              <a:lnSpc>
                <a:spcPts val="2100"/>
              </a:lnSpc>
              <a:buNone/>
            </a:pPr>
            <a:r>
              <a:rPr lang="en-US" sz="1300" b="1" dirty="0">
                <a:solidFill>
                  <a:srgbClr val="E5DCE6"/>
                </a:solidFill>
                <a:latin typeface="Times New Roman" panose="02020603050405020304" pitchFamily="18" charset="0"/>
                <a:ea typeface="Montserrat" pitchFamily="34" charset="-122"/>
                <a:cs typeface="Times New Roman" panose="02020603050405020304" pitchFamily="18" charset="0"/>
              </a:rPr>
              <a:t>Mục tiêu:</a:t>
            </a: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 Đánh giá hiệu suất mô hình ở mức cơ bản nhất (baseline)</a:t>
            </a:r>
            <a:endParaRPr lang="en-US" sz="1300" dirty="0">
              <a:latin typeface="Times New Roman" panose="02020603050405020304" pitchFamily="18" charset="0"/>
              <a:cs typeface="Times New Roman" panose="02020603050405020304" pitchFamily="18" charset="0"/>
            </a:endParaRPr>
          </a:p>
        </p:txBody>
      </p:sp>
      <p:sp>
        <p:nvSpPr>
          <p:cNvPr id="4" name="Text 2"/>
          <p:cNvSpPr/>
          <p:nvPr/>
        </p:nvSpPr>
        <p:spPr>
          <a:xfrm>
            <a:off x="585192" y="1668066"/>
            <a:ext cx="13460016" cy="267653"/>
          </a:xfrm>
          <a:prstGeom prst="rect">
            <a:avLst/>
          </a:prstGeom>
          <a:noFill/>
          <a:ln/>
        </p:spPr>
        <p:txBody>
          <a:bodyPr wrap="none" lIns="0" tIns="0" rIns="0" bIns="0" rtlCol="0" anchor="t"/>
          <a:lstStyle/>
          <a:p>
            <a:pPr marL="0" indent="0" algn="l">
              <a:lnSpc>
                <a:spcPts val="2100"/>
              </a:lnSpc>
              <a:buNone/>
            </a:pPr>
            <a:r>
              <a:rPr lang="en-US" sz="1300" b="1" dirty="0">
                <a:solidFill>
                  <a:srgbClr val="E5DCE6"/>
                </a:solidFill>
                <a:latin typeface="Times New Roman" panose="02020603050405020304" pitchFamily="18" charset="0"/>
                <a:ea typeface="Montserrat" pitchFamily="34" charset="-122"/>
                <a:cs typeface="Times New Roman" panose="02020603050405020304" pitchFamily="18" charset="0"/>
              </a:rPr>
              <a:t>Features sử dụng:</a:t>
            </a: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 Pclass, Sex, Age, SibSp, Parch, Fare, Embarked (dữ liệu gốc, chưa tạo đặc trưng mới)</a:t>
            </a:r>
            <a:endParaRPr lang="en-US" sz="1300" dirty="0">
              <a:latin typeface="Times New Roman" panose="02020603050405020304" pitchFamily="18" charset="0"/>
              <a:cs typeface="Times New Roman" panose="02020603050405020304" pitchFamily="18" charset="0"/>
            </a:endParaRPr>
          </a:p>
        </p:txBody>
      </p:sp>
      <p:sp>
        <p:nvSpPr>
          <p:cNvPr id="5" name="Text 3"/>
          <p:cNvSpPr/>
          <p:nvPr/>
        </p:nvSpPr>
        <p:spPr>
          <a:xfrm>
            <a:off x="585192" y="2123837"/>
            <a:ext cx="13460016" cy="267653"/>
          </a:xfrm>
          <a:prstGeom prst="rect">
            <a:avLst/>
          </a:prstGeom>
          <a:noFill/>
          <a:ln/>
        </p:spPr>
        <p:txBody>
          <a:bodyPr wrap="none" lIns="0" tIns="0" rIns="0" bIns="0" rtlCol="0" anchor="t"/>
          <a:lstStyle/>
          <a:p>
            <a:pPr marL="0" indent="0" algn="l">
              <a:lnSpc>
                <a:spcPts val="2100"/>
              </a:lnSpc>
              <a:buNone/>
            </a:pPr>
            <a:r>
              <a:rPr lang="en-US" sz="1300" b="1" dirty="0">
                <a:solidFill>
                  <a:srgbClr val="E5DCE6"/>
                </a:solidFill>
                <a:latin typeface="Times New Roman" panose="02020603050405020304" pitchFamily="18" charset="0"/>
                <a:ea typeface="Montserrat" pitchFamily="34" charset="-122"/>
                <a:cs typeface="Times New Roman" panose="02020603050405020304" pitchFamily="18" charset="0"/>
              </a:rPr>
              <a:t>Kết quả thí nghiệm:</a:t>
            </a:r>
            <a:endParaRPr lang="en-US" sz="1300" dirty="0">
              <a:latin typeface="Times New Roman" panose="02020603050405020304" pitchFamily="18" charset="0"/>
              <a:cs typeface="Times New Roman" panose="02020603050405020304" pitchFamily="18" charset="0"/>
            </a:endParaRPr>
          </a:p>
        </p:txBody>
      </p:sp>
      <p:sp>
        <p:nvSpPr>
          <p:cNvPr id="6" name="Shape 4"/>
          <p:cNvSpPr/>
          <p:nvPr/>
        </p:nvSpPr>
        <p:spPr>
          <a:xfrm>
            <a:off x="585192" y="2579608"/>
            <a:ext cx="13460016" cy="2915603"/>
          </a:xfrm>
          <a:prstGeom prst="roundRect">
            <a:avLst>
              <a:gd name="adj" fmla="val 2409"/>
            </a:avLst>
          </a:prstGeom>
          <a:noFill/>
          <a:ln w="7620">
            <a:solidFill>
              <a:srgbClr val="FFFFFF">
                <a:alpha val="24000"/>
              </a:srgbClr>
            </a:solidFill>
            <a:prstDash val="solid"/>
          </a:ln>
        </p:spPr>
      </p:sp>
      <p:sp>
        <p:nvSpPr>
          <p:cNvPr id="7" name="Shape 5"/>
          <p:cNvSpPr/>
          <p:nvPr/>
        </p:nvSpPr>
        <p:spPr>
          <a:xfrm>
            <a:off x="592812" y="2587228"/>
            <a:ext cx="13444776" cy="483394"/>
          </a:xfrm>
          <a:prstGeom prst="rect">
            <a:avLst/>
          </a:prstGeom>
          <a:solidFill>
            <a:srgbClr val="FFFFFF">
              <a:alpha val="4000"/>
            </a:srgbClr>
          </a:solidFill>
          <a:ln/>
        </p:spPr>
      </p:sp>
      <p:sp>
        <p:nvSpPr>
          <p:cNvPr id="8" name="Text 6"/>
          <p:cNvSpPr/>
          <p:nvPr/>
        </p:nvSpPr>
        <p:spPr>
          <a:xfrm>
            <a:off x="760333" y="2695099"/>
            <a:ext cx="1800820"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Method</a:t>
            </a:r>
            <a:endParaRPr lang="en-US" sz="1300" dirty="0">
              <a:latin typeface="Times New Roman" panose="02020603050405020304" pitchFamily="18" charset="0"/>
              <a:cs typeface="Times New Roman" panose="02020603050405020304" pitchFamily="18" charset="0"/>
            </a:endParaRPr>
          </a:p>
        </p:txBody>
      </p:sp>
      <p:sp>
        <p:nvSpPr>
          <p:cNvPr id="9" name="Text 7"/>
          <p:cNvSpPr/>
          <p:nvPr/>
        </p:nvSpPr>
        <p:spPr>
          <a:xfrm>
            <a:off x="2903101" y="2695099"/>
            <a:ext cx="2892862"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Model</a:t>
            </a:r>
            <a:endParaRPr lang="en-US" sz="1300" dirty="0">
              <a:latin typeface="Times New Roman" panose="02020603050405020304" pitchFamily="18" charset="0"/>
              <a:cs typeface="Times New Roman" panose="02020603050405020304" pitchFamily="18" charset="0"/>
            </a:endParaRPr>
          </a:p>
        </p:txBody>
      </p:sp>
      <p:sp>
        <p:nvSpPr>
          <p:cNvPr id="10" name="Text 8"/>
          <p:cNvSpPr/>
          <p:nvPr/>
        </p:nvSpPr>
        <p:spPr>
          <a:xfrm>
            <a:off x="6137910" y="2695099"/>
            <a:ext cx="2379226"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CV_Acc</a:t>
            </a:r>
            <a:endParaRPr lang="en-US" sz="1300" dirty="0">
              <a:latin typeface="Times New Roman" panose="02020603050405020304" pitchFamily="18" charset="0"/>
              <a:cs typeface="Times New Roman" panose="02020603050405020304" pitchFamily="18" charset="0"/>
            </a:endParaRPr>
          </a:p>
        </p:txBody>
      </p:sp>
      <p:sp>
        <p:nvSpPr>
          <p:cNvPr id="11" name="Text 9"/>
          <p:cNvSpPr/>
          <p:nvPr/>
        </p:nvSpPr>
        <p:spPr>
          <a:xfrm>
            <a:off x="8859083" y="2695099"/>
            <a:ext cx="2399347"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CV_ROC</a:t>
            </a:r>
            <a:endParaRPr lang="en-US" sz="1300" dirty="0">
              <a:latin typeface="Times New Roman" panose="02020603050405020304" pitchFamily="18" charset="0"/>
              <a:cs typeface="Times New Roman" panose="02020603050405020304" pitchFamily="18" charset="0"/>
            </a:endParaRPr>
          </a:p>
        </p:txBody>
      </p:sp>
      <p:sp>
        <p:nvSpPr>
          <p:cNvPr id="12" name="Text 10"/>
          <p:cNvSpPr/>
          <p:nvPr/>
        </p:nvSpPr>
        <p:spPr>
          <a:xfrm>
            <a:off x="11600378" y="2695099"/>
            <a:ext cx="2270046"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Public_Score</a:t>
            </a:r>
            <a:endParaRPr lang="en-US" sz="1300" dirty="0">
              <a:latin typeface="Times New Roman" panose="02020603050405020304" pitchFamily="18" charset="0"/>
              <a:cs typeface="Times New Roman" panose="02020603050405020304" pitchFamily="18" charset="0"/>
            </a:endParaRPr>
          </a:p>
        </p:txBody>
      </p:sp>
      <p:sp>
        <p:nvSpPr>
          <p:cNvPr id="13" name="Shape 11"/>
          <p:cNvSpPr/>
          <p:nvPr/>
        </p:nvSpPr>
        <p:spPr>
          <a:xfrm>
            <a:off x="592812" y="3070622"/>
            <a:ext cx="13444776" cy="483394"/>
          </a:xfrm>
          <a:prstGeom prst="rect">
            <a:avLst/>
          </a:prstGeom>
          <a:solidFill>
            <a:srgbClr val="000000">
              <a:alpha val="4000"/>
            </a:srgbClr>
          </a:solidFill>
          <a:ln/>
        </p:spPr>
      </p:sp>
      <p:sp>
        <p:nvSpPr>
          <p:cNvPr id="14" name="Text 12"/>
          <p:cNvSpPr/>
          <p:nvPr/>
        </p:nvSpPr>
        <p:spPr>
          <a:xfrm>
            <a:off x="760333" y="3178493"/>
            <a:ext cx="1800820"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1</a:t>
            </a:r>
            <a:endParaRPr lang="en-US" sz="1300" dirty="0">
              <a:latin typeface="Times New Roman" panose="02020603050405020304" pitchFamily="18" charset="0"/>
              <a:cs typeface="Times New Roman" panose="02020603050405020304" pitchFamily="18" charset="0"/>
            </a:endParaRPr>
          </a:p>
        </p:txBody>
      </p:sp>
      <p:sp>
        <p:nvSpPr>
          <p:cNvPr id="15" name="Text 13"/>
          <p:cNvSpPr/>
          <p:nvPr/>
        </p:nvSpPr>
        <p:spPr>
          <a:xfrm>
            <a:off x="2903101" y="3178493"/>
            <a:ext cx="2892862"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Random Forest</a:t>
            </a:r>
            <a:endParaRPr lang="en-US" sz="1300" dirty="0">
              <a:latin typeface="Times New Roman" panose="02020603050405020304" pitchFamily="18" charset="0"/>
              <a:cs typeface="Times New Roman" panose="02020603050405020304" pitchFamily="18" charset="0"/>
            </a:endParaRPr>
          </a:p>
        </p:txBody>
      </p:sp>
      <p:sp>
        <p:nvSpPr>
          <p:cNvPr id="16" name="Text 14"/>
          <p:cNvSpPr/>
          <p:nvPr/>
        </p:nvSpPr>
        <p:spPr>
          <a:xfrm>
            <a:off x="6137910" y="3178493"/>
            <a:ext cx="2379226"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0.71291</a:t>
            </a:r>
            <a:endParaRPr lang="en-US" sz="1300" dirty="0">
              <a:latin typeface="Times New Roman" panose="02020603050405020304" pitchFamily="18" charset="0"/>
              <a:cs typeface="Times New Roman" panose="02020603050405020304" pitchFamily="18" charset="0"/>
            </a:endParaRPr>
          </a:p>
        </p:txBody>
      </p:sp>
      <p:sp>
        <p:nvSpPr>
          <p:cNvPr id="17" name="Text 15"/>
          <p:cNvSpPr/>
          <p:nvPr/>
        </p:nvSpPr>
        <p:spPr>
          <a:xfrm>
            <a:off x="8859083" y="3178493"/>
            <a:ext cx="2399347"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0.8545</a:t>
            </a:r>
            <a:endParaRPr lang="en-US" sz="1300" dirty="0">
              <a:latin typeface="Times New Roman" panose="02020603050405020304" pitchFamily="18" charset="0"/>
              <a:cs typeface="Times New Roman" panose="02020603050405020304" pitchFamily="18" charset="0"/>
            </a:endParaRPr>
          </a:p>
        </p:txBody>
      </p:sp>
      <p:sp>
        <p:nvSpPr>
          <p:cNvPr id="18" name="Text 16"/>
          <p:cNvSpPr/>
          <p:nvPr/>
        </p:nvSpPr>
        <p:spPr>
          <a:xfrm>
            <a:off x="11600378" y="3178493"/>
            <a:ext cx="2270046"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0.7488</a:t>
            </a:r>
            <a:endParaRPr lang="en-US" sz="1300" dirty="0">
              <a:latin typeface="Times New Roman" panose="02020603050405020304" pitchFamily="18" charset="0"/>
              <a:cs typeface="Times New Roman" panose="02020603050405020304" pitchFamily="18" charset="0"/>
            </a:endParaRPr>
          </a:p>
        </p:txBody>
      </p:sp>
      <p:sp>
        <p:nvSpPr>
          <p:cNvPr id="19" name="Shape 17"/>
          <p:cNvSpPr/>
          <p:nvPr/>
        </p:nvSpPr>
        <p:spPr>
          <a:xfrm>
            <a:off x="592812" y="3554016"/>
            <a:ext cx="13444776" cy="483394"/>
          </a:xfrm>
          <a:prstGeom prst="rect">
            <a:avLst/>
          </a:prstGeom>
          <a:solidFill>
            <a:srgbClr val="FFFFFF">
              <a:alpha val="4000"/>
            </a:srgbClr>
          </a:solidFill>
          <a:ln/>
        </p:spPr>
      </p:sp>
      <p:sp>
        <p:nvSpPr>
          <p:cNvPr id="20" name="Text 18"/>
          <p:cNvSpPr/>
          <p:nvPr/>
        </p:nvSpPr>
        <p:spPr>
          <a:xfrm>
            <a:off x="760333" y="3661886"/>
            <a:ext cx="1800820" cy="267653"/>
          </a:xfrm>
          <a:prstGeom prst="rect">
            <a:avLst/>
          </a:prstGeom>
          <a:noFill/>
          <a:ln/>
        </p:spPr>
        <p:txBody>
          <a:bodyPr wrap="none" lIns="0" tIns="0" rIns="0" bIns="0" rtlCol="0" anchor="t"/>
          <a:lstStyle/>
          <a:p>
            <a:pPr marL="0" indent="0" algn="l">
              <a:lnSpc>
                <a:spcPts val="2100"/>
              </a:lnSpc>
              <a:buNone/>
            </a:pPr>
            <a:r>
              <a:rPr lang="en-US" sz="1300" b="1" dirty="0">
                <a:solidFill>
                  <a:srgbClr val="E5DCE6"/>
                </a:solidFill>
                <a:latin typeface="Times New Roman" panose="02020603050405020304" pitchFamily="18" charset="0"/>
                <a:ea typeface="Montserrat" pitchFamily="34" charset="-122"/>
                <a:cs typeface="Times New Roman" panose="02020603050405020304" pitchFamily="18" charset="0"/>
              </a:rPr>
              <a:t>2</a:t>
            </a:r>
            <a:endParaRPr lang="en-US" sz="1300" dirty="0">
              <a:latin typeface="Times New Roman" panose="02020603050405020304" pitchFamily="18" charset="0"/>
              <a:cs typeface="Times New Roman" panose="02020603050405020304" pitchFamily="18" charset="0"/>
            </a:endParaRPr>
          </a:p>
        </p:txBody>
      </p:sp>
      <p:sp>
        <p:nvSpPr>
          <p:cNvPr id="21" name="Text 19"/>
          <p:cNvSpPr/>
          <p:nvPr/>
        </p:nvSpPr>
        <p:spPr>
          <a:xfrm>
            <a:off x="2903101" y="3661886"/>
            <a:ext cx="2892862" cy="267653"/>
          </a:xfrm>
          <a:prstGeom prst="rect">
            <a:avLst/>
          </a:prstGeom>
          <a:noFill/>
          <a:ln/>
        </p:spPr>
        <p:txBody>
          <a:bodyPr wrap="none" lIns="0" tIns="0" rIns="0" bIns="0" rtlCol="0" anchor="t"/>
          <a:lstStyle/>
          <a:p>
            <a:pPr marL="0" indent="0" algn="l">
              <a:lnSpc>
                <a:spcPts val="2100"/>
              </a:lnSpc>
              <a:buNone/>
            </a:pPr>
            <a:r>
              <a:rPr lang="en-US" sz="1300" b="1" dirty="0">
                <a:solidFill>
                  <a:srgbClr val="E5DCE6"/>
                </a:solidFill>
                <a:latin typeface="Times New Roman" panose="02020603050405020304" pitchFamily="18" charset="0"/>
                <a:ea typeface="Montserrat" pitchFamily="34" charset="-122"/>
                <a:cs typeface="Times New Roman" panose="02020603050405020304" pitchFamily="18" charset="0"/>
              </a:rPr>
              <a:t>Logistic Regression</a:t>
            </a:r>
            <a:endParaRPr lang="en-US" sz="1300" dirty="0">
              <a:latin typeface="Times New Roman" panose="02020603050405020304" pitchFamily="18" charset="0"/>
              <a:cs typeface="Times New Roman" panose="02020603050405020304" pitchFamily="18" charset="0"/>
            </a:endParaRPr>
          </a:p>
        </p:txBody>
      </p:sp>
      <p:sp>
        <p:nvSpPr>
          <p:cNvPr id="22" name="Text 20"/>
          <p:cNvSpPr/>
          <p:nvPr/>
        </p:nvSpPr>
        <p:spPr>
          <a:xfrm>
            <a:off x="6137910" y="3661886"/>
            <a:ext cx="2379226" cy="267653"/>
          </a:xfrm>
          <a:prstGeom prst="rect">
            <a:avLst/>
          </a:prstGeom>
          <a:noFill/>
          <a:ln/>
        </p:spPr>
        <p:txBody>
          <a:bodyPr wrap="none" lIns="0" tIns="0" rIns="0" bIns="0" rtlCol="0" anchor="t"/>
          <a:lstStyle/>
          <a:p>
            <a:pPr marL="0" indent="0" algn="l">
              <a:lnSpc>
                <a:spcPts val="2100"/>
              </a:lnSpc>
              <a:buNone/>
            </a:pPr>
            <a:r>
              <a:rPr lang="en-US" sz="1300" b="1" dirty="0">
                <a:solidFill>
                  <a:srgbClr val="E5DCE6"/>
                </a:solidFill>
                <a:latin typeface="Times New Roman" panose="02020603050405020304" pitchFamily="18" charset="0"/>
                <a:ea typeface="Montserrat" pitchFamily="34" charset="-122"/>
                <a:cs typeface="Times New Roman" panose="02020603050405020304" pitchFamily="18" charset="0"/>
              </a:rPr>
              <a:t>0.76555</a:t>
            </a:r>
            <a:endParaRPr lang="en-US" sz="1300" dirty="0">
              <a:latin typeface="Times New Roman" panose="02020603050405020304" pitchFamily="18" charset="0"/>
              <a:cs typeface="Times New Roman" panose="02020603050405020304" pitchFamily="18" charset="0"/>
            </a:endParaRPr>
          </a:p>
        </p:txBody>
      </p:sp>
      <p:sp>
        <p:nvSpPr>
          <p:cNvPr id="23" name="Text 21"/>
          <p:cNvSpPr/>
          <p:nvPr/>
        </p:nvSpPr>
        <p:spPr>
          <a:xfrm>
            <a:off x="8859083" y="3661886"/>
            <a:ext cx="2399347" cy="267653"/>
          </a:xfrm>
          <a:prstGeom prst="rect">
            <a:avLst/>
          </a:prstGeom>
          <a:noFill/>
          <a:ln/>
        </p:spPr>
        <p:txBody>
          <a:bodyPr wrap="none" lIns="0" tIns="0" rIns="0" bIns="0" rtlCol="0" anchor="t"/>
          <a:lstStyle/>
          <a:p>
            <a:pPr marL="0" indent="0" algn="l">
              <a:lnSpc>
                <a:spcPts val="2100"/>
              </a:lnSpc>
              <a:buNone/>
            </a:pPr>
            <a:r>
              <a:rPr lang="en-US" sz="1300" b="1" dirty="0">
                <a:solidFill>
                  <a:srgbClr val="E5DCE6"/>
                </a:solidFill>
                <a:latin typeface="Times New Roman" panose="02020603050405020304" pitchFamily="18" charset="0"/>
                <a:ea typeface="Montserrat" pitchFamily="34" charset="-122"/>
                <a:cs typeface="Times New Roman" panose="02020603050405020304" pitchFamily="18" charset="0"/>
              </a:rPr>
              <a:t>0.8484</a:t>
            </a:r>
            <a:endParaRPr lang="en-US" sz="1300" dirty="0">
              <a:latin typeface="Times New Roman" panose="02020603050405020304" pitchFamily="18" charset="0"/>
              <a:cs typeface="Times New Roman" panose="02020603050405020304" pitchFamily="18" charset="0"/>
            </a:endParaRPr>
          </a:p>
        </p:txBody>
      </p:sp>
      <p:sp>
        <p:nvSpPr>
          <p:cNvPr id="24" name="Text 22"/>
          <p:cNvSpPr/>
          <p:nvPr/>
        </p:nvSpPr>
        <p:spPr>
          <a:xfrm>
            <a:off x="11600378" y="3661886"/>
            <a:ext cx="2270046" cy="267653"/>
          </a:xfrm>
          <a:prstGeom prst="rect">
            <a:avLst/>
          </a:prstGeom>
          <a:noFill/>
          <a:ln/>
        </p:spPr>
        <p:txBody>
          <a:bodyPr wrap="none" lIns="0" tIns="0" rIns="0" bIns="0" rtlCol="0" anchor="t"/>
          <a:lstStyle/>
          <a:p>
            <a:pPr marL="0" indent="0" algn="l">
              <a:lnSpc>
                <a:spcPts val="2100"/>
              </a:lnSpc>
              <a:buNone/>
            </a:pPr>
            <a:r>
              <a:rPr lang="en-US" sz="1300" b="1" dirty="0">
                <a:solidFill>
                  <a:srgbClr val="E5DCE6"/>
                </a:solidFill>
                <a:latin typeface="Times New Roman" panose="02020603050405020304" pitchFamily="18" charset="0"/>
                <a:ea typeface="Montserrat" pitchFamily="34" charset="-122"/>
                <a:cs typeface="Times New Roman" panose="02020603050405020304" pitchFamily="18" charset="0"/>
              </a:rPr>
              <a:t>0.76555</a:t>
            </a:r>
            <a:endParaRPr lang="en-US" sz="1300" dirty="0">
              <a:latin typeface="Times New Roman" panose="02020603050405020304" pitchFamily="18" charset="0"/>
              <a:cs typeface="Times New Roman" panose="02020603050405020304" pitchFamily="18" charset="0"/>
            </a:endParaRPr>
          </a:p>
        </p:txBody>
      </p:sp>
      <p:sp>
        <p:nvSpPr>
          <p:cNvPr id="25" name="Shape 23"/>
          <p:cNvSpPr/>
          <p:nvPr/>
        </p:nvSpPr>
        <p:spPr>
          <a:xfrm>
            <a:off x="592812" y="4037409"/>
            <a:ext cx="13444776" cy="483394"/>
          </a:xfrm>
          <a:prstGeom prst="rect">
            <a:avLst/>
          </a:prstGeom>
          <a:solidFill>
            <a:srgbClr val="000000">
              <a:alpha val="4000"/>
            </a:srgbClr>
          </a:solidFill>
          <a:ln/>
        </p:spPr>
      </p:sp>
      <p:sp>
        <p:nvSpPr>
          <p:cNvPr id="26" name="Text 24"/>
          <p:cNvSpPr/>
          <p:nvPr/>
        </p:nvSpPr>
        <p:spPr>
          <a:xfrm>
            <a:off x="760333" y="4145280"/>
            <a:ext cx="1800820"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3</a:t>
            </a:r>
            <a:endParaRPr lang="en-US" sz="1300" dirty="0">
              <a:latin typeface="Times New Roman" panose="02020603050405020304" pitchFamily="18" charset="0"/>
              <a:cs typeface="Times New Roman" panose="02020603050405020304" pitchFamily="18" charset="0"/>
            </a:endParaRPr>
          </a:p>
        </p:txBody>
      </p:sp>
      <p:sp>
        <p:nvSpPr>
          <p:cNvPr id="27" name="Text 25"/>
          <p:cNvSpPr/>
          <p:nvPr/>
        </p:nvSpPr>
        <p:spPr>
          <a:xfrm>
            <a:off x="2903101" y="4145280"/>
            <a:ext cx="2892862"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XGBoost</a:t>
            </a:r>
            <a:endParaRPr lang="en-US" sz="1300" dirty="0">
              <a:latin typeface="Times New Roman" panose="02020603050405020304" pitchFamily="18" charset="0"/>
              <a:cs typeface="Times New Roman" panose="02020603050405020304" pitchFamily="18" charset="0"/>
            </a:endParaRPr>
          </a:p>
        </p:txBody>
      </p:sp>
      <p:sp>
        <p:nvSpPr>
          <p:cNvPr id="28" name="Text 26"/>
          <p:cNvSpPr/>
          <p:nvPr/>
        </p:nvSpPr>
        <p:spPr>
          <a:xfrm>
            <a:off x="6137910" y="4145280"/>
            <a:ext cx="2379226"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0.7488</a:t>
            </a:r>
            <a:endParaRPr lang="en-US" sz="1300" dirty="0">
              <a:latin typeface="Times New Roman" panose="02020603050405020304" pitchFamily="18" charset="0"/>
              <a:cs typeface="Times New Roman" panose="02020603050405020304" pitchFamily="18" charset="0"/>
            </a:endParaRPr>
          </a:p>
        </p:txBody>
      </p:sp>
      <p:sp>
        <p:nvSpPr>
          <p:cNvPr id="29" name="Text 27"/>
          <p:cNvSpPr/>
          <p:nvPr/>
        </p:nvSpPr>
        <p:spPr>
          <a:xfrm>
            <a:off x="8859083" y="4145280"/>
            <a:ext cx="2399347"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0.7297</a:t>
            </a:r>
            <a:endParaRPr lang="en-US" sz="1300" dirty="0">
              <a:latin typeface="Times New Roman" panose="02020603050405020304" pitchFamily="18" charset="0"/>
              <a:cs typeface="Times New Roman" panose="02020603050405020304" pitchFamily="18" charset="0"/>
            </a:endParaRPr>
          </a:p>
        </p:txBody>
      </p:sp>
      <p:sp>
        <p:nvSpPr>
          <p:cNvPr id="30" name="Text 28"/>
          <p:cNvSpPr/>
          <p:nvPr/>
        </p:nvSpPr>
        <p:spPr>
          <a:xfrm>
            <a:off x="11600378" y="4145280"/>
            <a:ext cx="2270046"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0.62918</a:t>
            </a:r>
            <a:endParaRPr lang="en-US" sz="1300" dirty="0">
              <a:latin typeface="Times New Roman" panose="02020603050405020304" pitchFamily="18" charset="0"/>
              <a:cs typeface="Times New Roman" panose="02020603050405020304" pitchFamily="18" charset="0"/>
            </a:endParaRPr>
          </a:p>
        </p:txBody>
      </p:sp>
      <p:sp>
        <p:nvSpPr>
          <p:cNvPr id="31" name="Shape 29"/>
          <p:cNvSpPr/>
          <p:nvPr/>
        </p:nvSpPr>
        <p:spPr>
          <a:xfrm>
            <a:off x="592812" y="4520803"/>
            <a:ext cx="13444776" cy="483394"/>
          </a:xfrm>
          <a:prstGeom prst="rect">
            <a:avLst/>
          </a:prstGeom>
          <a:solidFill>
            <a:srgbClr val="FFFFFF">
              <a:alpha val="4000"/>
            </a:srgbClr>
          </a:solidFill>
          <a:ln/>
        </p:spPr>
      </p:sp>
      <p:sp>
        <p:nvSpPr>
          <p:cNvPr id="32" name="Text 30"/>
          <p:cNvSpPr/>
          <p:nvPr/>
        </p:nvSpPr>
        <p:spPr>
          <a:xfrm>
            <a:off x="760333" y="4628674"/>
            <a:ext cx="1800820"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4</a:t>
            </a:r>
            <a:endParaRPr lang="en-US" sz="1300" dirty="0">
              <a:latin typeface="Times New Roman" panose="02020603050405020304" pitchFamily="18" charset="0"/>
              <a:cs typeface="Times New Roman" panose="02020603050405020304" pitchFamily="18" charset="0"/>
            </a:endParaRPr>
          </a:p>
        </p:txBody>
      </p:sp>
      <p:sp>
        <p:nvSpPr>
          <p:cNvPr id="33" name="Text 31"/>
          <p:cNvSpPr/>
          <p:nvPr/>
        </p:nvSpPr>
        <p:spPr>
          <a:xfrm>
            <a:off x="2903101" y="4628674"/>
            <a:ext cx="2892862"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SVM</a:t>
            </a:r>
            <a:endParaRPr lang="en-US" sz="1300" dirty="0">
              <a:latin typeface="Times New Roman" panose="02020603050405020304" pitchFamily="18" charset="0"/>
              <a:cs typeface="Times New Roman" panose="02020603050405020304" pitchFamily="18" charset="0"/>
            </a:endParaRPr>
          </a:p>
        </p:txBody>
      </p:sp>
      <p:sp>
        <p:nvSpPr>
          <p:cNvPr id="34" name="Text 32"/>
          <p:cNvSpPr/>
          <p:nvPr/>
        </p:nvSpPr>
        <p:spPr>
          <a:xfrm>
            <a:off x="6137910" y="4628674"/>
            <a:ext cx="2379226"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0.66267</a:t>
            </a:r>
            <a:endParaRPr lang="en-US" sz="1300" dirty="0">
              <a:latin typeface="Times New Roman" panose="02020603050405020304" pitchFamily="18" charset="0"/>
              <a:cs typeface="Times New Roman" panose="02020603050405020304" pitchFamily="18" charset="0"/>
            </a:endParaRPr>
          </a:p>
        </p:txBody>
      </p:sp>
      <p:sp>
        <p:nvSpPr>
          <p:cNvPr id="35" name="Text 33"/>
          <p:cNvSpPr/>
          <p:nvPr/>
        </p:nvSpPr>
        <p:spPr>
          <a:xfrm>
            <a:off x="8859083" y="4628674"/>
            <a:ext cx="2399347"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0.738</a:t>
            </a:r>
            <a:endParaRPr lang="en-US" sz="1300" dirty="0">
              <a:latin typeface="Times New Roman" panose="02020603050405020304" pitchFamily="18" charset="0"/>
              <a:cs typeface="Times New Roman" panose="02020603050405020304" pitchFamily="18" charset="0"/>
            </a:endParaRPr>
          </a:p>
        </p:txBody>
      </p:sp>
      <p:sp>
        <p:nvSpPr>
          <p:cNvPr id="36" name="Text 34"/>
          <p:cNvSpPr/>
          <p:nvPr/>
        </p:nvSpPr>
        <p:spPr>
          <a:xfrm>
            <a:off x="11600378" y="4628674"/>
            <a:ext cx="2270046"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0.66267</a:t>
            </a:r>
            <a:endParaRPr lang="en-US" sz="1300" dirty="0">
              <a:latin typeface="Times New Roman" panose="02020603050405020304" pitchFamily="18" charset="0"/>
              <a:cs typeface="Times New Roman" panose="02020603050405020304" pitchFamily="18" charset="0"/>
            </a:endParaRPr>
          </a:p>
        </p:txBody>
      </p:sp>
      <p:sp>
        <p:nvSpPr>
          <p:cNvPr id="37" name="Shape 35"/>
          <p:cNvSpPr/>
          <p:nvPr/>
        </p:nvSpPr>
        <p:spPr>
          <a:xfrm>
            <a:off x="592812" y="5004197"/>
            <a:ext cx="13444776" cy="483394"/>
          </a:xfrm>
          <a:prstGeom prst="rect">
            <a:avLst/>
          </a:prstGeom>
          <a:solidFill>
            <a:srgbClr val="000000">
              <a:alpha val="4000"/>
            </a:srgbClr>
          </a:solidFill>
          <a:ln/>
        </p:spPr>
      </p:sp>
      <p:sp>
        <p:nvSpPr>
          <p:cNvPr id="38" name="Text 36"/>
          <p:cNvSpPr/>
          <p:nvPr/>
        </p:nvSpPr>
        <p:spPr>
          <a:xfrm>
            <a:off x="760333" y="5112068"/>
            <a:ext cx="1800820"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5</a:t>
            </a:r>
            <a:endParaRPr lang="en-US" sz="1300" dirty="0">
              <a:latin typeface="Times New Roman" panose="02020603050405020304" pitchFamily="18" charset="0"/>
              <a:cs typeface="Times New Roman" panose="02020603050405020304" pitchFamily="18" charset="0"/>
            </a:endParaRPr>
          </a:p>
        </p:txBody>
      </p:sp>
      <p:sp>
        <p:nvSpPr>
          <p:cNvPr id="39" name="Text 37"/>
          <p:cNvSpPr/>
          <p:nvPr/>
        </p:nvSpPr>
        <p:spPr>
          <a:xfrm>
            <a:off x="2903101" y="5112068"/>
            <a:ext cx="2892862"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K-Nearest Neighbors</a:t>
            </a:r>
            <a:endParaRPr lang="en-US" sz="1300" dirty="0">
              <a:latin typeface="Times New Roman" panose="02020603050405020304" pitchFamily="18" charset="0"/>
              <a:cs typeface="Times New Roman" panose="02020603050405020304" pitchFamily="18" charset="0"/>
            </a:endParaRPr>
          </a:p>
        </p:txBody>
      </p:sp>
      <p:sp>
        <p:nvSpPr>
          <p:cNvPr id="40" name="Text 38"/>
          <p:cNvSpPr/>
          <p:nvPr/>
        </p:nvSpPr>
        <p:spPr>
          <a:xfrm>
            <a:off x="6137910" y="5112068"/>
            <a:ext cx="2379226"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0.62918</a:t>
            </a:r>
            <a:endParaRPr lang="en-US" sz="1300" dirty="0">
              <a:latin typeface="Times New Roman" panose="02020603050405020304" pitchFamily="18" charset="0"/>
              <a:cs typeface="Times New Roman" panose="02020603050405020304" pitchFamily="18" charset="0"/>
            </a:endParaRPr>
          </a:p>
        </p:txBody>
      </p:sp>
      <p:sp>
        <p:nvSpPr>
          <p:cNvPr id="41" name="Text 39"/>
          <p:cNvSpPr/>
          <p:nvPr/>
        </p:nvSpPr>
        <p:spPr>
          <a:xfrm>
            <a:off x="8859083" y="5112068"/>
            <a:ext cx="2399347"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0.8602</a:t>
            </a:r>
            <a:endParaRPr lang="en-US" sz="1300" dirty="0">
              <a:latin typeface="Times New Roman" panose="02020603050405020304" pitchFamily="18" charset="0"/>
              <a:cs typeface="Times New Roman" panose="02020603050405020304" pitchFamily="18" charset="0"/>
            </a:endParaRPr>
          </a:p>
        </p:txBody>
      </p:sp>
      <p:sp>
        <p:nvSpPr>
          <p:cNvPr id="42" name="Text 40"/>
          <p:cNvSpPr/>
          <p:nvPr/>
        </p:nvSpPr>
        <p:spPr>
          <a:xfrm>
            <a:off x="11600378" y="5112068"/>
            <a:ext cx="2270046" cy="267653"/>
          </a:xfrm>
          <a:prstGeom prst="rect">
            <a:avLst/>
          </a:prstGeom>
          <a:noFill/>
          <a:ln/>
        </p:spPr>
        <p:txBody>
          <a:bodyPr wrap="none" lIns="0" tIns="0" rIns="0" bIns="0" rtlCol="0" anchor="t"/>
          <a:lstStyle/>
          <a:p>
            <a:pPr marL="0" indent="0" algn="l">
              <a:lnSpc>
                <a:spcPts val="2100"/>
              </a:lnSpc>
              <a:buNone/>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0.71291</a:t>
            </a:r>
            <a:endParaRPr lang="en-US" sz="1300" dirty="0">
              <a:latin typeface="Times New Roman" panose="02020603050405020304" pitchFamily="18" charset="0"/>
              <a:cs typeface="Times New Roman" panose="02020603050405020304" pitchFamily="18" charset="0"/>
            </a:endParaRPr>
          </a:p>
        </p:txBody>
      </p:sp>
      <p:sp>
        <p:nvSpPr>
          <p:cNvPr id="43" name="Text 41"/>
          <p:cNvSpPr/>
          <p:nvPr/>
        </p:nvSpPr>
        <p:spPr>
          <a:xfrm>
            <a:off x="585192" y="5683329"/>
            <a:ext cx="13460016" cy="267653"/>
          </a:xfrm>
          <a:prstGeom prst="rect">
            <a:avLst/>
          </a:prstGeom>
          <a:noFill/>
          <a:ln/>
        </p:spPr>
        <p:txBody>
          <a:bodyPr wrap="none" lIns="0" tIns="0" rIns="0" bIns="0" rtlCol="0" anchor="t"/>
          <a:lstStyle/>
          <a:p>
            <a:pPr marL="0" indent="0" algn="l">
              <a:lnSpc>
                <a:spcPts val="2100"/>
              </a:lnSpc>
              <a:buNone/>
            </a:pPr>
            <a:r>
              <a:rPr lang="en-US" sz="1300" b="1" dirty="0">
                <a:solidFill>
                  <a:srgbClr val="E5DCE6"/>
                </a:solidFill>
                <a:latin typeface="Times New Roman" panose="02020603050405020304" pitchFamily="18" charset="0"/>
                <a:ea typeface="Montserrat" pitchFamily="34" charset="-122"/>
                <a:cs typeface="Times New Roman" panose="02020603050405020304" pitchFamily="18" charset="0"/>
              </a:rPr>
              <a:t>Phân tích kết quả:</a:t>
            </a:r>
            <a:endParaRPr lang="en-US" sz="1300" dirty="0">
              <a:latin typeface="Times New Roman" panose="02020603050405020304" pitchFamily="18" charset="0"/>
              <a:cs typeface="Times New Roman" panose="02020603050405020304" pitchFamily="18" charset="0"/>
            </a:endParaRPr>
          </a:p>
        </p:txBody>
      </p:sp>
      <p:sp>
        <p:nvSpPr>
          <p:cNvPr id="44" name="Text 42"/>
          <p:cNvSpPr/>
          <p:nvPr/>
        </p:nvSpPr>
        <p:spPr>
          <a:xfrm>
            <a:off x="585192" y="6139101"/>
            <a:ext cx="13460016" cy="267653"/>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Logistic Regression đạt hiệu suất cao nhất (76.56%) trong số các mô hình baseline</a:t>
            </a:r>
            <a:endParaRPr lang="en-US" sz="1300" dirty="0">
              <a:latin typeface="Times New Roman" panose="02020603050405020304" pitchFamily="18" charset="0"/>
              <a:cs typeface="Times New Roman" panose="02020603050405020304" pitchFamily="18" charset="0"/>
            </a:endParaRPr>
          </a:p>
        </p:txBody>
      </p:sp>
      <p:sp>
        <p:nvSpPr>
          <p:cNvPr id="45" name="Text 43"/>
          <p:cNvSpPr/>
          <p:nvPr/>
        </p:nvSpPr>
        <p:spPr>
          <a:xfrm>
            <a:off x="585192" y="6465213"/>
            <a:ext cx="13460016" cy="267653"/>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Random Forest và XGBoost cũng cho kết quả khá tốt (71-75%)</a:t>
            </a:r>
            <a:endParaRPr lang="en-US" sz="1300" dirty="0">
              <a:latin typeface="Times New Roman" panose="02020603050405020304" pitchFamily="18" charset="0"/>
              <a:cs typeface="Times New Roman" panose="02020603050405020304" pitchFamily="18" charset="0"/>
            </a:endParaRPr>
          </a:p>
        </p:txBody>
      </p:sp>
      <p:sp>
        <p:nvSpPr>
          <p:cNvPr id="46" name="Text 44"/>
          <p:cNvSpPr/>
          <p:nvPr/>
        </p:nvSpPr>
        <p:spPr>
          <a:xfrm>
            <a:off x="585192" y="6791325"/>
            <a:ext cx="13460016" cy="267653"/>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SVM và KNN có hiệu suất thấp hơn trên tập đặc trưng gốc</a:t>
            </a:r>
            <a:endParaRPr lang="en-US" sz="1300" dirty="0">
              <a:latin typeface="Times New Roman" panose="02020603050405020304" pitchFamily="18" charset="0"/>
              <a:cs typeface="Times New Roman" panose="02020603050405020304" pitchFamily="18" charset="0"/>
            </a:endParaRPr>
          </a:p>
        </p:txBody>
      </p:sp>
      <p:sp>
        <p:nvSpPr>
          <p:cNvPr id="47" name="Text 45"/>
          <p:cNvSpPr/>
          <p:nvPr/>
        </p:nvSpPr>
        <p:spPr>
          <a:xfrm>
            <a:off x="585192" y="7247096"/>
            <a:ext cx="13460016" cy="535305"/>
          </a:xfrm>
          <a:prstGeom prst="rect">
            <a:avLst/>
          </a:prstGeom>
          <a:noFill/>
          <a:ln/>
        </p:spPr>
        <p:txBody>
          <a:bodyPr wrap="square" lIns="0" tIns="0" rIns="0" bIns="0" rtlCol="0" anchor="t"/>
          <a:lstStyle/>
          <a:p>
            <a:pPr marL="0" indent="0" algn="l">
              <a:lnSpc>
                <a:spcPts val="2100"/>
              </a:lnSpc>
              <a:buNone/>
            </a:pPr>
            <a:r>
              <a:rPr lang="en-US" sz="1300" b="1" dirty="0">
                <a:solidFill>
                  <a:srgbClr val="E5DCE6"/>
                </a:solidFill>
                <a:latin typeface="Times New Roman" panose="02020603050405020304" pitchFamily="18" charset="0"/>
                <a:ea typeface="Montserrat" pitchFamily="34" charset="-122"/>
                <a:cs typeface="Times New Roman" panose="02020603050405020304" pitchFamily="18" charset="0"/>
              </a:rPr>
              <a:t>Kết luận:</a:t>
            </a:r>
            <a:r>
              <a:rPr lang="en-US" sz="1300" dirty="0">
                <a:solidFill>
                  <a:srgbClr val="E5DCE6"/>
                </a:solidFill>
                <a:latin typeface="Times New Roman" panose="02020603050405020304" pitchFamily="18" charset="0"/>
                <a:ea typeface="Montserrat" pitchFamily="34" charset="-122"/>
                <a:cs typeface="Times New Roman" panose="02020603050405020304" pitchFamily="18" charset="0"/>
              </a:rPr>
              <a:t> Ở giai đoạn đặc trưng cơ bản, Logistic Regression cho hiệu suất ổn định và là mô hình nền tảng tốt để so sánh với các thử nghiệm có tạo đặc trưng mới.</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3639" y="543520"/>
            <a:ext cx="6931819" cy="388263"/>
          </a:xfrm>
          <a:prstGeom prst="rect">
            <a:avLst/>
          </a:prstGeom>
          <a:noFill/>
          <a:ln/>
        </p:spPr>
        <p:txBody>
          <a:bodyPr wrap="none" lIns="0" tIns="0" rIns="0" bIns="0" rtlCol="0" anchor="t"/>
          <a:lstStyle/>
          <a:p>
            <a:pPr marL="0" indent="0" algn="l">
              <a:lnSpc>
                <a:spcPts val="3050"/>
              </a:lnSpc>
              <a:buNone/>
            </a:pPr>
            <a:r>
              <a:rPr lang="en-US" sz="24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THÍ NGHIỆM 2: BASIC FEATURE ENGINEERING</a:t>
            </a:r>
            <a:endParaRPr lang="en-US" sz="2400" dirty="0">
              <a:latin typeface="Times New Roman" panose="02020603050405020304" pitchFamily="18" charset="0"/>
              <a:cs typeface="Times New Roman" panose="02020603050405020304" pitchFamily="18" charset="0"/>
            </a:endParaRPr>
          </a:p>
        </p:txBody>
      </p:sp>
      <p:sp>
        <p:nvSpPr>
          <p:cNvPr id="3" name="Text 1"/>
          <p:cNvSpPr/>
          <p:nvPr/>
        </p:nvSpPr>
        <p:spPr>
          <a:xfrm>
            <a:off x="543639" y="1242417"/>
            <a:ext cx="13543121" cy="248603"/>
          </a:xfrm>
          <a:prstGeom prst="rect">
            <a:avLst/>
          </a:prstGeom>
          <a:noFill/>
          <a:ln/>
        </p:spPr>
        <p:txBody>
          <a:bodyPr wrap="none" lIns="0" tIns="0" rIns="0" bIns="0" rtlCol="0" anchor="t"/>
          <a:lstStyle/>
          <a:p>
            <a:pPr marL="0" indent="0" algn="l">
              <a:lnSpc>
                <a:spcPts val="1950"/>
              </a:lnSpc>
              <a:buNone/>
            </a:pPr>
            <a:r>
              <a:rPr lang="en-US" sz="1200" b="1" dirty="0">
                <a:solidFill>
                  <a:srgbClr val="E5DCE6"/>
                </a:solidFill>
                <a:latin typeface="Times New Roman" panose="02020603050405020304" pitchFamily="18" charset="0"/>
                <a:ea typeface="Montserrat" pitchFamily="34" charset="-122"/>
                <a:cs typeface="Times New Roman" panose="02020603050405020304" pitchFamily="18" charset="0"/>
              </a:rPr>
              <a:t>Mục tiêu:</a:t>
            </a: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 Kiểm tra tác động của Feature Engineering đơn giản</a:t>
            </a:r>
            <a:endParaRPr lang="en-US" sz="1200" dirty="0">
              <a:latin typeface="Times New Roman" panose="02020603050405020304" pitchFamily="18" charset="0"/>
              <a:cs typeface="Times New Roman" panose="02020603050405020304" pitchFamily="18" charset="0"/>
            </a:endParaRPr>
          </a:p>
        </p:txBody>
      </p:sp>
      <p:sp>
        <p:nvSpPr>
          <p:cNvPr id="4" name="Text 2"/>
          <p:cNvSpPr/>
          <p:nvPr/>
        </p:nvSpPr>
        <p:spPr>
          <a:xfrm>
            <a:off x="543639" y="1665684"/>
            <a:ext cx="13543121" cy="248603"/>
          </a:xfrm>
          <a:prstGeom prst="rect">
            <a:avLst/>
          </a:prstGeom>
          <a:noFill/>
          <a:ln/>
        </p:spPr>
        <p:txBody>
          <a:bodyPr wrap="none" lIns="0" tIns="0" rIns="0" bIns="0" rtlCol="0" anchor="t"/>
          <a:lstStyle/>
          <a:p>
            <a:pPr marL="0" indent="0" algn="l">
              <a:lnSpc>
                <a:spcPts val="1950"/>
              </a:lnSpc>
              <a:buNone/>
            </a:pPr>
            <a:r>
              <a:rPr lang="en-US" sz="1200" b="1" dirty="0">
                <a:solidFill>
                  <a:srgbClr val="E5DCE6"/>
                </a:solidFill>
                <a:latin typeface="Times New Roman" panose="02020603050405020304" pitchFamily="18" charset="0"/>
                <a:ea typeface="Montserrat" pitchFamily="34" charset="-122"/>
                <a:cs typeface="Times New Roman" panose="02020603050405020304" pitchFamily="18" charset="0"/>
              </a:rPr>
              <a:t>Features sử dụng:</a:t>
            </a: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 Thêm Title và FamilySize vào tập đặc trưng gốc ['Pclass', 'Sex', 'Age', 'SibSp', 'Parch', 'FamilySize', 'Fare', 'Embarked', 'Title'] (9 đặc trưng)</a:t>
            </a:r>
            <a:endParaRPr lang="en-US" sz="1200" dirty="0">
              <a:latin typeface="Times New Roman" panose="02020603050405020304" pitchFamily="18" charset="0"/>
              <a:cs typeface="Times New Roman" panose="02020603050405020304" pitchFamily="18" charset="0"/>
            </a:endParaRPr>
          </a:p>
        </p:txBody>
      </p:sp>
      <p:sp>
        <p:nvSpPr>
          <p:cNvPr id="5" name="Text 3"/>
          <p:cNvSpPr/>
          <p:nvPr/>
        </p:nvSpPr>
        <p:spPr>
          <a:xfrm>
            <a:off x="543639" y="2147292"/>
            <a:ext cx="2330172" cy="291227"/>
          </a:xfrm>
          <a:prstGeom prst="rect">
            <a:avLst/>
          </a:prstGeom>
          <a:noFill/>
          <a:ln/>
        </p:spPr>
        <p:txBody>
          <a:bodyPr wrap="none" lIns="0" tIns="0" rIns="0" bIns="0" rtlCol="0" anchor="t"/>
          <a:lstStyle/>
          <a:p>
            <a:pPr marL="0" indent="0" algn="l">
              <a:lnSpc>
                <a:spcPts val="2250"/>
              </a:lnSpc>
              <a:buNone/>
            </a:pPr>
            <a:r>
              <a:rPr lang="en-US" sz="18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Kết quả thí nghiệm:</a:t>
            </a:r>
            <a:endParaRPr lang="en-US" sz="1800" dirty="0">
              <a:latin typeface="Times New Roman" panose="02020603050405020304" pitchFamily="18" charset="0"/>
              <a:cs typeface="Times New Roman" panose="02020603050405020304" pitchFamily="18" charset="0"/>
            </a:endParaRPr>
          </a:p>
        </p:txBody>
      </p:sp>
      <p:sp>
        <p:nvSpPr>
          <p:cNvPr id="6" name="Shape 4"/>
          <p:cNvSpPr/>
          <p:nvPr/>
        </p:nvSpPr>
        <p:spPr>
          <a:xfrm>
            <a:off x="543639" y="2846189"/>
            <a:ext cx="13543121" cy="2715578"/>
          </a:xfrm>
          <a:prstGeom prst="roundRect">
            <a:avLst>
              <a:gd name="adj" fmla="val 2403"/>
            </a:avLst>
          </a:prstGeom>
          <a:noFill/>
          <a:ln w="7620">
            <a:solidFill>
              <a:srgbClr val="FFFFFF">
                <a:alpha val="24000"/>
              </a:srgbClr>
            </a:solidFill>
            <a:prstDash val="solid"/>
          </a:ln>
        </p:spPr>
      </p:sp>
      <p:sp>
        <p:nvSpPr>
          <p:cNvPr id="7" name="Shape 5"/>
          <p:cNvSpPr/>
          <p:nvPr/>
        </p:nvSpPr>
        <p:spPr>
          <a:xfrm>
            <a:off x="551259" y="2853809"/>
            <a:ext cx="13527881" cy="450056"/>
          </a:xfrm>
          <a:prstGeom prst="rect">
            <a:avLst/>
          </a:prstGeom>
          <a:solidFill>
            <a:srgbClr val="FFFFFF">
              <a:alpha val="4000"/>
            </a:srgbClr>
          </a:solidFill>
          <a:ln/>
        </p:spPr>
      </p:sp>
      <p:sp>
        <p:nvSpPr>
          <p:cNvPr id="8" name="Text 6"/>
          <p:cNvSpPr/>
          <p:nvPr/>
        </p:nvSpPr>
        <p:spPr>
          <a:xfrm>
            <a:off x="706755" y="2954536"/>
            <a:ext cx="1973223"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Method</a:t>
            </a:r>
            <a:endParaRPr lang="en-US" sz="1200" dirty="0">
              <a:latin typeface="Times New Roman" panose="02020603050405020304" pitchFamily="18" charset="0"/>
              <a:cs typeface="Times New Roman" panose="02020603050405020304" pitchFamily="18" charset="0"/>
            </a:endParaRPr>
          </a:p>
        </p:txBody>
      </p:sp>
      <p:sp>
        <p:nvSpPr>
          <p:cNvPr id="9" name="Text 7"/>
          <p:cNvSpPr/>
          <p:nvPr/>
        </p:nvSpPr>
        <p:spPr>
          <a:xfrm>
            <a:off x="2998113" y="2954536"/>
            <a:ext cx="2663309"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Model</a:t>
            </a:r>
            <a:endParaRPr lang="en-US" sz="1200" dirty="0">
              <a:latin typeface="Times New Roman" panose="02020603050405020304" pitchFamily="18" charset="0"/>
              <a:cs typeface="Times New Roman" panose="02020603050405020304" pitchFamily="18" charset="0"/>
            </a:endParaRPr>
          </a:p>
        </p:txBody>
      </p:sp>
      <p:sp>
        <p:nvSpPr>
          <p:cNvPr id="10" name="Text 8"/>
          <p:cNvSpPr/>
          <p:nvPr/>
        </p:nvSpPr>
        <p:spPr>
          <a:xfrm>
            <a:off x="5979557" y="2954536"/>
            <a:ext cx="2160151"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CV_Acc</a:t>
            </a:r>
            <a:endParaRPr lang="en-US" sz="1200" dirty="0">
              <a:latin typeface="Times New Roman" panose="02020603050405020304" pitchFamily="18" charset="0"/>
              <a:cs typeface="Times New Roman" panose="02020603050405020304" pitchFamily="18" charset="0"/>
            </a:endParaRPr>
          </a:p>
        </p:txBody>
      </p:sp>
      <p:sp>
        <p:nvSpPr>
          <p:cNvPr id="11" name="Text 9"/>
          <p:cNvSpPr/>
          <p:nvPr/>
        </p:nvSpPr>
        <p:spPr>
          <a:xfrm>
            <a:off x="8457843" y="2954536"/>
            <a:ext cx="2538889"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CV_ROC</a:t>
            </a:r>
            <a:endParaRPr lang="en-US" sz="1200" dirty="0">
              <a:latin typeface="Times New Roman" panose="02020603050405020304" pitchFamily="18" charset="0"/>
              <a:cs typeface="Times New Roman" panose="02020603050405020304" pitchFamily="18" charset="0"/>
            </a:endParaRPr>
          </a:p>
        </p:txBody>
      </p:sp>
      <p:sp>
        <p:nvSpPr>
          <p:cNvPr id="12" name="Text 10"/>
          <p:cNvSpPr/>
          <p:nvPr/>
        </p:nvSpPr>
        <p:spPr>
          <a:xfrm>
            <a:off x="11314867" y="2954536"/>
            <a:ext cx="2609017"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Public_Score</a:t>
            </a:r>
            <a:endParaRPr lang="en-US" sz="1200" dirty="0">
              <a:latin typeface="Times New Roman" panose="02020603050405020304" pitchFamily="18" charset="0"/>
              <a:cs typeface="Times New Roman" panose="02020603050405020304" pitchFamily="18" charset="0"/>
            </a:endParaRPr>
          </a:p>
        </p:txBody>
      </p:sp>
      <p:sp>
        <p:nvSpPr>
          <p:cNvPr id="13" name="Shape 11"/>
          <p:cNvSpPr/>
          <p:nvPr/>
        </p:nvSpPr>
        <p:spPr>
          <a:xfrm>
            <a:off x="551259" y="3303865"/>
            <a:ext cx="13527881" cy="450056"/>
          </a:xfrm>
          <a:prstGeom prst="rect">
            <a:avLst/>
          </a:prstGeom>
          <a:solidFill>
            <a:srgbClr val="000000">
              <a:alpha val="4000"/>
            </a:srgbClr>
          </a:solidFill>
          <a:ln/>
        </p:spPr>
      </p:sp>
      <p:sp>
        <p:nvSpPr>
          <p:cNvPr id="14" name="Text 12"/>
          <p:cNvSpPr/>
          <p:nvPr/>
        </p:nvSpPr>
        <p:spPr>
          <a:xfrm>
            <a:off x="706755" y="3404592"/>
            <a:ext cx="1973223" cy="248603"/>
          </a:xfrm>
          <a:prstGeom prst="rect">
            <a:avLst/>
          </a:prstGeom>
          <a:noFill/>
          <a:ln/>
        </p:spPr>
        <p:txBody>
          <a:bodyPr wrap="none" lIns="0" tIns="0" rIns="0" bIns="0" rtlCol="0" anchor="t"/>
          <a:lstStyle/>
          <a:p>
            <a:pPr marL="0" indent="0" algn="l">
              <a:lnSpc>
                <a:spcPts val="1950"/>
              </a:lnSpc>
              <a:buNone/>
            </a:pPr>
            <a:r>
              <a:rPr lang="en-US" sz="1200" b="1" dirty="0">
                <a:solidFill>
                  <a:srgbClr val="E5DCE6"/>
                </a:solidFill>
                <a:latin typeface="Times New Roman" panose="02020603050405020304" pitchFamily="18" charset="0"/>
                <a:ea typeface="Montserrat" pitchFamily="34" charset="-122"/>
                <a:cs typeface="Times New Roman" panose="02020603050405020304" pitchFamily="18" charset="0"/>
              </a:rPr>
              <a:t>1</a:t>
            </a:r>
            <a:endParaRPr lang="en-US" sz="1200" dirty="0">
              <a:latin typeface="Times New Roman" panose="02020603050405020304" pitchFamily="18" charset="0"/>
              <a:cs typeface="Times New Roman" panose="02020603050405020304" pitchFamily="18" charset="0"/>
            </a:endParaRPr>
          </a:p>
        </p:txBody>
      </p:sp>
      <p:sp>
        <p:nvSpPr>
          <p:cNvPr id="15" name="Text 13"/>
          <p:cNvSpPr/>
          <p:nvPr/>
        </p:nvSpPr>
        <p:spPr>
          <a:xfrm>
            <a:off x="2998113" y="3404592"/>
            <a:ext cx="2663309" cy="248603"/>
          </a:xfrm>
          <a:prstGeom prst="rect">
            <a:avLst/>
          </a:prstGeom>
          <a:noFill/>
          <a:ln/>
        </p:spPr>
        <p:txBody>
          <a:bodyPr wrap="none" lIns="0" tIns="0" rIns="0" bIns="0" rtlCol="0" anchor="t"/>
          <a:lstStyle/>
          <a:p>
            <a:pPr marL="0" indent="0" algn="l">
              <a:lnSpc>
                <a:spcPts val="1950"/>
              </a:lnSpc>
              <a:buNone/>
            </a:pPr>
            <a:r>
              <a:rPr lang="en-US" sz="1200" b="1" dirty="0">
                <a:solidFill>
                  <a:srgbClr val="E5DCE6"/>
                </a:solidFill>
                <a:latin typeface="Times New Roman" panose="02020603050405020304" pitchFamily="18" charset="0"/>
                <a:ea typeface="Montserrat" pitchFamily="34" charset="-122"/>
                <a:cs typeface="Times New Roman" panose="02020603050405020304" pitchFamily="18" charset="0"/>
              </a:rPr>
              <a:t>Logistic Regression</a:t>
            </a:r>
            <a:endParaRPr lang="en-US" sz="1200" dirty="0">
              <a:latin typeface="Times New Roman" panose="02020603050405020304" pitchFamily="18" charset="0"/>
              <a:cs typeface="Times New Roman" panose="02020603050405020304" pitchFamily="18" charset="0"/>
            </a:endParaRPr>
          </a:p>
        </p:txBody>
      </p:sp>
      <p:sp>
        <p:nvSpPr>
          <p:cNvPr id="16" name="Text 14"/>
          <p:cNvSpPr/>
          <p:nvPr/>
        </p:nvSpPr>
        <p:spPr>
          <a:xfrm>
            <a:off x="5979557" y="3404592"/>
            <a:ext cx="2160151" cy="248603"/>
          </a:xfrm>
          <a:prstGeom prst="rect">
            <a:avLst/>
          </a:prstGeom>
          <a:noFill/>
          <a:ln/>
        </p:spPr>
        <p:txBody>
          <a:bodyPr wrap="none" lIns="0" tIns="0" rIns="0" bIns="0" rtlCol="0" anchor="t"/>
          <a:lstStyle/>
          <a:p>
            <a:pPr marL="0" indent="0" algn="l">
              <a:lnSpc>
                <a:spcPts val="1950"/>
              </a:lnSpc>
              <a:buNone/>
            </a:pPr>
            <a:r>
              <a:rPr lang="en-US" sz="1200" b="1" dirty="0">
                <a:solidFill>
                  <a:srgbClr val="E5DCE6"/>
                </a:solidFill>
                <a:latin typeface="Times New Roman" panose="02020603050405020304" pitchFamily="18" charset="0"/>
                <a:ea typeface="Montserrat" pitchFamily="34" charset="-122"/>
                <a:cs typeface="Times New Roman" panose="02020603050405020304" pitchFamily="18" charset="0"/>
              </a:rPr>
              <a:t>0.8272</a:t>
            </a:r>
            <a:endParaRPr lang="en-US" sz="1200" dirty="0">
              <a:latin typeface="Times New Roman" panose="02020603050405020304" pitchFamily="18" charset="0"/>
              <a:cs typeface="Times New Roman" panose="02020603050405020304" pitchFamily="18" charset="0"/>
            </a:endParaRPr>
          </a:p>
        </p:txBody>
      </p:sp>
      <p:sp>
        <p:nvSpPr>
          <p:cNvPr id="17" name="Text 15"/>
          <p:cNvSpPr/>
          <p:nvPr/>
        </p:nvSpPr>
        <p:spPr>
          <a:xfrm>
            <a:off x="8457843" y="3404592"/>
            <a:ext cx="2538889" cy="248603"/>
          </a:xfrm>
          <a:prstGeom prst="rect">
            <a:avLst/>
          </a:prstGeom>
          <a:noFill/>
          <a:ln/>
        </p:spPr>
        <p:txBody>
          <a:bodyPr wrap="none" lIns="0" tIns="0" rIns="0" bIns="0" rtlCol="0" anchor="t"/>
          <a:lstStyle/>
          <a:p>
            <a:pPr marL="0" indent="0" algn="l">
              <a:lnSpc>
                <a:spcPts val="1950"/>
              </a:lnSpc>
              <a:buNone/>
            </a:pPr>
            <a:r>
              <a:rPr lang="en-US" sz="1200" b="1" dirty="0">
                <a:solidFill>
                  <a:srgbClr val="E5DCE6"/>
                </a:solidFill>
                <a:latin typeface="Times New Roman" panose="02020603050405020304" pitchFamily="18" charset="0"/>
                <a:ea typeface="Montserrat" pitchFamily="34" charset="-122"/>
                <a:cs typeface="Times New Roman" panose="02020603050405020304" pitchFamily="18" charset="0"/>
              </a:rPr>
              <a:t>0.8677</a:t>
            </a:r>
            <a:endParaRPr lang="en-US" sz="1200" dirty="0">
              <a:latin typeface="Times New Roman" panose="02020603050405020304" pitchFamily="18" charset="0"/>
              <a:cs typeface="Times New Roman" panose="02020603050405020304" pitchFamily="18" charset="0"/>
            </a:endParaRPr>
          </a:p>
        </p:txBody>
      </p:sp>
      <p:sp>
        <p:nvSpPr>
          <p:cNvPr id="18" name="Text 16"/>
          <p:cNvSpPr/>
          <p:nvPr/>
        </p:nvSpPr>
        <p:spPr>
          <a:xfrm>
            <a:off x="11314867" y="3404592"/>
            <a:ext cx="2609017" cy="248603"/>
          </a:xfrm>
          <a:prstGeom prst="rect">
            <a:avLst/>
          </a:prstGeom>
          <a:noFill/>
          <a:ln/>
        </p:spPr>
        <p:txBody>
          <a:bodyPr wrap="none" lIns="0" tIns="0" rIns="0" bIns="0" rtlCol="0" anchor="t"/>
          <a:lstStyle/>
          <a:p>
            <a:pPr marL="0" indent="0" algn="l">
              <a:lnSpc>
                <a:spcPts val="1950"/>
              </a:lnSpc>
              <a:buNone/>
            </a:pPr>
            <a:r>
              <a:rPr lang="en-US" sz="1200" b="1" dirty="0">
                <a:solidFill>
                  <a:srgbClr val="E5DCE6"/>
                </a:solidFill>
                <a:latin typeface="Times New Roman" panose="02020603050405020304" pitchFamily="18" charset="0"/>
                <a:ea typeface="Montserrat" pitchFamily="34" charset="-122"/>
                <a:cs typeface="Times New Roman" panose="02020603050405020304" pitchFamily="18" charset="0"/>
              </a:rPr>
              <a:t>0.7823</a:t>
            </a:r>
            <a:endParaRPr lang="en-US" sz="1200" dirty="0">
              <a:latin typeface="Times New Roman" panose="02020603050405020304" pitchFamily="18" charset="0"/>
              <a:cs typeface="Times New Roman" panose="02020603050405020304" pitchFamily="18" charset="0"/>
            </a:endParaRPr>
          </a:p>
        </p:txBody>
      </p:sp>
      <p:sp>
        <p:nvSpPr>
          <p:cNvPr id="19" name="Shape 17"/>
          <p:cNvSpPr/>
          <p:nvPr/>
        </p:nvSpPr>
        <p:spPr>
          <a:xfrm>
            <a:off x="551259" y="3753922"/>
            <a:ext cx="13527881" cy="450056"/>
          </a:xfrm>
          <a:prstGeom prst="rect">
            <a:avLst/>
          </a:prstGeom>
          <a:solidFill>
            <a:srgbClr val="FFFFFF">
              <a:alpha val="4000"/>
            </a:srgbClr>
          </a:solidFill>
          <a:ln/>
        </p:spPr>
      </p:sp>
      <p:sp>
        <p:nvSpPr>
          <p:cNvPr id="20" name="Text 18"/>
          <p:cNvSpPr/>
          <p:nvPr/>
        </p:nvSpPr>
        <p:spPr>
          <a:xfrm>
            <a:off x="706755" y="3854648"/>
            <a:ext cx="1973223"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2</a:t>
            </a:r>
            <a:endParaRPr lang="en-US" sz="1200" dirty="0">
              <a:latin typeface="Times New Roman" panose="02020603050405020304" pitchFamily="18" charset="0"/>
              <a:cs typeface="Times New Roman" panose="02020603050405020304" pitchFamily="18" charset="0"/>
            </a:endParaRPr>
          </a:p>
        </p:txBody>
      </p:sp>
      <p:sp>
        <p:nvSpPr>
          <p:cNvPr id="21" name="Text 19"/>
          <p:cNvSpPr/>
          <p:nvPr/>
        </p:nvSpPr>
        <p:spPr>
          <a:xfrm>
            <a:off x="2998113" y="3854648"/>
            <a:ext cx="2663309"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Random Forest</a:t>
            </a:r>
            <a:endParaRPr lang="en-US" sz="1200" dirty="0">
              <a:latin typeface="Times New Roman" panose="02020603050405020304" pitchFamily="18" charset="0"/>
              <a:cs typeface="Times New Roman" panose="02020603050405020304" pitchFamily="18" charset="0"/>
            </a:endParaRPr>
          </a:p>
        </p:txBody>
      </p:sp>
      <p:sp>
        <p:nvSpPr>
          <p:cNvPr id="22" name="Text 20"/>
          <p:cNvSpPr/>
          <p:nvPr/>
        </p:nvSpPr>
        <p:spPr>
          <a:xfrm>
            <a:off x="5979557" y="3854648"/>
            <a:ext cx="2160151"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0.8193</a:t>
            </a:r>
            <a:endParaRPr lang="en-US" sz="1200" dirty="0">
              <a:latin typeface="Times New Roman" panose="02020603050405020304" pitchFamily="18" charset="0"/>
              <a:cs typeface="Times New Roman" panose="02020603050405020304" pitchFamily="18" charset="0"/>
            </a:endParaRPr>
          </a:p>
        </p:txBody>
      </p:sp>
      <p:sp>
        <p:nvSpPr>
          <p:cNvPr id="23" name="Text 21"/>
          <p:cNvSpPr/>
          <p:nvPr/>
        </p:nvSpPr>
        <p:spPr>
          <a:xfrm>
            <a:off x="8457843" y="3854648"/>
            <a:ext cx="2538889"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0.8727</a:t>
            </a:r>
            <a:endParaRPr lang="en-US" sz="1200" dirty="0">
              <a:latin typeface="Times New Roman" panose="02020603050405020304" pitchFamily="18" charset="0"/>
              <a:cs typeface="Times New Roman" panose="02020603050405020304" pitchFamily="18" charset="0"/>
            </a:endParaRPr>
          </a:p>
        </p:txBody>
      </p:sp>
      <p:sp>
        <p:nvSpPr>
          <p:cNvPr id="24" name="Text 22"/>
          <p:cNvSpPr/>
          <p:nvPr/>
        </p:nvSpPr>
        <p:spPr>
          <a:xfrm>
            <a:off x="11314867" y="3854648"/>
            <a:ext cx="2609017"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0.78229</a:t>
            </a:r>
            <a:endParaRPr lang="en-US" sz="1200" dirty="0">
              <a:latin typeface="Times New Roman" panose="02020603050405020304" pitchFamily="18" charset="0"/>
              <a:cs typeface="Times New Roman" panose="02020603050405020304" pitchFamily="18" charset="0"/>
            </a:endParaRPr>
          </a:p>
        </p:txBody>
      </p:sp>
      <p:sp>
        <p:nvSpPr>
          <p:cNvPr id="25" name="Shape 23"/>
          <p:cNvSpPr/>
          <p:nvPr/>
        </p:nvSpPr>
        <p:spPr>
          <a:xfrm>
            <a:off x="551259" y="4203978"/>
            <a:ext cx="13527881" cy="450056"/>
          </a:xfrm>
          <a:prstGeom prst="rect">
            <a:avLst/>
          </a:prstGeom>
          <a:solidFill>
            <a:srgbClr val="000000">
              <a:alpha val="4000"/>
            </a:srgbClr>
          </a:solidFill>
          <a:ln/>
        </p:spPr>
      </p:sp>
      <p:sp>
        <p:nvSpPr>
          <p:cNvPr id="26" name="Text 24"/>
          <p:cNvSpPr/>
          <p:nvPr/>
        </p:nvSpPr>
        <p:spPr>
          <a:xfrm>
            <a:off x="706755" y="4304705"/>
            <a:ext cx="1973223"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3</a:t>
            </a:r>
            <a:endParaRPr lang="en-US" sz="1200" dirty="0">
              <a:latin typeface="Times New Roman" panose="02020603050405020304" pitchFamily="18" charset="0"/>
              <a:cs typeface="Times New Roman" panose="02020603050405020304" pitchFamily="18" charset="0"/>
            </a:endParaRPr>
          </a:p>
        </p:txBody>
      </p:sp>
      <p:sp>
        <p:nvSpPr>
          <p:cNvPr id="27" name="Text 25"/>
          <p:cNvSpPr/>
          <p:nvPr/>
        </p:nvSpPr>
        <p:spPr>
          <a:xfrm>
            <a:off x="2998113" y="4304705"/>
            <a:ext cx="2663309"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XGBoost</a:t>
            </a:r>
            <a:endParaRPr lang="en-US" sz="1200" dirty="0">
              <a:latin typeface="Times New Roman" panose="02020603050405020304" pitchFamily="18" charset="0"/>
              <a:cs typeface="Times New Roman" panose="02020603050405020304" pitchFamily="18" charset="0"/>
            </a:endParaRPr>
          </a:p>
        </p:txBody>
      </p:sp>
      <p:sp>
        <p:nvSpPr>
          <p:cNvPr id="28" name="Text 26"/>
          <p:cNvSpPr/>
          <p:nvPr/>
        </p:nvSpPr>
        <p:spPr>
          <a:xfrm>
            <a:off x="5979557" y="4304705"/>
            <a:ext cx="2160151"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0.8406</a:t>
            </a:r>
            <a:endParaRPr lang="en-US" sz="1200" dirty="0">
              <a:latin typeface="Times New Roman" panose="02020603050405020304" pitchFamily="18" charset="0"/>
              <a:cs typeface="Times New Roman" panose="02020603050405020304" pitchFamily="18" charset="0"/>
            </a:endParaRPr>
          </a:p>
        </p:txBody>
      </p:sp>
      <p:sp>
        <p:nvSpPr>
          <p:cNvPr id="29" name="Text 27"/>
          <p:cNvSpPr/>
          <p:nvPr/>
        </p:nvSpPr>
        <p:spPr>
          <a:xfrm>
            <a:off x="8457843" y="4304705"/>
            <a:ext cx="2538889"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0.8727</a:t>
            </a:r>
            <a:endParaRPr lang="en-US" sz="1200" dirty="0">
              <a:latin typeface="Times New Roman" panose="02020603050405020304" pitchFamily="18" charset="0"/>
              <a:cs typeface="Times New Roman" panose="02020603050405020304" pitchFamily="18" charset="0"/>
            </a:endParaRPr>
          </a:p>
        </p:txBody>
      </p:sp>
      <p:sp>
        <p:nvSpPr>
          <p:cNvPr id="30" name="Text 28"/>
          <p:cNvSpPr/>
          <p:nvPr/>
        </p:nvSpPr>
        <p:spPr>
          <a:xfrm>
            <a:off x="11314867" y="4304705"/>
            <a:ext cx="2609017"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0.6</a:t>
            </a:r>
            <a:endParaRPr lang="en-US" sz="1200" dirty="0">
              <a:latin typeface="Times New Roman" panose="02020603050405020304" pitchFamily="18" charset="0"/>
              <a:cs typeface="Times New Roman" panose="02020603050405020304" pitchFamily="18" charset="0"/>
            </a:endParaRPr>
          </a:p>
        </p:txBody>
      </p:sp>
      <p:sp>
        <p:nvSpPr>
          <p:cNvPr id="31" name="Shape 29"/>
          <p:cNvSpPr/>
          <p:nvPr/>
        </p:nvSpPr>
        <p:spPr>
          <a:xfrm>
            <a:off x="551259" y="4654034"/>
            <a:ext cx="13527881" cy="450056"/>
          </a:xfrm>
          <a:prstGeom prst="rect">
            <a:avLst/>
          </a:prstGeom>
          <a:solidFill>
            <a:srgbClr val="FFFFFF">
              <a:alpha val="4000"/>
            </a:srgbClr>
          </a:solidFill>
          <a:ln/>
        </p:spPr>
      </p:sp>
      <p:sp>
        <p:nvSpPr>
          <p:cNvPr id="32" name="Text 30"/>
          <p:cNvSpPr/>
          <p:nvPr/>
        </p:nvSpPr>
        <p:spPr>
          <a:xfrm>
            <a:off x="706755" y="4754761"/>
            <a:ext cx="1973223"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4</a:t>
            </a:r>
            <a:endParaRPr lang="en-US" sz="1200" dirty="0">
              <a:latin typeface="Times New Roman" panose="02020603050405020304" pitchFamily="18" charset="0"/>
              <a:cs typeface="Times New Roman" panose="02020603050405020304" pitchFamily="18" charset="0"/>
            </a:endParaRPr>
          </a:p>
        </p:txBody>
      </p:sp>
      <p:sp>
        <p:nvSpPr>
          <p:cNvPr id="33" name="Text 31"/>
          <p:cNvSpPr/>
          <p:nvPr/>
        </p:nvSpPr>
        <p:spPr>
          <a:xfrm>
            <a:off x="2998113" y="4754761"/>
            <a:ext cx="2663309"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KNN</a:t>
            </a:r>
            <a:endParaRPr lang="en-US" sz="1200" dirty="0">
              <a:latin typeface="Times New Roman" panose="02020603050405020304" pitchFamily="18" charset="0"/>
              <a:cs typeface="Times New Roman" panose="02020603050405020304" pitchFamily="18" charset="0"/>
            </a:endParaRPr>
          </a:p>
        </p:txBody>
      </p:sp>
      <p:sp>
        <p:nvSpPr>
          <p:cNvPr id="34" name="Text 32"/>
          <p:cNvSpPr/>
          <p:nvPr/>
        </p:nvSpPr>
        <p:spPr>
          <a:xfrm>
            <a:off x="5979557" y="4754761"/>
            <a:ext cx="2160151"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0.8193</a:t>
            </a:r>
            <a:endParaRPr lang="en-US" sz="1200" dirty="0">
              <a:latin typeface="Times New Roman" panose="02020603050405020304" pitchFamily="18" charset="0"/>
              <a:cs typeface="Times New Roman" panose="02020603050405020304" pitchFamily="18" charset="0"/>
            </a:endParaRPr>
          </a:p>
        </p:txBody>
      </p:sp>
      <p:sp>
        <p:nvSpPr>
          <p:cNvPr id="35" name="Text 33"/>
          <p:cNvSpPr/>
          <p:nvPr/>
        </p:nvSpPr>
        <p:spPr>
          <a:xfrm>
            <a:off x="8457843" y="4754761"/>
            <a:ext cx="2538889"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0.8643</a:t>
            </a:r>
            <a:endParaRPr lang="en-US" sz="1200" dirty="0">
              <a:latin typeface="Times New Roman" panose="02020603050405020304" pitchFamily="18" charset="0"/>
              <a:cs typeface="Times New Roman" panose="02020603050405020304" pitchFamily="18" charset="0"/>
            </a:endParaRPr>
          </a:p>
        </p:txBody>
      </p:sp>
      <p:sp>
        <p:nvSpPr>
          <p:cNvPr id="36" name="Text 34"/>
          <p:cNvSpPr/>
          <p:nvPr/>
        </p:nvSpPr>
        <p:spPr>
          <a:xfrm>
            <a:off x="11314867" y="4754761"/>
            <a:ext cx="2609017"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0.77511</a:t>
            </a:r>
            <a:endParaRPr lang="en-US" sz="1200" dirty="0">
              <a:latin typeface="Times New Roman" panose="02020603050405020304" pitchFamily="18" charset="0"/>
              <a:cs typeface="Times New Roman" panose="02020603050405020304" pitchFamily="18" charset="0"/>
            </a:endParaRPr>
          </a:p>
        </p:txBody>
      </p:sp>
      <p:sp>
        <p:nvSpPr>
          <p:cNvPr id="37" name="Shape 35"/>
          <p:cNvSpPr/>
          <p:nvPr/>
        </p:nvSpPr>
        <p:spPr>
          <a:xfrm>
            <a:off x="551259" y="5104090"/>
            <a:ext cx="13527881" cy="450056"/>
          </a:xfrm>
          <a:prstGeom prst="rect">
            <a:avLst/>
          </a:prstGeom>
          <a:solidFill>
            <a:srgbClr val="000000">
              <a:alpha val="4000"/>
            </a:srgbClr>
          </a:solidFill>
          <a:ln/>
        </p:spPr>
      </p:sp>
      <p:sp>
        <p:nvSpPr>
          <p:cNvPr id="38" name="Text 36"/>
          <p:cNvSpPr/>
          <p:nvPr/>
        </p:nvSpPr>
        <p:spPr>
          <a:xfrm>
            <a:off x="706755" y="5204817"/>
            <a:ext cx="1973223"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5</a:t>
            </a:r>
            <a:endParaRPr lang="en-US" sz="1200" dirty="0">
              <a:latin typeface="Times New Roman" panose="02020603050405020304" pitchFamily="18" charset="0"/>
              <a:cs typeface="Times New Roman" panose="02020603050405020304" pitchFamily="18" charset="0"/>
            </a:endParaRPr>
          </a:p>
        </p:txBody>
      </p:sp>
      <p:sp>
        <p:nvSpPr>
          <p:cNvPr id="39" name="Text 37"/>
          <p:cNvSpPr/>
          <p:nvPr/>
        </p:nvSpPr>
        <p:spPr>
          <a:xfrm>
            <a:off x="2998113" y="5204817"/>
            <a:ext cx="2663309"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Support Vector</a:t>
            </a:r>
            <a:endParaRPr lang="en-US" sz="1200" dirty="0">
              <a:latin typeface="Times New Roman" panose="02020603050405020304" pitchFamily="18" charset="0"/>
              <a:cs typeface="Times New Roman" panose="02020603050405020304" pitchFamily="18" charset="0"/>
            </a:endParaRPr>
          </a:p>
        </p:txBody>
      </p:sp>
      <p:sp>
        <p:nvSpPr>
          <p:cNvPr id="40" name="Text 38"/>
          <p:cNvSpPr/>
          <p:nvPr/>
        </p:nvSpPr>
        <p:spPr>
          <a:xfrm>
            <a:off x="5979557" y="5204817"/>
            <a:ext cx="2160151"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0.8216</a:t>
            </a:r>
            <a:endParaRPr lang="en-US" sz="1200" dirty="0">
              <a:latin typeface="Times New Roman" panose="02020603050405020304" pitchFamily="18" charset="0"/>
              <a:cs typeface="Times New Roman" panose="02020603050405020304" pitchFamily="18" charset="0"/>
            </a:endParaRPr>
          </a:p>
        </p:txBody>
      </p:sp>
      <p:sp>
        <p:nvSpPr>
          <p:cNvPr id="41" name="Text 39"/>
          <p:cNvSpPr/>
          <p:nvPr/>
        </p:nvSpPr>
        <p:spPr>
          <a:xfrm>
            <a:off x="8457843" y="5204817"/>
            <a:ext cx="2538889"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0.8523</a:t>
            </a:r>
            <a:endParaRPr lang="en-US" sz="1200" dirty="0">
              <a:latin typeface="Times New Roman" panose="02020603050405020304" pitchFamily="18" charset="0"/>
              <a:cs typeface="Times New Roman" panose="02020603050405020304" pitchFamily="18" charset="0"/>
            </a:endParaRPr>
          </a:p>
        </p:txBody>
      </p:sp>
      <p:sp>
        <p:nvSpPr>
          <p:cNvPr id="42" name="Text 40"/>
          <p:cNvSpPr/>
          <p:nvPr/>
        </p:nvSpPr>
        <p:spPr>
          <a:xfrm>
            <a:off x="11314867" y="5204817"/>
            <a:ext cx="2609017"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0.78229</a:t>
            </a:r>
            <a:endParaRPr lang="en-US" sz="1200" dirty="0">
              <a:latin typeface="Times New Roman" panose="02020603050405020304" pitchFamily="18" charset="0"/>
              <a:cs typeface="Times New Roman" panose="02020603050405020304" pitchFamily="18" charset="0"/>
            </a:endParaRPr>
          </a:p>
        </p:txBody>
      </p:sp>
      <p:sp>
        <p:nvSpPr>
          <p:cNvPr id="43" name="Text 41"/>
          <p:cNvSpPr/>
          <p:nvPr/>
        </p:nvSpPr>
        <p:spPr>
          <a:xfrm>
            <a:off x="543639" y="5736431"/>
            <a:ext cx="13543121" cy="248603"/>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Logistic Regression: từ 76.56% → 82.72% (+6.16%)</a:t>
            </a:r>
            <a:endParaRPr lang="en-US" sz="1200" dirty="0">
              <a:latin typeface="Times New Roman" panose="02020603050405020304" pitchFamily="18" charset="0"/>
              <a:cs typeface="Times New Roman" panose="02020603050405020304" pitchFamily="18" charset="0"/>
            </a:endParaRPr>
          </a:p>
        </p:txBody>
      </p:sp>
      <p:sp>
        <p:nvSpPr>
          <p:cNvPr id="44" name="Text 42"/>
          <p:cNvSpPr/>
          <p:nvPr/>
        </p:nvSpPr>
        <p:spPr>
          <a:xfrm>
            <a:off x="543639" y="6039326"/>
            <a:ext cx="13543121" cy="248603"/>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Random Forest: từ 71.29% → 81.93% (+10.64%)</a:t>
            </a:r>
            <a:endParaRPr lang="en-US" sz="1200" dirty="0">
              <a:latin typeface="Times New Roman" panose="02020603050405020304" pitchFamily="18" charset="0"/>
              <a:cs typeface="Times New Roman" panose="02020603050405020304" pitchFamily="18" charset="0"/>
            </a:endParaRPr>
          </a:p>
        </p:txBody>
      </p:sp>
      <p:sp>
        <p:nvSpPr>
          <p:cNvPr id="45" name="Text 43"/>
          <p:cNvSpPr/>
          <p:nvPr/>
        </p:nvSpPr>
        <p:spPr>
          <a:xfrm>
            <a:off x="543639" y="6342221"/>
            <a:ext cx="13543121" cy="248603"/>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XGBoost: từ 74.88% → 84.06% (+9.18%)</a:t>
            </a:r>
            <a:endParaRPr lang="en-US" sz="1200" dirty="0">
              <a:latin typeface="Times New Roman" panose="02020603050405020304" pitchFamily="18" charset="0"/>
              <a:cs typeface="Times New Roman" panose="02020603050405020304" pitchFamily="18" charset="0"/>
            </a:endParaRPr>
          </a:p>
        </p:txBody>
      </p:sp>
      <p:sp>
        <p:nvSpPr>
          <p:cNvPr id="46" name="Text 44"/>
          <p:cNvSpPr/>
          <p:nvPr/>
        </p:nvSpPr>
        <p:spPr>
          <a:xfrm>
            <a:off x="543639" y="6765488"/>
            <a:ext cx="13543121" cy="248603"/>
          </a:xfrm>
          <a:prstGeom prst="rect">
            <a:avLst/>
          </a:prstGeom>
          <a:noFill/>
          <a:ln/>
        </p:spPr>
        <p:txBody>
          <a:bodyPr wrap="none" lIns="0" tIns="0" rIns="0" bIns="0" rtlCol="0" anchor="t"/>
          <a:lstStyle/>
          <a:p>
            <a:pPr marL="0" indent="0" algn="l">
              <a:lnSpc>
                <a:spcPts val="1950"/>
              </a:lnSpc>
              <a:buNone/>
            </a:pP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Tất cả mô hình đều cải thiện đáng kể.</a:t>
            </a:r>
            <a:endParaRPr lang="en-US" sz="1200" dirty="0">
              <a:latin typeface="Times New Roman" panose="02020603050405020304" pitchFamily="18" charset="0"/>
              <a:cs typeface="Times New Roman" panose="02020603050405020304" pitchFamily="18" charset="0"/>
            </a:endParaRPr>
          </a:p>
        </p:txBody>
      </p:sp>
      <p:sp>
        <p:nvSpPr>
          <p:cNvPr id="47" name="Text 45"/>
          <p:cNvSpPr/>
          <p:nvPr/>
        </p:nvSpPr>
        <p:spPr>
          <a:xfrm>
            <a:off x="543639" y="7188756"/>
            <a:ext cx="13543121" cy="497205"/>
          </a:xfrm>
          <a:prstGeom prst="rect">
            <a:avLst/>
          </a:prstGeom>
          <a:noFill/>
          <a:ln/>
        </p:spPr>
        <p:txBody>
          <a:bodyPr wrap="square" lIns="0" tIns="0" rIns="0" bIns="0" rtlCol="0" anchor="t"/>
          <a:lstStyle/>
          <a:p>
            <a:pPr marL="0" indent="0" algn="l">
              <a:lnSpc>
                <a:spcPts val="1950"/>
              </a:lnSpc>
              <a:buNone/>
            </a:pPr>
            <a:r>
              <a:rPr lang="en-US" sz="1200" b="1" dirty="0">
                <a:solidFill>
                  <a:srgbClr val="E5DCE6"/>
                </a:solidFill>
                <a:latin typeface="Times New Roman" panose="02020603050405020304" pitchFamily="18" charset="0"/>
                <a:ea typeface="Montserrat" pitchFamily="34" charset="-122"/>
                <a:cs typeface="Times New Roman" panose="02020603050405020304" pitchFamily="18" charset="0"/>
              </a:rPr>
              <a:t>Kết luận:</a:t>
            </a:r>
            <a:r>
              <a:rPr lang="en-US" sz="1200" dirty="0">
                <a:solidFill>
                  <a:srgbClr val="E5DCE6"/>
                </a:solidFill>
                <a:latin typeface="Times New Roman" panose="02020603050405020304" pitchFamily="18" charset="0"/>
                <a:ea typeface="Montserrat" pitchFamily="34" charset="-122"/>
                <a:cs typeface="Times New Roman" panose="02020603050405020304" pitchFamily="18" charset="0"/>
              </a:rPr>
              <a:t> Thêm Title và FamilySize giúp cải thiện khả năng dự đoán cho hầu hết mô hình. Chứng minh rằng thông tin xã hội và gia đình đóng vai trò quan trọng trong việc xác định khả năng sống sót.</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73167" y="575310"/>
            <a:ext cx="8850392" cy="511731"/>
          </a:xfrm>
          <a:prstGeom prst="rect">
            <a:avLst/>
          </a:prstGeom>
          <a:noFill/>
          <a:ln/>
        </p:spPr>
        <p:txBody>
          <a:bodyPr wrap="none" lIns="0" tIns="0" rIns="0" bIns="0" rtlCol="0" anchor="t"/>
          <a:lstStyle/>
          <a:p>
            <a:pPr marL="0" indent="0" algn="l">
              <a:lnSpc>
                <a:spcPts val="4000"/>
              </a:lnSpc>
              <a:buNone/>
            </a:pPr>
            <a:r>
              <a:rPr lang="en-US" sz="32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THÍ NGHIỆM 3: FULL FEATURE ENGINEERING</a:t>
            </a:r>
            <a:endParaRPr lang="en-US" sz="3200" dirty="0">
              <a:latin typeface="Times New Roman" panose="02020603050405020304" pitchFamily="18" charset="0"/>
              <a:cs typeface="Times New Roman" panose="02020603050405020304" pitchFamily="18" charset="0"/>
            </a:endParaRPr>
          </a:p>
        </p:txBody>
      </p:sp>
      <p:sp>
        <p:nvSpPr>
          <p:cNvPr id="3" name="Text 1"/>
          <p:cNvSpPr/>
          <p:nvPr/>
        </p:nvSpPr>
        <p:spPr>
          <a:xfrm>
            <a:off x="573167" y="1414463"/>
            <a:ext cx="13484066" cy="261937"/>
          </a:xfrm>
          <a:prstGeom prst="rect">
            <a:avLst/>
          </a:prstGeom>
          <a:noFill/>
          <a:ln/>
        </p:spPr>
        <p:txBody>
          <a:bodyPr wrap="none" lIns="0" tIns="0" rIns="0" bIns="0" rtlCol="0" anchor="t"/>
          <a:lstStyle/>
          <a:p>
            <a:pPr marL="0" indent="0" algn="l">
              <a:lnSpc>
                <a:spcPts val="2050"/>
              </a:lnSpc>
              <a:buNone/>
            </a:pPr>
            <a:r>
              <a:rPr lang="en-US" sz="1250" b="1" dirty="0">
                <a:solidFill>
                  <a:srgbClr val="E5DCE6"/>
                </a:solidFill>
                <a:latin typeface="Times New Roman" panose="02020603050405020304" pitchFamily="18" charset="0"/>
                <a:ea typeface="Montserrat" pitchFamily="34" charset="-122"/>
                <a:cs typeface="Times New Roman" panose="02020603050405020304" pitchFamily="18" charset="0"/>
              </a:rPr>
              <a:t>Mục tiêu:</a:t>
            </a: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 Đánh giá hiệu quả tối đa khi làm giàu dữ liệu + trích xuất đặc trưng phức tạp</a:t>
            </a:r>
            <a:endParaRPr lang="en-US" sz="1250" dirty="0">
              <a:latin typeface="Times New Roman" panose="02020603050405020304" pitchFamily="18" charset="0"/>
              <a:cs typeface="Times New Roman" panose="02020603050405020304" pitchFamily="18" charset="0"/>
            </a:endParaRPr>
          </a:p>
        </p:txBody>
      </p:sp>
      <p:sp>
        <p:nvSpPr>
          <p:cNvPr id="4" name="Text 2"/>
          <p:cNvSpPr/>
          <p:nvPr/>
        </p:nvSpPr>
        <p:spPr>
          <a:xfrm>
            <a:off x="573167" y="1860590"/>
            <a:ext cx="13484066" cy="261937"/>
          </a:xfrm>
          <a:prstGeom prst="rect">
            <a:avLst/>
          </a:prstGeom>
          <a:noFill/>
          <a:ln/>
        </p:spPr>
        <p:txBody>
          <a:bodyPr wrap="none" lIns="0" tIns="0" rIns="0" bIns="0" rtlCol="0" anchor="t"/>
          <a:lstStyle/>
          <a:p>
            <a:pPr marL="0" indent="0" algn="l">
              <a:lnSpc>
                <a:spcPts val="2050"/>
              </a:lnSpc>
              <a:buNone/>
            </a:pPr>
            <a:r>
              <a:rPr lang="en-US" sz="1250" b="1" dirty="0">
                <a:solidFill>
                  <a:srgbClr val="E5DCE6"/>
                </a:solidFill>
                <a:latin typeface="Times New Roman" panose="02020603050405020304" pitchFamily="18" charset="0"/>
                <a:ea typeface="Montserrat" pitchFamily="34" charset="-122"/>
                <a:cs typeface="Times New Roman" panose="02020603050405020304" pitchFamily="18" charset="0"/>
              </a:rPr>
              <a:t>Features sử dụng:</a:t>
            </a: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 Dùng toàn bộ 13 đặc trưng nâng cao: 'Pclass', 'Sex', 'Age', 'AgeBin', 'SibSp', 'Parch', 'FamilySize', 'IsAlone', 'Fare', 'FareBin', 'Embarked', 'Title', 'Deck'.</a:t>
            </a:r>
            <a:endParaRPr lang="en-US" sz="1250" dirty="0">
              <a:latin typeface="Times New Roman" panose="02020603050405020304" pitchFamily="18" charset="0"/>
              <a:cs typeface="Times New Roman" panose="02020603050405020304" pitchFamily="18" charset="0"/>
            </a:endParaRPr>
          </a:p>
        </p:txBody>
      </p:sp>
      <p:sp>
        <p:nvSpPr>
          <p:cNvPr id="5" name="Text 3"/>
          <p:cNvSpPr/>
          <p:nvPr/>
        </p:nvSpPr>
        <p:spPr>
          <a:xfrm>
            <a:off x="573167" y="2368153"/>
            <a:ext cx="2456497" cy="306943"/>
          </a:xfrm>
          <a:prstGeom prst="rect">
            <a:avLst/>
          </a:prstGeom>
          <a:noFill/>
          <a:ln/>
        </p:spPr>
        <p:txBody>
          <a:bodyPr wrap="none" lIns="0" tIns="0" rIns="0" bIns="0" rtlCol="0" anchor="t"/>
          <a:lstStyle/>
          <a:p>
            <a:pPr marL="0" indent="0" algn="l">
              <a:lnSpc>
                <a:spcPts val="2400"/>
              </a:lnSpc>
              <a:buNone/>
            </a:pPr>
            <a:r>
              <a:rPr lang="en-US" sz="19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Kết quả thí nghiệm:</a:t>
            </a:r>
            <a:endParaRPr lang="en-US" sz="1900" dirty="0">
              <a:latin typeface="Times New Roman" panose="02020603050405020304" pitchFamily="18" charset="0"/>
              <a:cs typeface="Times New Roman" panose="02020603050405020304" pitchFamily="18" charset="0"/>
            </a:endParaRPr>
          </a:p>
        </p:txBody>
      </p:sp>
      <p:sp>
        <p:nvSpPr>
          <p:cNvPr id="6" name="Shape 4"/>
          <p:cNvSpPr/>
          <p:nvPr/>
        </p:nvSpPr>
        <p:spPr>
          <a:xfrm>
            <a:off x="573167" y="3104912"/>
            <a:ext cx="13484066" cy="2850833"/>
          </a:xfrm>
          <a:prstGeom prst="roundRect">
            <a:avLst>
              <a:gd name="adj" fmla="val 2413"/>
            </a:avLst>
          </a:prstGeom>
          <a:noFill/>
          <a:ln w="7620">
            <a:solidFill>
              <a:srgbClr val="FFFFFF">
                <a:alpha val="24000"/>
              </a:srgbClr>
            </a:solidFill>
            <a:prstDash val="solid"/>
          </a:ln>
        </p:spPr>
      </p:sp>
      <p:sp>
        <p:nvSpPr>
          <p:cNvPr id="7" name="Shape 5"/>
          <p:cNvSpPr/>
          <p:nvPr/>
        </p:nvSpPr>
        <p:spPr>
          <a:xfrm>
            <a:off x="580787" y="3112532"/>
            <a:ext cx="13468826" cy="473631"/>
          </a:xfrm>
          <a:prstGeom prst="rect">
            <a:avLst/>
          </a:prstGeom>
          <a:solidFill>
            <a:srgbClr val="FFFFFF">
              <a:alpha val="4000"/>
            </a:srgbClr>
          </a:solidFill>
          <a:ln/>
        </p:spPr>
      </p:sp>
      <p:sp>
        <p:nvSpPr>
          <p:cNvPr id="8" name="Text 6"/>
          <p:cNvSpPr/>
          <p:nvPr/>
        </p:nvSpPr>
        <p:spPr>
          <a:xfrm>
            <a:off x="744498" y="3218378"/>
            <a:ext cx="303597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Model</a:t>
            </a:r>
            <a:endParaRPr lang="en-US" sz="1250" dirty="0">
              <a:latin typeface="Times New Roman" panose="02020603050405020304" pitchFamily="18" charset="0"/>
              <a:cs typeface="Times New Roman" panose="02020603050405020304" pitchFamily="18" charset="0"/>
            </a:endParaRPr>
          </a:p>
        </p:txBody>
      </p:sp>
      <p:sp>
        <p:nvSpPr>
          <p:cNvPr id="9" name="Text 7"/>
          <p:cNvSpPr/>
          <p:nvPr/>
        </p:nvSpPr>
        <p:spPr>
          <a:xfrm>
            <a:off x="4115514" y="3218378"/>
            <a:ext cx="303216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CV_Acc</a:t>
            </a:r>
            <a:endParaRPr lang="en-US" sz="1250" dirty="0">
              <a:latin typeface="Times New Roman" panose="02020603050405020304" pitchFamily="18" charset="0"/>
              <a:cs typeface="Times New Roman" panose="02020603050405020304" pitchFamily="18" charset="0"/>
            </a:endParaRPr>
          </a:p>
        </p:txBody>
      </p:sp>
      <p:sp>
        <p:nvSpPr>
          <p:cNvPr id="10" name="Text 8"/>
          <p:cNvSpPr/>
          <p:nvPr/>
        </p:nvSpPr>
        <p:spPr>
          <a:xfrm>
            <a:off x="7482721" y="3218378"/>
            <a:ext cx="303216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CV_ROC</a:t>
            </a:r>
            <a:endParaRPr lang="en-US" sz="1250" dirty="0">
              <a:latin typeface="Times New Roman" panose="02020603050405020304" pitchFamily="18" charset="0"/>
              <a:cs typeface="Times New Roman" panose="02020603050405020304" pitchFamily="18" charset="0"/>
            </a:endParaRPr>
          </a:p>
        </p:txBody>
      </p:sp>
      <p:sp>
        <p:nvSpPr>
          <p:cNvPr id="11" name="Text 9"/>
          <p:cNvSpPr/>
          <p:nvPr/>
        </p:nvSpPr>
        <p:spPr>
          <a:xfrm>
            <a:off x="10849928" y="3218378"/>
            <a:ext cx="303597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Public_Score</a:t>
            </a:r>
            <a:endParaRPr lang="en-US" sz="1250" dirty="0">
              <a:latin typeface="Times New Roman" panose="02020603050405020304" pitchFamily="18" charset="0"/>
              <a:cs typeface="Times New Roman" panose="02020603050405020304" pitchFamily="18" charset="0"/>
            </a:endParaRPr>
          </a:p>
        </p:txBody>
      </p:sp>
      <p:sp>
        <p:nvSpPr>
          <p:cNvPr id="12" name="Shape 10"/>
          <p:cNvSpPr/>
          <p:nvPr/>
        </p:nvSpPr>
        <p:spPr>
          <a:xfrm>
            <a:off x="580787" y="3586162"/>
            <a:ext cx="13468826" cy="467439"/>
          </a:xfrm>
          <a:prstGeom prst="rect">
            <a:avLst/>
          </a:prstGeom>
          <a:solidFill>
            <a:srgbClr val="000000">
              <a:alpha val="4000"/>
            </a:srgbClr>
          </a:solidFill>
          <a:ln/>
        </p:spPr>
      </p:sp>
      <p:sp>
        <p:nvSpPr>
          <p:cNvPr id="13" name="Text 11"/>
          <p:cNvSpPr/>
          <p:nvPr/>
        </p:nvSpPr>
        <p:spPr>
          <a:xfrm>
            <a:off x="744498" y="3692009"/>
            <a:ext cx="2047042" cy="255746"/>
          </a:xfrm>
          <a:prstGeom prst="rect">
            <a:avLst/>
          </a:prstGeom>
          <a:noFill/>
          <a:ln/>
        </p:spPr>
        <p:txBody>
          <a:bodyPr wrap="none" lIns="0" tIns="0" rIns="0" bIns="0" rtlCol="0" anchor="t"/>
          <a:lstStyle/>
          <a:p>
            <a:pPr marL="0" indent="0" algn="l">
              <a:lnSpc>
                <a:spcPts val="2000"/>
              </a:lnSpc>
              <a:buNone/>
            </a:pPr>
            <a:r>
              <a:rPr lang="en-US" sz="16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Random Forest</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4115514" y="3692009"/>
            <a:ext cx="2047042" cy="255746"/>
          </a:xfrm>
          <a:prstGeom prst="rect">
            <a:avLst/>
          </a:prstGeom>
          <a:noFill/>
          <a:ln/>
        </p:spPr>
        <p:txBody>
          <a:bodyPr wrap="none" lIns="0" tIns="0" rIns="0" bIns="0" rtlCol="0" anchor="t"/>
          <a:lstStyle/>
          <a:p>
            <a:pPr marL="0" indent="0" algn="l">
              <a:lnSpc>
                <a:spcPts val="2000"/>
              </a:lnSpc>
              <a:buNone/>
            </a:pPr>
            <a:r>
              <a:rPr lang="en-US" sz="16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0.8474</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7482721" y="3692009"/>
            <a:ext cx="2047042" cy="255746"/>
          </a:xfrm>
          <a:prstGeom prst="rect">
            <a:avLst/>
          </a:prstGeom>
          <a:noFill/>
          <a:ln/>
        </p:spPr>
        <p:txBody>
          <a:bodyPr wrap="none" lIns="0" tIns="0" rIns="0" bIns="0" rtlCol="0" anchor="t"/>
          <a:lstStyle/>
          <a:p>
            <a:pPr marL="0" indent="0" algn="l">
              <a:lnSpc>
                <a:spcPts val="2000"/>
              </a:lnSpc>
              <a:buNone/>
            </a:pPr>
            <a:r>
              <a:rPr lang="en-US" sz="16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0.8982</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10849928" y="3692009"/>
            <a:ext cx="2047042" cy="255746"/>
          </a:xfrm>
          <a:prstGeom prst="rect">
            <a:avLst/>
          </a:prstGeom>
          <a:noFill/>
          <a:ln/>
        </p:spPr>
        <p:txBody>
          <a:bodyPr wrap="none" lIns="0" tIns="0" rIns="0" bIns="0" rtlCol="0" anchor="t"/>
          <a:lstStyle/>
          <a:p>
            <a:pPr marL="0" indent="0" algn="l">
              <a:lnSpc>
                <a:spcPts val="2000"/>
              </a:lnSpc>
              <a:buNone/>
            </a:pPr>
            <a:r>
              <a:rPr lang="en-US" sz="16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0.81578</a:t>
            </a:r>
            <a:endParaRPr lang="en-US" sz="1600" dirty="0">
              <a:latin typeface="Times New Roman" panose="02020603050405020304" pitchFamily="18" charset="0"/>
              <a:cs typeface="Times New Roman" panose="02020603050405020304" pitchFamily="18" charset="0"/>
            </a:endParaRPr>
          </a:p>
        </p:txBody>
      </p:sp>
      <p:sp>
        <p:nvSpPr>
          <p:cNvPr id="17" name="Shape 15"/>
          <p:cNvSpPr/>
          <p:nvPr/>
        </p:nvSpPr>
        <p:spPr>
          <a:xfrm>
            <a:off x="580787" y="4053602"/>
            <a:ext cx="13468826" cy="473631"/>
          </a:xfrm>
          <a:prstGeom prst="rect">
            <a:avLst/>
          </a:prstGeom>
          <a:solidFill>
            <a:srgbClr val="FFFFFF">
              <a:alpha val="4000"/>
            </a:srgbClr>
          </a:solidFill>
          <a:ln/>
        </p:spPr>
      </p:sp>
      <p:sp>
        <p:nvSpPr>
          <p:cNvPr id="18" name="Text 16"/>
          <p:cNvSpPr/>
          <p:nvPr/>
        </p:nvSpPr>
        <p:spPr>
          <a:xfrm>
            <a:off x="744498" y="4159448"/>
            <a:ext cx="303597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Logistic Regression</a:t>
            </a:r>
            <a:endParaRPr lang="en-US" sz="1250" dirty="0">
              <a:latin typeface="Times New Roman" panose="02020603050405020304" pitchFamily="18" charset="0"/>
              <a:cs typeface="Times New Roman" panose="02020603050405020304" pitchFamily="18" charset="0"/>
            </a:endParaRPr>
          </a:p>
        </p:txBody>
      </p:sp>
      <p:sp>
        <p:nvSpPr>
          <p:cNvPr id="19" name="Text 17"/>
          <p:cNvSpPr/>
          <p:nvPr/>
        </p:nvSpPr>
        <p:spPr>
          <a:xfrm>
            <a:off x="4115514" y="4159448"/>
            <a:ext cx="303216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0.8541</a:t>
            </a:r>
            <a:endParaRPr lang="en-US" sz="1250" dirty="0">
              <a:latin typeface="Times New Roman" panose="02020603050405020304" pitchFamily="18" charset="0"/>
              <a:cs typeface="Times New Roman" panose="02020603050405020304" pitchFamily="18" charset="0"/>
            </a:endParaRPr>
          </a:p>
        </p:txBody>
      </p:sp>
      <p:sp>
        <p:nvSpPr>
          <p:cNvPr id="20" name="Text 18"/>
          <p:cNvSpPr/>
          <p:nvPr/>
        </p:nvSpPr>
        <p:spPr>
          <a:xfrm>
            <a:off x="7482721" y="4159448"/>
            <a:ext cx="303216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0.9099</a:t>
            </a:r>
            <a:endParaRPr lang="en-US" sz="1250" dirty="0">
              <a:latin typeface="Times New Roman" panose="02020603050405020304" pitchFamily="18" charset="0"/>
              <a:cs typeface="Times New Roman" panose="02020603050405020304" pitchFamily="18" charset="0"/>
            </a:endParaRPr>
          </a:p>
        </p:txBody>
      </p:sp>
      <p:sp>
        <p:nvSpPr>
          <p:cNvPr id="21" name="Text 19"/>
          <p:cNvSpPr/>
          <p:nvPr/>
        </p:nvSpPr>
        <p:spPr>
          <a:xfrm>
            <a:off x="10849928" y="4159448"/>
            <a:ext cx="303597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0.7392</a:t>
            </a:r>
            <a:endParaRPr lang="en-US" sz="1250" dirty="0">
              <a:latin typeface="Times New Roman" panose="02020603050405020304" pitchFamily="18" charset="0"/>
              <a:cs typeface="Times New Roman" panose="02020603050405020304" pitchFamily="18" charset="0"/>
            </a:endParaRPr>
          </a:p>
        </p:txBody>
      </p:sp>
      <p:sp>
        <p:nvSpPr>
          <p:cNvPr id="22" name="Shape 20"/>
          <p:cNvSpPr/>
          <p:nvPr/>
        </p:nvSpPr>
        <p:spPr>
          <a:xfrm>
            <a:off x="580787" y="4527233"/>
            <a:ext cx="13468826" cy="473631"/>
          </a:xfrm>
          <a:prstGeom prst="rect">
            <a:avLst/>
          </a:prstGeom>
          <a:solidFill>
            <a:srgbClr val="000000">
              <a:alpha val="4000"/>
            </a:srgbClr>
          </a:solidFill>
          <a:ln/>
        </p:spPr>
      </p:sp>
      <p:sp>
        <p:nvSpPr>
          <p:cNvPr id="23" name="Text 21"/>
          <p:cNvSpPr/>
          <p:nvPr/>
        </p:nvSpPr>
        <p:spPr>
          <a:xfrm>
            <a:off x="744498" y="4633079"/>
            <a:ext cx="303597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KNN</a:t>
            </a:r>
            <a:endParaRPr lang="en-US" sz="1250" dirty="0">
              <a:latin typeface="Times New Roman" panose="02020603050405020304" pitchFamily="18" charset="0"/>
              <a:cs typeface="Times New Roman" panose="02020603050405020304" pitchFamily="18" charset="0"/>
            </a:endParaRPr>
          </a:p>
        </p:txBody>
      </p:sp>
      <p:sp>
        <p:nvSpPr>
          <p:cNvPr id="24" name="Text 22"/>
          <p:cNvSpPr/>
          <p:nvPr/>
        </p:nvSpPr>
        <p:spPr>
          <a:xfrm>
            <a:off x="4115514" y="4633079"/>
            <a:ext cx="303216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0.8216</a:t>
            </a:r>
            <a:endParaRPr lang="en-US" sz="1250" dirty="0">
              <a:latin typeface="Times New Roman" panose="02020603050405020304" pitchFamily="18" charset="0"/>
              <a:cs typeface="Times New Roman" panose="02020603050405020304" pitchFamily="18" charset="0"/>
            </a:endParaRPr>
          </a:p>
        </p:txBody>
      </p:sp>
      <p:sp>
        <p:nvSpPr>
          <p:cNvPr id="25" name="Text 23"/>
          <p:cNvSpPr/>
          <p:nvPr/>
        </p:nvSpPr>
        <p:spPr>
          <a:xfrm>
            <a:off x="7482721" y="4633079"/>
            <a:ext cx="303216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0.8603</a:t>
            </a:r>
            <a:endParaRPr lang="en-US" sz="1250" dirty="0">
              <a:latin typeface="Times New Roman" panose="02020603050405020304" pitchFamily="18" charset="0"/>
              <a:cs typeface="Times New Roman" panose="02020603050405020304" pitchFamily="18" charset="0"/>
            </a:endParaRPr>
          </a:p>
        </p:txBody>
      </p:sp>
      <p:sp>
        <p:nvSpPr>
          <p:cNvPr id="26" name="Text 24"/>
          <p:cNvSpPr/>
          <p:nvPr/>
        </p:nvSpPr>
        <p:spPr>
          <a:xfrm>
            <a:off x="10849928" y="4633079"/>
            <a:ext cx="303597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0.77511</a:t>
            </a:r>
            <a:endParaRPr lang="en-US" sz="1250" dirty="0">
              <a:latin typeface="Times New Roman" panose="02020603050405020304" pitchFamily="18" charset="0"/>
              <a:cs typeface="Times New Roman" panose="02020603050405020304" pitchFamily="18" charset="0"/>
            </a:endParaRPr>
          </a:p>
        </p:txBody>
      </p:sp>
      <p:sp>
        <p:nvSpPr>
          <p:cNvPr id="27" name="Shape 25"/>
          <p:cNvSpPr/>
          <p:nvPr/>
        </p:nvSpPr>
        <p:spPr>
          <a:xfrm>
            <a:off x="580787" y="5000863"/>
            <a:ext cx="13468826" cy="473631"/>
          </a:xfrm>
          <a:prstGeom prst="rect">
            <a:avLst/>
          </a:prstGeom>
          <a:solidFill>
            <a:srgbClr val="FFFFFF">
              <a:alpha val="4000"/>
            </a:srgbClr>
          </a:solidFill>
          <a:ln/>
        </p:spPr>
      </p:sp>
      <p:sp>
        <p:nvSpPr>
          <p:cNvPr id="28" name="Text 26"/>
          <p:cNvSpPr/>
          <p:nvPr/>
        </p:nvSpPr>
        <p:spPr>
          <a:xfrm>
            <a:off x="744498" y="5106710"/>
            <a:ext cx="303597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SVM</a:t>
            </a:r>
            <a:endParaRPr lang="en-US" sz="1250" dirty="0">
              <a:latin typeface="Times New Roman" panose="02020603050405020304" pitchFamily="18" charset="0"/>
              <a:cs typeface="Times New Roman" panose="02020603050405020304" pitchFamily="18" charset="0"/>
            </a:endParaRPr>
          </a:p>
        </p:txBody>
      </p:sp>
      <p:sp>
        <p:nvSpPr>
          <p:cNvPr id="29" name="Text 27"/>
          <p:cNvSpPr/>
          <p:nvPr/>
        </p:nvSpPr>
        <p:spPr>
          <a:xfrm>
            <a:off x="4115514" y="5106710"/>
            <a:ext cx="303216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0.8417</a:t>
            </a:r>
            <a:endParaRPr lang="en-US" sz="1250" dirty="0">
              <a:latin typeface="Times New Roman" panose="02020603050405020304" pitchFamily="18" charset="0"/>
              <a:cs typeface="Times New Roman" panose="02020603050405020304" pitchFamily="18" charset="0"/>
            </a:endParaRPr>
          </a:p>
        </p:txBody>
      </p:sp>
      <p:sp>
        <p:nvSpPr>
          <p:cNvPr id="30" name="Text 28"/>
          <p:cNvSpPr/>
          <p:nvPr/>
        </p:nvSpPr>
        <p:spPr>
          <a:xfrm>
            <a:off x="7482721" y="5106710"/>
            <a:ext cx="303216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0.9002</a:t>
            </a:r>
            <a:endParaRPr lang="en-US" sz="1250" dirty="0">
              <a:latin typeface="Times New Roman" panose="02020603050405020304" pitchFamily="18" charset="0"/>
              <a:cs typeface="Times New Roman" panose="02020603050405020304" pitchFamily="18" charset="0"/>
            </a:endParaRPr>
          </a:p>
        </p:txBody>
      </p:sp>
      <p:sp>
        <p:nvSpPr>
          <p:cNvPr id="31" name="Text 29"/>
          <p:cNvSpPr/>
          <p:nvPr/>
        </p:nvSpPr>
        <p:spPr>
          <a:xfrm>
            <a:off x="10849928" y="5106710"/>
            <a:ext cx="303597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0.725772</a:t>
            </a:r>
            <a:endParaRPr lang="en-US" sz="1250" dirty="0">
              <a:latin typeface="Times New Roman" panose="02020603050405020304" pitchFamily="18" charset="0"/>
              <a:cs typeface="Times New Roman" panose="02020603050405020304" pitchFamily="18" charset="0"/>
            </a:endParaRPr>
          </a:p>
        </p:txBody>
      </p:sp>
      <p:sp>
        <p:nvSpPr>
          <p:cNvPr id="32" name="Shape 30"/>
          <p:cNvSpPr/>
          <p:nvPr/>
        </p:nvSpPr>
        <p:spPr>
          <a:xfrm>
            <a:off x="580787" y="5474494"/>
            <a:ext cx="13468826" cy="473631"/>
          </a:xfrm>
          <a:prstGeom prst="rect">
            <a:avLst/>
          </a:prstGeom>
          <a:solidFill>
            <a:srgbClr val="000000">
              <a:alpha val="4000"/>
            </a:srgbClr>
          </a:solidFill>
          <a:ln/>
        </p:spPr>
      </p:sp>
      <p:sp>
        <p:nvSpPr>
          <p:cNvPr id="33" name="Text 31"/>
          <p:cNvSpPr/>
          <p:nvPr/>
        </p:nvSpPr>
        <p:spPr>
          <a:xfrm>
            <a:off x="744498" y="5580340"/>
            <a:ext cx="303597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XGBoost</a:t>
            </a:r>
            <a:endParaRPr lang="en-US" sz="1250" dirty="0">
              <a:latin typeface="Times New Roman" panose="02020603050405020304" pitchFamily="18" charset="0"/>
              <a:cs typeface="Times New Roman" panose="02020603050405020304" pitchFamily="18" charset="0"/>
            </a:endParaRPr>
          </a:p>
        </p:txBody>
      </p:sp>
      <p:sp>
        <p:nvSpPr>
          <p:cNvPr id="34" name="Text 32"/>
          <p:cNvSpPr/>
          <p:nvPr/>
        </p:nvSpPr>
        <p:spPr>
          <a:xfrm>
            <a:off x="4115514" y="5580340"/>
            <a:ext cx="303216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0.8371</a:t>
            </a:r>
            <a:endParaRPr lang="en-US" sz="1250" dirty="0">
              <a:latin typeface="Times New Roman" panose="02020603050405020304" pitchFamily="18" charset="0"/>
              <a:cs typeface="Times New Roman" panose="02020603050405020304" pitchFamily="18" charset="0"/>
            </a:endParaRPr>
          </a:p>
        </p:txBody>
      </p:sp>
      <p:sp>
        <p:nvSpPr>
          <p:cNvPr id="35" name="Text 33"/>
          <p:cNvSpPr/>
          <p:nvPr/>
        </p:nvSpPr>
        <p:spPr>
          <a:xfrm>
            <a:off x="7482721" y="5580340"/>
            <a:ext cx="303216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0.9295</a:t>
            </a:r>
            <a:endParaRPr lang="en-US" sz="1250" dirty="0">
              <a:latin typeface="Times New Roman" panose="02020603050405020304" pitchFamily="18" charset="0"/>
              <a:cs typeface="Times New Roman" panose="02020603050405020304" pitchFamily="18" charset="0"/>
            </a:endParaRPr>
          </a:p>
        </p:txBody>
      </p:sp>
      <p:sp>
        <p:nvSpPr>
          <p:cNvPr id="36" name="Text 34"/>
          <p:cNvSpPr/>
          <p:nvPr/>
        </p:nvSpPr>
        <p:spPr>
          <a:xfrm>
            <a:off x="10849928" y="5580340"/>
            <a:ext cx="3035975" cy="261937"/>
          </a:xfrm>
          <a:prstGeom prst="rect">
            <a:avLst/>
          </a:prstGeom>
          <a:noFill/>
          <a:ln/>
        </p:spPr>
        <p:txBody>
          <a:bodyPr wrap="none" lIns="0" tIns="0" rIns="0" bIns="0" rtlCol="0" anchor="t"/>
          <a:lstStyle/>
          <a:p>
            <a:pPr marL="0" indent="0" algn="l">
              <a:lnSpc>
                <a:spcPts val="2050"/>
              </a:lnSpc>
              <a:buNone/>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0.7535</a:t>
            </a:r>
            <a:endParaRPr lang="en-US" sz="1250" dirty="0">
              <a:latin typeface="Times New Roman" panose="02020603050405020304" pitchFamily="18" charset="0"/>
              <a:cs typeface="Times New Roman" panose="02020603050405020304" pitchFamily="18" charset="0"/>
            </a:endParaRPr>
          </a:p>
        </p:txBody>
      </p:sp>
      <p:sp>
        <p:nvSpPr>
          <p:cNvPr id="37" name="Text 35"/>
          <p:cNvSpPr/>
          <p:nvPr/>
        </p:nvSpPr>
        <p:spPr>
          <a:xfrm>
            <a:off x="573167" y="6201370"/>
            <a:ext cx="2956203" cy="306943"/>
          </a:xfrm>
          <a:prstGeom prst="rect">
            <a:avLst/>
          </a:prstGeom>
          <a:noFill/>
          <a:ln/>
        </p:spPr>
        <p:txBody>
          <a:bodyPr wrap="none" lIns="0" tIns="0" rIns="0" bIns="0" rtlCol="0" anchor="t"/>
          <a:lstStyle/>
          <a:p>
            <a:pPr marL="0" indent="0" algn="l">
              <a:lnSpc>
                <a:spcPts val="2400"/>
              </a:lnSpc>
              <a:buNone/>
            </a:pPr>
            <a:r>
              <a:rPr lang="en-US" sz="19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So sánh với Exp1 &amp; Exp2:</a:t>
            </a:r>
            <a:endParaRPr lang="en-US" sz="1900" dirty="0">
              <a:latin typeface="Times New Roman" panose="02020603050405020304" pitchFamily="18" charset="0"/>
              <a:cs typeface="Times New Roman" panose="02020603050405020304" pitchFamily="18" charset="0"/>
            </a:endParaRPr>
          </a:p>
        </p:txBody>
      </p:sp>
      <p:sp>
        <p:nvSpPr>
          <p:cNvPr id="38" name="Text 36"/>
          <p:cNvSpPr/>
          <p:nvPr/>
        </p:nvSpPr>
        <p:spPr>
          <a:xfrm>
            <a:off x="573167" y="6753939"/>
            <a:ext cx="13484066" cy="261937"/>
          </a:xfrm>
          <a:prstGeom prst="rect">
            <a:avLst/>
          </a:prstGeom>
          <a:noFill/>
          <a:ln/>
        </p:spPr>
        <p:txBody>
          <a:bodyPr wrap="none" lIns="0" tIns="0" rIns="0" bIns="0" rtlCol="0" anchor="t"/>
          <a:lstStyle/>
          <a:p>
            <a:pPr marL="342900" indent="-342900" algn="l">
              <a:lnSpc>
                <a:spcPts val="2050"/>
              </a:lnSpc>
              <a:buSzPct val="100000"/>
              <a:buChar char="•"/>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Logistic Regression: Exp1 (76.56%) → Exp2 (82.72%) → Exp3 (85.41%)</a:t>
            </a:r>
            <a:endParaRPr lang="en-US" sz="1250" dirty="0">
              <a:latin typeface="Times New Roman" panose="02020603050405020304" pitchFamily="18" charset="0"/>
              <a:cs typeface="Times New Roman" panose="02020603050405020304" pitchFamily="18" charset="0"/>
            </a:endParaRPr>
          </a:p>
        </p:txBody>
      </p:sp>
      <p:sp>
        <p:nvSpPr>
          <p:cNvPr id="39" name="Text 37"/>
          <p:cNvSpPr/>
          <p:nvPr/>
        </p:nvSpPr>
        <p:spPr>
          <a:xfrm>
            <a:off x="573167" y="7073146"/>
            <a:ext cx="13484066" cy="261937"/>
          </a:xfrm>
          <a:prstGeom prst="rect">
            <a:avLst/>
          </a:prstGeom>
          <a:noFill/>
          <a:ln/>
        </p:spPr>
        <p:txBody>
          <a:bodyPr wrap="none" lIns="0" tIns="0" rIns="0" bIns="0" rtlCol="0" anchor="t"/>
          <a:lstStyle/>
          <a:p>
            <a:pPr marL="342900" indent="-342900" algn="l">
              <a:lnSpc>
                <a:spcPts val="2050"/>
              </a:lnSpc>
              <a:buSzPct val="100000"/>
              <a:buChar char="•"/>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Random Forest: Exp1 (71.29%) → Exp2 (81.93%) → Exp3 (84.74%)</a:t>
            </a:r>
            <a:endParaRPr lang="en-US" sz="1250" dirty="0">
              <a:latin typeface="Times New Roman" panose="02020603050405020304" pitchFamily="18" charset="0"/>
              <a:cs typeface="Times New Roman" panose="02020603050405020304" pitchFamily="18" charset="0"/>
            </a:endParaRPr>
          </a:p>
        </p:txBody>
      </p:sp>
      <p:sp>
        <p:nvSpPr>
          <p:cNvPr id="40" name="Text 38"/>
          <p:cNvSpPr/>
          <p:nvPr/>
        </p:nvSpPr>
        <p:spPr>
          <a:xfrm>
            <a:off x="573167" y="7392353"/>
            <a:ext cx="13484066" cy="261937"/>
          </a:xfrm>
          <a:prstGeom prst="rect">
            <a:avLst/>
          </a:prstGeom>
          <a:noFill/>
          <a:ln/>
        </p:spPr>
        <p:txBody>
          <a:bodyPr wrap="none" lIns="0" tIns="0" rIns="0" bIns="0" rtlCol="0" anchor="t"/>
          <a:lstStyle/>
          <a:p>
            <a:pPr marL="342900" indent="-342900" algn="l">
              <a:lnSpc>
                <a:spcPts val="2050"/>
              </a:lnSpc>
              <a:buSzPct val="100000"/>
              <a:buChar char="•"/>
            </a:pPr>
            <a:r>
              <a:rPr lang="en-US" sz="1250" dirty="0">
                <a:solidFill>
                  <a:srgbClr val="E5DCE6"/>
                </a:solidFill>
                <a:latin typeface="Times New Roman" panose="02020603050405020304" pitchFamily="18" charset="0"/>
                <a:ea typeface="Montserrat" pitchFamily="34" charset="-122"/>
                <a:cs typeface="Times New Roman" panose="02020603050405020304" pitchFamily="18" charset="0"/>
              </a:rPr>
              <a:t>Tất cả mô hình đều đạt hiệu suất cao nhất ở Exp3</a:t>
            </a:r>
            <a:endParaRPr lang="en-US" sz="12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54248" y="809744"/>
            <a:ext cx="8633817" cy="467320"/>
          </a:xfrm>
          <a:prstGeom prst="rect">
            <a:avLst/>
          </a:prstGeom>
          <a:noFill/>
          <a:ln/>
        </p:spPr>
        <p:txBody>
          <a:bodyPr wrap="none" lIns="0" tIns="0" rIns="0" bIns="0" rtlCol="0" anchor="t"/>
          <a:lstStyle/>
          <a:p>
            <a:pPr marL="0" indent="0" algn="l">
              <a:lnSpc>
                <a:spcPts val="3650"/>
              </a:lnSpc>
              <a:buNone/>
            </a:pPr>
            <a:r>
              <a:rPr lang="en-US" sz="29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Lựa chọn mô hình chính: Random Forest (Exp3)</a:t>
            </a:r>
            <a:endParaRPr lang="en-US" sz="2900" dirty="0">
              <a:latin typeface="Times New Roman" panose="02020603050405020304" pitchFamily="18" charset="0"/>
              <a:cs typeface="Times New Roman" panose="02020603050405020304" pitchFamily="18" charset="0"/>
            </a:endParaRPr>
          </a:p>
        </p:txBody>
      </p:sp>
      <p:sp>
        <p:nvSpPr>
          <p:cNvPr id="3" name="Text 1"/>
          <p:cNvSpPr/>
          <p:nvPr/>
        </p:nvSpPr>
        <p:spPr>
          <a:xfrm>
            <a:off x="654248" y="1650921"/>
            <a:ext cx="13321903" cy="897255"/>
          </a:xfrm>
          <a:prstGeom prst="rect">
            <a:avLst/>
          </a:prstGeom>
          <a:noFill/>
          <a:ln/>
        </p:spPr>
        <p:txBody>
          <a:bodyPr wrap="square" lIns="0" tIns="0" rIns="0" bIns="0" rtlCol="0" anchor="t"/>
          <a:lstStyle/>
          <a:p>
            <a:pPr marL="0" indent="0" algn="l">
              <a:lnSpc>
                <a:spcPts val="2350"/>
              </a:lnSpc>
              <a:buNone/>
            </a:pP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XGBoost có CV_ROC cao nhất, nhưng </a:t>
            </a: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Random Forest ở Exp3 được chọn làm mô hình chính</a:t>
            </a: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 vì nó đạt được </a:t>
            </a: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Public_Score cao nhất (81.578%)</a:t>
            </a: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 Public_Score là chỉ số quan trọng nhất để đánh giá hiệu suất thực tế của mô hình trên dữ liệu chưa từng thấy, đây là yếu tố then chốt cho một mô hình có khả năng triển khai.</a:t>
            </a:r>
            <a:endParaRPr lang="en-US" sz="1450" dirty="0">
              <a:latin typeface="Times New Roman" panose="02020603050405020304" pitchFamily="18" charset="0"/>
              <a:cs typeface="Times New Roman" panose="02020603050405020304" pitchFamily="18" charset="0"/>
            </a:endParaRPr>
          </a:p>
        </p:txBody>
      </p:sp>
      <p:sp>
        <p:nvSpPr>
          <p:cNvPr id="4" name="Shape 2"/>
          <p:cNvSpPr/>
          <p:nvPr/>
        </p:nvSpPr>
        <p:spPr>
          <a:xfrm>
            <a:off x="654248" y="3599974"/>
            <a:ext cx="6432947" cy="2169795"/>
          </a:xfrm>
          <a:prstGeom prst="roundRect">
            <a:avLst>
              <a:gd name="adj" fmla="val 3619"/>
            </a:avLst>
          </a:prstGeom>
          <a:noFill/>
          <a:ln w="7620">
            <a:solidFill>
              <a:srgbClr val="FFFFFF">
                <a:alpha val="24000"/>
              </a:srgbClr>
            </a:solidFill>
            <a:prstDash val="solid"/>
          </a:ln>
        </p:spPr>
      </p:sp>
      <p:sp>
        <p:nvSpPr>
          <p:cNvPr id="5" name="Shape 3"/>
          <p:cNvSpPr/>
          <p:nvPr/>
        </p:nvSpPr>
        <p:spPr>
          <a:xfrm>
            <a:off x="661868" y="3607594"/>
            <a:ext cx="6417707" cy="538639"/>
          </a:xfrm>
          <a:prstGeom prst="rect">
            <a:avLst/>
          </a:prstGeom>
          <a:solidFill>
            <a:srgbClr val="FFFFFF">
              <a:alpha val="4000"/>
            </a:srgbClr>
          </a:solidFill>
          <a:ln/>
        </p:spPr>
      </p:sp>
      <p:sp>
        <p:nvSpPr>
          <p:cNvPr id="6" name="Text 4"/>
          <p:cNvSpPr/>
          <p:nvPr/>
        </p:nvSpPr>
        <p:spPr>
          <a:xfrm>
            <a:off x="849035" y="3727371"/>
            <a:ext cx="763310" cy="299085"/>
          </a:xfrm>
          <a:prstGeom prst="rect">
            <a:avLst/>
          </a:prstGeom>
          <a:noFill/>
          <a:ln/>
        </p:spPr>
        <p:txBody>
          <a:bodyPr wrap="none" lIns="0" tIns="0" rIns="0" bIns="0" rtlCol="0" anchor="t"/>
          <a:lstStyle/>
          <a:p>
            <a:pPr marL="0" indent="0" algn="ctr">
              <a:lnSpc>
                <a:spcPts val="2350"/>
              </a:lnSpc>
              <a:buNone/>
            </a:pP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EXP</a:t>
            </a:r>
            <a:endParaRPr lang="en-US" sz="1450" dirty="0">
              <a:latin typeface="Times New Roman" panose="02020603050405020304" pitchFamily="18" charset="0"/>
              <a:cs typeface="Times New Roman" panose="02020603050405020304" pitchFamily="18" charset="0"/>
            </a:endParaRPr>
          </a:p>
        </p:txBody>
      </p:sp>
      <p:sp>
        <p:nvSpPr>
          <p:cNvPr id="7" name="Text 5"/>
          <p:cNvSpPr/>
          <p:nvPr/>
        </p:nvSpPr>
        <p:spPr>
          <a:xfrm>
            <a:off x="1993821" y="3727371"/>
            <a:ext cx="2476262" cy="299085"/>
          </a:xfrm>
          <a:prstGeom prst="rect">
            <a:avLst/>
          </a:prstGeom>
          <a:noFill/>
          <a:ln/>
        </p:spPr>
        <p:txBody>
          <a:bodyPr wrap="none" lIns="0" tIns="0" rIns="0" bIns="0" rtlCol="0" anchor="t"/>
          <a:lstStyle/>
          <a:p>
            <a:pPr marL="0" indent="0" algn="ctr">
              <a:lnSpc>
                <a:spcPts val="2350"/>
              </a:lnSpc>
              <a:buNone/>
            </a:pP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MODEL</a:t>
            </a:r>
            <a:endParaRPr lang="en-US" sz="1450" dirty="0">
              <a:latin typeface="Times New Roman" panose="02020603050405020304" pitchFamily="18" charset="0"/>
              <a:cs typeface="Times New Roman" panose="02020603050405020304" pitchFamily="18" charset="0"/>
            </a:endParaRPr>
          </a:p>
        </p:txBody>
      </p:sp>
      <p:sp>
        <p:nvSpPr>
          <p:cNvPr id="8" name="Text 6"/>
          <p:cNvSpPr/>
          <p:nvPr/>
        </p:nvSpPr>
        <p:spPr>
          <a:xfrm>
            <a:off x="4851559" y="3727371"/>
            <a:ext cx="2041088" cy="299085"/>
          </a:xfrm>
          <a:prstGeom prst="rect">
            <a:avLst/>
          </a:prstGeom>
          <a:noFill/>
          <a:ln/>
        </p:spPr>
        <p:txBody>
          <a:bodyPr wrap="none" lIns="0" tIns="0" rIns="0" bIns="0" rtlCol="0" anchor="t"/>
          <a:lstStyle/>
          <a:p>
            <a:pPr marL="0" indent="0" algn="ctr">
              <a:lnSpc>
                <a:spcPts val="2350"/>
              </a:lnSpc>
              <a:buNone/>
            </a:pP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SCORE</a:t>
            </a:r>
            <a:endParaRPr lang="en-US" sz="1450" dirty="0">
              <a:latin typeface="Times New Roman" panose="02020603050405020304" pitchFamily="18" charset="0"/>
              <a:cs typeface="Times New Roman" panose="02020603050405020304" pitchFamily="18" charset="0"/>
            </a:endParaRPr>
          </a:p>
        </p:txBody>
      </p:sp>
      <p:sp>
        <p:nvSpPr>
          <p:cNvPr id="9" name="Shape 7"/>
          <p:cNvSpPr/>
          <p:nvPr/>
        </p:nvSpPr>
        <p:spPr>
          <a:xfrm>
            <a:off x="661868" y="4146232"/>
            <a:ext cx="6417707" cy="538639"/>
          </a:xfrm>
          <a:prstGeom prst="rect">
            <a:avLst/>
          </a:prstGeom>
          <a:solidFill>
            <a:srgbClr val="000000">
              <a:alpha val="4000"/>
            </a:srgbClr>
          </a:solidFill>
          <a:ln/>
        </p:spPr>
      </p:sp>
      <p:sp>
        <p:nvSpPr>
          <p:cNvPr id="10" name="Text 8"/>
          <p:cNvSpPr/>
          <p:nvPr/>
        </p:nvSpPr>
        <p:spPr>
          <a:xfrm>
            <a:off x="849035" y="4266009"/>
            <a:ext cx="763310" cy="299085"/>
          </a:xfrm>
          <a:prstGeom prst="rect">
            <a:avLst/>
          </a:prstGeom>
          <a:noFill/>
          <a:ln/>
        </p:spPr>
        <p:txBody>
          <a:bodyPr wrap="none" lIns="0" tIns="0" rIns="0" bIns="0" rtlCol="0" anchor="t"/>
          <a:lstStyle/>
          <a:p>
            <a:pPr marL="0" indent="0" algn="ctr">
              <a:lnSpc>
                <a:spcPts val="2350"/>
              </a:lnSpc>
              <a:buNone/>
            </a:pP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1</a:t>
            </a:r>
            <a:endParaRPr lang="en-US" sz="1450" dirty="0">
              <a:latin typeface="Times New Roman" panose="02020603050405020304" pitchFamily="18" charset="0"/>
              <a:cs typeface="Times New Roman" panose="02020603050405020304" pitchFamily="18" charset="0"/>
            </a:endParaRPr>
          </a:p>
        </p:txBody>
      </p:sp>
      <p:sp>
        <p:nvSpPr>
          <p:cNvPr id="11" name="Text 9"/>
          <p:cNvSpPr/>
          <p:nvPr/>
        </p:nvSpPr>
        <p:spPr>
          <a:xfrm>
            <a:off x="1993821" y="4266009"/>
            <a:ext cx="2476262" cy="299085"/>
          </a:xfrm>
          <a:prstGeom prst="rect">
            <a:avLst/>
          </a:prstGeom>
          <a:noFill/>
          <a:ln/>
        </p:spPr>
        <p:txBody>
          <a:bodyPr wrap="none" lIns="0" tIns="0" rIns="0" bIns="0" rtlCol="0" anchor="t"/>
          <a:lstStyle/>
          <a:p>
            <a:pPr marL="0" indent="0" algn="ctr">
              <a:lnSpc>
                <a:spcPts val="2350"/>
              </a:lnSpc>
              <a:buNone/>
            </a:pP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Logistic Regression</a:t>
            </a:r>
            <a:endParaRPr lang="en-US" sz="1450" dirty="0">
              <a:latin typeface="Times New Roman" panose="02020603050405020304" pitchFamily="18" charset="0"/>
              <a:cs typeface="Times New Roman" panose="02020603050405020304" pitchFamily="18" charset="0"/>
            </a:endParaRPr>
          </a:p>
        </p:txBody>
      </p:sp>
      <p:sp>
        <p:nvSpPr>
          <p:cNvPr id="12" name="Text 10"/>
          <p:cNvSpPr/>
          <p:nvPr/>
        </p:nvSpPr>
        <p:spPr>
          <a:xfrm>
            <a:off x="4851559" y="4266009"/>
            <a:ext cx="2041088" cy="299085"/>
          </a:xfrm>
          <a:prstGeom prst="rect">
            <a:avLst/>
          </a:prstGeom>
          <a:noFill/>
          <a:ln/>
        </p:spPr>
        <p:txBody>
          <a:bodyPr wrap="none" lIns="0" tIns="0" rIns="0" bIns="0" rtlCol="0" anchor="t"/>
          <a:lstStyle/>
          <a:p>
            <a:pPr marL="0" indent="0" algn="ctr">
              <a:lnSpc>
                <a:spcPts val="2350"/>
              </a:lnSpc>
              <a:buNone/>
            </a:pP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0.76555</a:t>
            </a:r>
            <a:endParaRPr lang="en-US" sz="1450" dirty="0">
              <a:latin typeface="Times New Roman" panose="02020603050405020304" pitchFamily="18" charset="0"/>
              <a:cs typeface="Times New Roman" panose="02020603050405020304" pitchFamily="18" charset="0"/>
            </a:endParaRPr>
          </a:p>
        </p:txBody>
      </p:sp>
      <p:sp>
        <p:nvSpPr>
          <p:cNvPr id="13" name="Shape 11"/>
          <p:cNvSpPr/>
          <p:nvPr/>
        </p:nvSpPr>
        <p:spPr>
          <a:xfrm>
            <a:off x="661868" y="4684871"/>
            <a:ext cx="6417707" cy="538639"/>
          </a:xfrm>
          <a:prstGeom prst="rect">
            <a:avLst/>
          </a:prstGeom>
          <a:solidFill>
            <a:srgbClr val="FFFFFF">
              <a:alpha val="4000"/>
            </a:srgbClr>
          </a:solidFill>
          <a:ln/>
        </p:spPr>
      </p:sp>
      <p:sp>
        <p:nvSpPr>
          <p:cNvPr id="14" name="Text 12"/>
          <p:cNvSpPr/>
          <p:nvPr/>
        </p:nvSpPr>
        <p:spPr>
          <a:xfrm>
            <a:off x="849035" y="4804648"/>
            <a:ext cx="763310" cy="299085"/>
          </a:xfrm>
          <a:prstGeom prst="rect">
            <a:avLst/>
          </a:prstGeom>
          <a:noFill/>
          <a:ln/>
        </p:spPr>
        <p:txBody>
          <a:bodyPr wrap="none" lIns="0" tIns="0" rIns="0" bIns="0" rtlCol="0" anchor="t"/>
          <a:lstStyle/>
          <a:p>
            <a:pPr marL="0" indent="0" algn="ctr">
              <a:lnSpc>
                <a:spcPts val="2350"/>
              </a:lnSpc>
              <a:buNone/>
            </a:pP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2</a:t>
            </a:r>
            <a:endParaRPr lang="en-US" sz="1450" dirty="0">
              <a:latin typeface="Times New Roman" panose="02020603050405020304" pitchFamily="18" charset="0"/>
              <a:cs typeface="Times New Roman" panose="02020603050405020304" pitchFamily="18" charset="0"/>
            </a:endParaRPr>
          </a:p>
        </p:txBody>
      </p:sp>
      <p:sp>
        <p:nvSpPr>
          <p:cNvPr id="15" name="Text 13"/>
          <p:cNvSpPr/>
          <p:nvPr/>
        </p:nvSpPr>
        <p:spPr>
          <a:xfrm>
            <a:off x="1993821" y="4804648"/>
            <a:ext cx="2476262" cy="299085"/>
          </a:xfrm>
          <a:prstGeom prst="rect">
            <a:avLst/>
          </a:prstGeom>
          <a:noFill/>
          <a:ln/>
        </p:spPr>
        <p:txBody>
          <a:bodyPr wrap="none" lIns="0" tIns="0" rIns="0" bIns="0" rtlCol="0" anchor="t"/>
          <a:lstStyle/>
          <a:p>
            <a:pPr marL="0" indent="0" algn="ctr">
              <a:lnSpc>
                <a:spcPts val="2350"/>
              </a:lnSpc>
              <a:buNone/>
            </a:pP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Logistic Regression</a:t>
            </a:r>
            <a:endParaRPr lang="en-US" sz="1450" dirty="0">
              <a:latin typeface="Times New Roman" panose="02020603050405020304" pitchFamily="18" charset="0"/>
              <a:cs typeface="Times New Roman" panose="02020603050405020304" pitchFamily="18" charset="0"/>
            </a:endParaRPr>
          </a:p>
        </p:txBody>
      </p:sp>
      <p:sp>
        <p:nvSpPr>
          <p:cNvPr id="16" name="Text 14"/>
          <p:cNvSpPr/>
          <p:nvPr/>
        </p:nvSpPr>
        <p:spPr>
          <a:xfrm>
            <a:off x="4851559" y="4804648"/>
            <a:ext cx="2041088" cy="299085"/>
          </a:xfrm>
          <a:prstGeom prst="rect">
            <a:avLst/>
          </a:prstGeom>
          <a:noFill/>
          <a:ln/>
        </p:spPr>
        <p:txBody>
          <a:bodyPr wrap="none" lIns="0" tIns="0" rIns="0" bIns="0" rtlCol="0" anchor="t"/>
          <a:lstStyle/>
          <a:p>
            <a:pPr marL="0" indent="0" algn="ctr">
              <a:lnSpc>
                <a:spcPts val="2350"/>
              </a:lnSpc>
              <a:buNone/>
            </a:pP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0.7823</a:t>
            </a:r>
            <a:endParaRPr lang="en-US" sz="1450" dirty="0">
              <a:latin typeface="Times New Roman" panose="02020603050405020304" pitchFamily="18" charset="0"/>
              <a:cs typeface="Times New Roman" panose="02020603050405020304" pitchFamily="18" charset="0"/>
            </a:endParaRPr>
          </a:p>
        </p:txBody>
      </p:sp>
      <p:sp>
        <p:nvSpPr>
          <p:cNvPr id="17" name="Shape 15"/>
          <p:cNvSpPr/>
          <p:nvPr/>
        </p:nvSpPr>
        <p:spPr>
          <a:xfrm>
            <a:off x="661868" y="5223510"/>
            <a:ext cx="6417707" cy="538639"/>
          </a:xfrm>
          <a:prstGeom prst="rect">
            <a:avLst/>
          </a:prstGeom>
          <a:solidFill>
            <a:srgbClr val="000000">
              <a:alpha val="4000"/>
            </a:srgbClr>
          </a:solidFill>
          <a:ln/>
        </p:spPr>
      </p:sp>
      <p:sp>
        <p:nvSpPr>
          <p:cNvPr id="18" name="Text 16"/>
          <p:cNvSpPr/>
          <p:nvPr/>
        </p:nvSpPr>
        <p:spPr>
          <a:xfrm>
            <a:off x="849035" y="5343287"/>
            <a:ext cx="763310" cy="299085"/>
          </a:xfrm>
          <a:prstGeom prst="rect">
            <a:avLst/>
          </a:prstGeom>
          <a:noFill/>
          <a:ln/>
        </p:spPr>
        <p:txBody>
          <a:bodyPr wrap="none" lIns="0" tIns="0" rIns="0" bIns="0" rtlCol="0" anchor="t"/>
          <a:lstStyle/>
          <a:p>
            <a:pPr marL="0" indent="0" algn="ctr">
              <a:lnSpc>
                <a:spcPts val="2350"/>
              </a:lnSpc>
              <a:buNone/>
            </a:pP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3</a:t>
            </a:r>
            <a:endParaRPr lang="en-US" sz="1450" dirty="0">
              <a:latin typeface="Times New Roman" panose="02020603050405020304" pitchFamily="18" charset="0"/>
              <a:cs typeface="Times New Roman" panose="02020603050405020304" pitchFamily="18" charset="0"/>
            </a:endParaRPr>
          </a:p>
        </p:txBody>
      </p:sp>
      <p:sp>
        <p:nvSpPr>
          <p:cNvPr id="19" name="Text 17"/>
          <p:cNvSpPr/>
          <p:nvPr/>
        </p:nvSpPr>
        <p:spPr>
          <a:xfrm>
            <a:off x="1993821" y="5343287"/>
            <a:ext cx="2476262" cy="299085"/>
          </a:xfrm>
          <a:prstGeom prst="rect">
            <a:avLst/>
          </a:prstGeom>
          <a:noFill/>
          <a:ln/>
        </p:spPr>
        <p:txBody>
          <a:bodyPr wrap="none" lIns="0" tIns="0" rIns="0" bIns="0" rtlCol="0" anchor="t"/>
          <a:lstStyle/>
          <a:p>
            <a:pPr marL="0" indent="0" algn="ctr">
              <a:lnSpc>
                <a:spcPts val="2350"/>
              </a:lnSpc>
              <a:buNone/>
            </a:pP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Random Forest</a:t>
            </a:r>
            <a:endParaRPr lang="en-US" sz="1450" dirty="0">
              <a:latin typeface="Times New Roman" panose="02020603050405020304" pitchFamily="18" charset="0"/>
              <a:cs typeface="Times New Roman" panose="02020603050405020304" pitchFamily="18" charset="0"/>
            </a:endParaRPr>
          </a:p>
        </p:txBody>
      </p:sp>
      <p:sp>
        <p:nvSpPr>
          <p:cNvPr id="20" name="Text 18"/>
          <p:cNvSpPr/>
          <p:nvPr/>
        </p:nvSpPr>
        <p:spPr>
          <a:xfrm>
            <a:off x="4851559" y="5343287"/>
            <a:ext cx="2041088" cy="299085"/>
          </a:xfrm>
          <a:prstGeom prst="rect">
            <a:avLst/>
          </a:prstGeom>
          <a:noFill/>
          <a:ln/>
        </p:spPr>
        <p:txBody>
          <a:bodyPr wrap="none" lIns="0" tIns="0" rIns="0" bIns="0" rtlCol="0" anchor="t"/>
          <a:lstStyle/>
          <a:p>
            <a:pPr marL="0" indent="0" algn="ctr">
              <a:lnSpc>
                <a:spcPts val="2350"/>
              </a:lnSpc>
              <a:buNone/>
            </a:pP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0.81578</a:t>
            </a:r>
            <a:endParaRPr lang="en-US" sz="1450" dirty="0">
              <a:latin typeface="Times New Roman" panose="02020603050405020304" pitchFamily="18" charset="0"/>
              <a:cs typeface="Times New Roman" panose="02020603050405020304" pitchFamily="18" charset="0"/>
            </a:endParaRPr>
          </a:p>
        </p:txBody>
      </p:sp>
      <p:sp>
        <p:nvSpPr>
          <p:cNvPr id="21" name="Text 19"/>
          <p:cNvSpPr/>
          <p:nvPr/>
        </p:nvSpPr>
        <p:spPr>
          <a:xfrm>
            <a:off x="7550825" y="2945368"/>
            <a:ext cx="6101477" cy="292060"/>
          </a:xfrm>
          <a:prstGeom prst="rect">
            <a:avLst/>
          </a:prstGeom>
          <a:noFill/>
          <a:ln/>
        </p:spPr>
        <p:txBody>
          <a:bodyPr wrap="none" lIns="0" tIns="0" rIns="0" bIns="0" rtlCol="0" anchor="t"/>
          <a:lstStyle/>
          <a:p>
            <a:pPr marL="0" indent="0" algn="l">
              <a:lnSpc>
                <a:spcPts val="2300"/>
              </a:lnSpc>
              <a:buNone/>
            </a:pPr>
            <a:r>
              <a:rPr lang="en-US" sz="18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Ưu điểm của Random Forest so với các mô hình khác:</a:t>
            </a:r>
            <a:endParaRPr lang="en-US" sz="1800" dirty="0">
              <a:latin typeface="Times New Roman" panose="02020603050405020304" pitchFamily="18" charset="0"/>
              <a:cs typeface="Times New Roman" panose="02020603050405020304" pitchFamily="18" charset="0"/>
            </a:endParaRPr>
          </a:p>
        </p:txBody>
      </p:sp>
      <p:sp>
        <p:nvSpPr>
          <p:cNvPr id="22" name="Text 20"/>
          <p:cNvSpPr/>
          <p:nvPr/>
        </p:nvSpPr>
        <p:spPr>
          <a:xfrm>
            <a:off x="7550825" y="3424357"/>
            <a:ext cx="6432947" cy="1196340"/>
          </a:xfrm>
          <a:prstGeom prst="rect">
            <a:avLst/>
          </a:prstGeom>
          <a:noFill/>
          <a:ln/>
        </p:spPr>
        <p:txBody>
          <a:bodyPr wrap="square" lIns="0" tIns="0" rIns="0" bIns="0" rtlCol="0" anchor="t"/>
          <a:lstStyle/>
          <a:p>
            <a:pPr marL="342900" indent="-342900" algn="l">
              <a:lnSpc>
                <a:spcPts val="2350"/>
              </a:lnSpc>
              <a:buSzPct val="100000"/>
              <a:buChar char="•"/>
            </a:pP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Khả năng tổng quát hóa mạnh mẽ:</a:t>
            </a: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 Như được thể hiện bởi Public_Score cao nhất, Random Forest có khả năng xử lý tốt dữ liệu mới và giảm thiểu nguy cơ quá khớp (overfitting), một vấn đề thường gặp với các mô hình cây quyết định đơn lẻ.</a:t>
            </a:r>
            <a:endParaRPr lang="en-US" sz="1450" dirty="0">
              <a:latin typeface="Times New Roman" panose="02020603050405020304" pitchFamily="18" charset="0"/>
              <a:cs typeface="Times New Roman" panose="02020603050405020304" pitchFamily="18" charset="0"/>
            </a:endParaRPr>
          </a:p>
        </p:txBody>
      </p:sp>
      <p:sp>
        <p:nvSpPr>
          <p:cNvPr id="23" name="Text 21"/>
          <p:cNvSpPr/>
          <p:nvPr/>
        </p:nvSpPr>
        <p:spPr>
          <a:xfrm>
            <a:off x="7550825" y="4686062"/>
            <a:ext cx="6432947" cy="897255"/>
          </a:xfrm>
          <a:prstGeom prst="rect">
            <a:avLst/>
          </a:prstGeom>
          <a:noFill/>
          <a:ln/>
        </p:spPr>
        <p:txBody>
          <a:bodyPr wrap="square" lIns="0" tIns="0" rIns="0" bIns="0" rtlCol="0" anchor="t"/>
          <a:lstStyle/>
          <a:p>
            <a:pPr marL="342900" indent="-342900" algn="l">
              <a:lnSpc>
                <a:spcPts val="2350"/>
              </a:lnSpc>
              <a:buSzPct val="100000"/>
              <a:buChar char="•"/>
            </a:pP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Tính ổn định và độ bền cao:</a:t>
            </a: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 Random Forest là một mô hình học ensemble, nó xây dựng nhiều cây quyết định và kết hợp kết quả của chúng.</a:t>
            </a:r>
            <a:endParaRPr lang="en-US" sz="1450" dirty="0">
              <a:latin typeface="Times New Roman" panose="02020603050405020304" pitchFamily="18" charset="0"/>
              <a:cs typeface="Times New Roman" panose="02020603050405020304" pitchFamily="18" charset="0"/>
            </a:endParaRPr>
          </a:p>
        </p:txBody>
      </p:sp>
      <p:sp>
        <p:nvSpPr>
          <p:cNvPr id="24" name="Text 22"/>
          <p:cNvSpPr/>
          <p:nvPr/>
        </p:nvSpPr>
        <p:spPr>
          <a:xfrm>
            <a:off x="7550825" y="5648682"/>
            <a:ext cx="6432947" cy="897255"/>
          </a:xfrm>
          <a:prstGeom prst="rect">
            <a:avLst/>
          </a:prstGeom>
          <a:noFill/>
          <a:ln/>
        </p:spPr>
        <p:txBody>
          <a:bodyPr wrap="square" lIns="0" tIns="0" rIns="0" bIns="0" rtlCol="0" anchor="t"/>
          <a:lstStyle/>
          <a:p>
            <a:pPr marL="342900" indent="-342900" algn="l">
              <a:lnSpc>
                <a:spcPts val="2350"/>
              </a:lnSpc>
              <a:buSzPct val="100000"/>
              <a:buChar char="•"/>
            </a:pP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Xử lý đa dạng dữ liệu:</a:t>
            </a: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 Có thể xử lý cả dữ liệu định tính và định lượng một cách hiệu quả mà không yêu cầu chuẩn hóa dữ liệu phức tạp.</a:t>
            </a:r>
            <a:endParaRPr lang="en-US" sz="1450" dirty="0">
              <a:latin typeface="Times New Roman" panose="02020603050405020304" pitchFamily="18" charset="0"/>
              <a:cs typeface="Times New Roman" panose="02020603050405020304" pitchFamily="18" charset="0"/>
            </a:endParaRPr>
          </a:p>
        </p:txBody>
      </p:sp>
      <p:sp>
        <p:nvSpPr>
          <p:cNvPr id="25" name="Text 23"/>
          <p:cNvSpPr/>
          <p:nvPr/>
        </p:nvSpPr>
        <p:spPr>
          <a:xfrm>
            <a:off x="654248" y="6821567"/>
            <a:ext cx="13321903" cy="598170"/>
          </a:xfrm>
          <a:prstGeom prst="rect">
            <a:avLst/>
          </a:prstGeom>
          <a:noFill/>
          <a:ln/>
        </p:spPr>
        <p:txBody>
          <a:bodyPr wrap="square" lIns="0" tIns="0" rIns="0" bIns="0" rtlCol="0" anchor="t"/>
          <a:lstStyle/>
          <a:p>
            <a:pPr marL="0" indent="0" algn="l">
              <a:lnSpc>
                <a:spcPts val="2350"/>
              </a:lnSpc>
              <a:buNone/>
            </a:pPr>
            <a:r>
              <a:rPr lang="en-US" sz="1450" b="1" dirty="0">
                <a:solidFill>
                  <a:srgbClr val="E5DCE6"/>
                </a:solidFill>
                <a:latin typeface="Times New Roman" panose="02020603050405020304" pitchFamily="18" charset="0"/>
                <a:ea typeface="Montserrat" pitchFamily="34" charset="-122"/>
                <a:cs typeface="Times New Roman" panose="02020603050405020304" pitchFamily="18" charset="0"/>
              </a:rPr>
              <a:t>Kết luận: </a:t>
            </a:r>
            <a:r>
              <a:rPr lang="en-US" sz="1450" dirty="0">
                <a:solidFill>
                  <a:srgbClr val="E5DCE6"/>
                </a:solidFill>
                <a:latin typeface="Times New Roman" panose="02020603050405020304" pitchFamily="18" charset="0"/>
                <a:ea typeface="Montserrat" pitchFamily="34" charset="-122"/>
                <a:cs typeface="Times New Roman" panose="02020603050405020304" pitchFamily="18" charset="0"/>
              </a:rPr>
              <a:t>Random Forest nổi bật nhờ cân bằng giữa hiệu suất thực tế (Public Score) và robustness, làm nền tảng lý tưởng cho dự đoán sống sót Titanic – sẵn sàng deploy với ít rủi ro overfitting.</a:t>
            </a:r>
            <a:endParaRPr lang="en-US" sz="14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2580" y="541734"/>
            <a:ext cx="7102554" cy="458986"/>
          </a:xfrm>
          <a:prstGeom prst="rect">
            <a:avLst/>
          </a:prstGeom>
          <a:noFill/>
          <a:ln/>
        </p:spPr>
        <p:txBody>
          <a:bodyPr wrap="none" lIns="0" tIns="0" rIns="0" bIns="0" rtlCol="0" anchor="t"/>
          <a:lstStyle/>
          <a:p>
            <a:pPr marL="0" indent="0" algn="l">
              <a:lnSpc>
                <a:spcPts val="3600"/>
              </a:lnSpc>
              <a:buNone/>
            </a:pPr>
            <a:r>
              <a:rPr lang="en-US" sz="28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MÔ HÌNH RANDOM FOREST CLASSIFIER</a:t>
            </a:r>
            <a:endParaRPr lang="en-US" sz="2850" dirty="0">
              <a:latin typeface="Times New Roman" panose="02020603050405020304" pitchFamily="18" charset="0"/>
              <a:cs typeface="Times New Roman" panose="02020603050405020304" pitchFamily="18" charset="0"/>
            </a:endParaRPr>
          </a:p>
        </p:txBody>
      </p:sp>
      <p:sp>
        <p:nvSpPr>
          <p:cNvPr id="3" name="Text 1"/>
          <p:cNvSpPr/>
          <p:nvPr/>
        </p:nvSpPr>
        <p:spPr>
          <a:xfrm>
            <a:off x="642580" y="1367909"/>
            <a:ext cx="13345239" cy="293727"/>
          </a:xfrm>
          <a:prstGeom prst="rect">
            <a:avLst/>
          </a:prstGeom>
          <a:noFill/>
          <a:ln/>
        </p:spPr>
        <p:txBody>
          <a:bodyPr wrap="none" lIns="0" tIns="0" rIns="0" bIns="0" rtlCol="0" anchor="t"/>
          <a:lstStyle/>
          <a:p>
            <a:pPr marL="0" indent="0" algn="l">
              <a:lnSpc>
                <a:spcPts val="230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Chúng tôi đã triển khai hai phiên bản của mô hình Random Forest để đánh giá hiệu suất và tìm ra cấu hình tối ưu:</a:t>
            </a:r>
            <a:endParaRPr lang="en-US" sz="1400" dirty="0">
              <a:latin typeface="Times New Roman" panose="02020603050405020304" pitchFamily="18" charset="0"/>
              <a:cs typeface="Times New Roman" panose="02020603050405020304" pitchFamily="18" charset="0"/>
            </a:endParaRPr>
          </a:p>
        </p:txBody>
      </p:sp>
      <p:sp>
        <p:nvSpPr>
          <p:cNvPr id="4" name="Shape 2"/>
          <p:cNvSpPr/>
          <p:nvPr/>
        </p:nvSpPr>
        <p:spPr>
          <a:xfrm>
            <a:off x="642580" y="1868210"/>
            <a:ext cx="6580823" cy="2113240"/>
          </a:xfrm>
          <a:prstGeom prst="roundRect">
            <a:avLst>
              <a:gd name="adj" fmla="val 3649"/>
            </a:avLst>
          </a:prstGeom>
          <a:solidFill>
            <a:srgbClr val="090E3F"/>
          </a:solidFill>
          <a:ln w="22860">
            <a:solidFill>
              <a:srgbClr val="414677"/>
            </a:solidFill>
            <a:prstDash val="solid"/>
          </a:ln>
        </p:spPr>
      </p:sp>
      <p:sp>
        <p:nvSpPr>
          <p:cNvPr id="5" name="Text 3"/>
          <p:cNvSpPr/>
          <p:nvPr/>
        </p:nvSpPr>
        <p:spPr>
          <a:xfrm>
            <a:off x="849035" y="2074664"/>
            <a:ext cx="4362093" cy="286941"/>
          </a:xfrm>
          <a:prstGeom prst="rect">
            <a:avLst/>
          </a:prstGeom>
          <a:noFill/>
          <a:ln/>
        </p:spPr>
        <p:txBody>
          <a:bodyPr wrap="none" lIns="0" tIns="0" rIns="0" bIns="0" rtlCol="0" anchor="t"/>
          <a:lstStyle/>
          <a:p>
            <a:pPr marL="0" indent="0" algn="l">
              <a:lnSpc>
                <a:spcPts val="2250"/>
              </a:lnSpc>
              <a:buNone/>
            </a:pPr>
            <a:r>
              <a:rPr lang="en-US" sz="18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Phiên Bản Cơ Bản (Single_Best_Model)</a:t>
            </a:r>
            <a:endParaRPr lang="en-US" sz="1800" dirty="0">
              <a:latin typeface="Times New Roman" panose="02020603050405020304" pitchFamily="18" charset="0"/>
              <a:cs typeface="Times New Roman" panose="02020603050405020304" pitchFamily="18" charset="0"/>
            </a:endParaRPr>
          </a:p>
        </p:txBody>
      </p:sp>
      <p:sp>
        <p:nvSpPr>
          <p:cNvPr id="6" name="Text 4"/>
          <p:cNvSpPr/>
          <p:nvPr/>
        </p:nvSpPr>
        <p:spPr>
          <a:xfrm>
            <a:off x="849035" y="2471738"/>
            <a:ext cx="6167914" cy="293727"/>
          </a:xfrm>
          <a:prstGeom prst="rect">
            <a:avLst/>
          </a:prstGeom>
          <a:noFill/>
          <a:ln/>
        </p:spPr>
        <p:txBody>
          <a:bodyPr wrap="none" lIns="0" tIns="0" rIns="0" bIns="0" rtlCol="0" anchor="t"/>
          <a:lstStyle/>
          <a:p>
            <a:pPr marL="342900" indent="-342900" algn="l">
              <a:lnSpc>
                <a:spcPts val="2300"/>
              </a:lnSpc>
              <a:buSzPct val="100000"/>
              <a:buChar char="•"/>
            </a:pPr>
            <a:r>
              <a:rPr lang="en-US" sz="1400" b="1" dirty="0">
                <a:solidFill>
                  <a:srgbClr val="E5DCE6"/>
                </a:solidFill>
                <a:latin typeface="Times New Roman" panose="02020603050405020304" pitchFamily="18" charset="0"/>
                <a:ea typeface="Montserrat" pitchFamily="34" charset="-122"/>
                <a:cs typeface="Times New Roman" panose="02020603050405020304" pitchFamily="18" charset="0"/>
              </a:rPr>
              <a:t>Mục tiêu:</a:t>
            </a: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 Prototyping nhanh.</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849035" y="2829639"/>
            <a:ext cx="6167914" cy="301347"/>
          </a:xfrm>
          <a:prstGeom prst="rect">
            <a:avLst/>
          </a:prstGeom>
          <a:noFill/>
          <a:ln/>
        </p:spPr>
        <p:txBody>
          <a:bodyPr wrap="none" lIns="0" tIns="0" rIns="0" bIns="0" rtlCol="0" anchor="t"/>
          <a:lstStyle/>
          <a:p>
            <a:pPr marL="342900" indent="-342900" algn="l">
              <a:lnSpc>
                <a:spcPts val="2300"/>
              </a:lnSpc>
              <a:buSzPct val="100000"/>
              <a:buChar char="•"/>
            </a:pPr>
            <a:r>
              <a:rPr lang="en-US" sz="1400" b="1" dirty="0">
                <a:solidFill>
                  <a:srgbClr val="E5DCE6"/>
                </a:solidFill>
                <a:latin typeface="Times New Roman" panose="02020603050405020304" pitchFamily="18" charset="0"/>
                <a:ea typeface="Montserrat" pitchFamily="34" charset="-122"/>
                <a:cs typeface="Times New Roman" panose="02020603050405020304" pitchFamily="18" charset="0"/>
              </a:rPr>
              <a:t>Tham số:</a:t>
            </a: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 Default (</a:t>
            </a:r>
            <a:r>
              <a:rPr lang="en-US" sz="1400" dirty="0">
                <a:solidFill>
                  <a:srgbClr val="E5DCE6"/>
                </a:solidFill>
                <a:highlight>
                  <a:srgbClr val="161B4C"/>
                </a:highlight>
                <a:latin typeface="Times New Roman" panose="02020603050405020304" pitchFamily="18" charset="0"/>
                <a:ea typeface="Consolas" pitchFamily="34" charset="-122"/>
                <a:cs typeface="Times New Roman" panose="02020603050405020304" pitchFamily="18" charset="0"/>
              </a:rPr>
              <a:t>N_Estimators=100</a:t>
            </a: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 </a:t>
            </a:r>
            <a:r>
              <a:rPr lang="en-US" sz="1400" dirty="0">
                <a:solidFill>
                  <a:srgbClr val="E5DCE6"/>
                </a:solidFill>
                <a:highlight>
                  <a:srgbClr val="161B4C"/>
                </a:highlight>
                <a:latin typeface="Times New Roman" panose="02020603050405020304" pitchFamily="18" charset="0"/>
                <a:ea typeface="Consolas" pitchFamily="34" charset="-122"/>
                <a:cs typeface="Times New Roman" panose="02020603050405020304" pitchFamily="18" charset="0"/>
              </a:rPr>
              <a:t>Max_Depth=None</a:t>
            </a: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849035" y="3195161"/>
            <a:ext cx="6167914" cy="293727"/>
          </a:xfrm>
          <a:prstGeom prst="rect">
            <a:avLst/>
          </a:prstGeom>
          <a:noFill/>
          <a:ln/>
        </p:spPr>
        <p:txBody>
          <a:bodyPr wrap="none" lIns="0" tIns="0" rIns="0" bIns="0" rtlCol="0" anchor="t"/>
          <a:lstStyle/>
          <a:p>
            <a:pPr marL="342900" indent="-342900" algn="l">
              <a:lnSpc>
                <a:spcPts val="2300"/>
              </a:lnSpc>
              <a:buSzPct val="100000"/>
              <a:buChar char="•"/>
            </a:pPr>
            <a:r>
              <a:rPr lang="en-US" sz="1400" b="1" dirty="0">
                <a:solidFill>
                  <a:srgbClr val="E5DCE6"/>
                </a:solidFill>
                <a:latin typeface="Times New Roman" panose="02020603050405020304" pitchFamily="18" charset="0"/>
                <a:ea typeface="Montserrat" pitchFamily="34" charset="-122"/>
                <a:cs typeface="Times New Roman" panose="02020603050405020304" pitchFamily="18" charset="0"/>
              </a:rPr>
              <a:t>Kết quả:</a:t>
            </a: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 Baseline Public Score ~</a:t>
            </a:r>
            <a:r>
              <a:rPr lang="en-US" sz="1400" dirty="0">
                <a:solidFill>
                  <a:srgbClr val="FF0000"/>
                </a:solidFill>
                <a:latin typeface="Times New Roman" panose="02020603050405020304" pitchFamily="18" charset="0"/>
                <a:ea typeface="Montserrat" pitchFamily="34" charset="-122"/>
                <a:cs typeface="Times New Roman" panose="02020603050405020304" pitchFamily="18" charset="0"/>
              </a:rPr>
              <a:t>78%</a:t>
            </a: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9" name="Shape 7"/>
          <p:cNvSpPr/>
          <p:nvPr/>
        </p:nvSpPr>
        <p:spPr>
          <a:xfrm>
            <a:off x="7406997" y="1868210"/>
            <a:ext cx="6580823" cy="2113240"/>
          </a:xfrm>
          <a:prstGeom prst="roundRect">
            <a:avLst>
              <a:gd name="adj" fmla="val 3649"/>
            </a:avLst>
          </a:prstGeom>
          <a:solidFill>
            <a:srgbClr val="090E3F"/>
          </a:solidFill>
          <a:ln w="22860">
            <a:solidFill>
              <a:srgbClr val="414677"/>
            </a:solidFill>
            <a:prstDash val="solid"/>
          </a:ln>
        </p:spPr>
      </p:sp>
      <p:sp>
        <p:nvSpPr>
          <p:cNvPr id="10" name="Text 8"/>
          <p:cNvSpPr/>
          <p:nvPr/>
        </p:nvSpPr>
        <p:spPr>
          <a:xfrm>
            <a:off x="7613452" y="2074664"/>
            <a:ext cx="4886087" cy="286941"/>
          </a:xfrm>
          <a:prstGeom prst="rect">
            <a:avLst/>
          </a:prstGeom>
          <a:noFill/>
          <a:ln/>
        </p:spPr>
        <p:txBody>
          <a:bodyPr wrap="none" lIns="0" tIns="0" rIns="0" bIns="0" rtlCol="0" anchor="t"/>
          <a:lstStyle/>
          <a:p>
            <a:pPr marL="0" indent="0" algn="l">
              <a:lnSpc>
                <a:spcPts val="2250"/>
              </a:lnSpc>
              <a:buNone/>
            </a:pPr>
            <a:r>
              <a:rPr lang="en-US" sz="18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Phiên Bản Tinh Chỉnh (Leaderboard_Model)</a:t>
            </a:r>
            <a:endParaRPr lang="en-US" sz="1800" dirty="0">
              <a:latin typeface="Times New Roman" panose="02020603050405020304" pitchFamily="18" charset="0"/>
              <a:cs typeface="Times New Roman" panose="02020603050405020304" pitchFamily="18" charset="0"/>
            </a:endParaRPr>
          </a:p>
        </p:txBody>
      </p:sp>
      <p:sp>
        <p:nvSpPr>
          <p:cNvPr id="11" name="Text 9"/>
          <p:cNvSpPr/>
          <p:nvPr/>
        </p:nvSpPr>
        <p:spPr>
          <a:xfrm>
            <a:off x="7613452" y="2471738"/>
            <a:ext cx="6167914" cy="293727"/>
          </a:xfrm>
          <a:prstGeom prst="rect">
            <a:avLst/>
          </a:prstGeom>
          <a:noFill/>
          <a:ln/>
        </p:spPr>
        <p:txBody>
          <a:bodyPr wrap="none" lIns="0" tIns="0" rIns="0" bIns="0" rtlCol="0" anchor="t"/>
          <a:lstStyle/>
          <a:p>
            <a:pPr marL="342900" indent="-342900" algn="l">
              <a:lnSpc>
                <a:spcPts val="2300"/>
              </a:lnSpc>
              <a:buSzPct val="100000"/>
              <a:buChar char="•"/>
            </a:pPr>
            <a:r>
              <a:rPr lang="en-US" sz="1400" b="1" dirty="0">
                <a:solidFill>
                  <a:srgbClr val="E5DCE6"/>
                </a:solidFill>
                <a:latin typeface="Times New Roman" panose="02020603050405020304" pitchFamily="18" charset="0"/>
                <a:ea typeface="Montserrat" pitchFamily="34" charset="-122"/>
                <a:cs typeface="Times New Roman" panose="02020603050405020304" pitchFamily="18" charset="0"/>
              </a:rPr>
              <a:t>Mục tiêu:</a:t>
            </a: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 Tối ưu hóa generalization và độ ổn định.</a:t>
            </a:r>
            <a:endParaRPr lang="en-US" sz="1400" dirty="0">
              <a:latin typeface="Times New Roman" panose="02020603050405020304" pitchFamily="18" charset="0"/>
              <a:cs typeface="Times New Roman" panose="02020603050405020304" pitchFamily="18" charset="0"/>
            </a:endParaRPr>
          </a:p>
        </p:txBody>
      </p:sp>
      <p:sp>
        <p:nvSpPr>
          <p:cNvPr id="12" name="Text 10"/>
          <p:cNvSpPr/>
          <p:nvPr/>
        </p:nvSpPr>
        <p:spPr>
          <a:xfrm>
            <a:off x="7613452" y="2829639"/>
            <a:ext cx="6167914" cy="293727"/>
          </a:xfrm>
          <a:prstGeom prst="rect">
            <a:avLst/>
          </a:prstGeom>
          <a:noFill/>
          <a:ln/>
        </p:spPr>
        <p:txBody>
          <a:bodyPr wrap="none" lIns="0" tIns="0" rIns="0" bIns="0" rtlCol="0" anchor="t"/>
          <a:lstStyle/>
          <a:p>
            <a:pPr marL="342900" indent="-342900" algn="l">
              <a:lnSpc>
                <a:spcPts val="2300"/>
              </a:lnSpc>
              <a:buSzPct val="100000"/>
              <a:buChar char="•"/>
            </a:pPr>
            <a:r>
              <a:rPr lang="en-US" sz="1400" b="1" dirty="0">
                <a:solidFill>
                  <a:srgbClr val="E5DCE6"/>
                </a:solidFill>
                <a:latin typeface="Times New Roman" panose="02020603050405020304" pitchFamily="18" charset="0"/>
                <a:ea typeface="Montserrat" pitchFamily="34" charset="-122"/>
                <a:cs typeface="Times New Roman" panose="02020603050405020304" pitchFamily="18" charset="0"/>
              </a:rPr>
              <a:t>Phương pháp:</a:t>
            </a: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 Sử dụng Stratified 5-Fold Cross Validation.</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7613452" y="3187541"/>
            <a:ext cx="6167914" cy="587454"/>
          </a:xfrm>
          <a:prstGeom prst="rect">
            <a:avLst/>
          </a:prstGeom>
          <a:noFill/>
          <a:ln/>
        </p:spPr>
        <p:txBody>
          <a:bodyPr wrap="square" lIns="0" tIns="0" rIns="0" bIns="0" rtlCol="0" anchor="t"/>
          <a:lstStyle/>
          <a:p>
            <a:pPr marL="342900" indent="-342900" algn="l">
              <a:lnSpc>
                <a:spcPts val="2300"/>
              </a:lnSpc>
              <a:buSzPct val="100000"/>
              <a:buChar char="•"/>
            </a:pPr>
            <a:r>
              <a:rPr lang="en-US" sz="1400" b="1" dirty="0">
                <a:solidFill>
                  <a:srgbClr val="E5DCE6"/>
                </a:solidFill>
                <a:latin typeface="Times New Roman" panose="02020603050405020304" pitchFamily="18" charset="0"/>
                <a:ea typeface="Montserrat" pitchFamily="34" charset="-122"/>
                <a:cs typeface="Times New Roman" panose="02020603050405020304" pitchFamily="18" charset="0"/>
              </a:rPr>
              <a:t>Kết quả:</a:t>
            </a: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 Public Score Tối Đa: </a:t>
            </a:r>
            <a:r>
              <a:rPr lang="en-US" sz="1400" dirty="0">
                <a:solidFill>
                  <a:srgbClr val="00FF00"/>
                </a:solidFill>
                <a:latin typeface="Times New Roman" panose="02020603050405020304" pitchFamily="18" charset="0"/>
                <a:ea typeface="Montserrat" pitchFamily="34" charset="-122"/>
                <a:cs typeface="Times New Roman" panose="02020603050405020304" pitchFamily="18" charset="0"/>
              </a:rPr>
              <a:t>81.578%</a:t>
            </a: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 (cao nhất các Experiment).</a:t>
            </a:r>
            <a:endParaRPr lang="en-US" sz="1400" dirty="0">
              <a:latin typeface="Times New Roman" panose="02020603050405020304" pitchFamily="18" charset="0"/>
              <a:cs typeface="Times New Roman" panose="02020603050405020304" pitchFamily="18" charset="0"/>
            </a:endParaRPr>
          </a:p>
        </p:txBody>
      </p:sp>
      <p:sp>
        <p:nvSpPr>
          <p:cNvPr id="14" name="Text 12"/>
          <p:cNvSpPr/>
          <p:nvPr/>
        </p:nvSpPr>
        <p:spPr>
          <a:xfrm>
            <a:off x="642580" y="4188023"/>
            <a:ext cx="13345239" cy="293727"/>
          </a:xfrm>
          <a:prstGeom prst="rect">
            <a:avLst/>
          </a:prstGeom>
          <a:noFill/>
          <a:ln/>
        </p:spPr>
        <p:txBody>
          <a:bodyPr wrap="none" lIns="0" tIns="0" rIns="0" bIns="0" rtlCol="0" anchor="t"/>
          <a:lstStyle/>
          <a:p>
            <a:pPr marL="0" indent="0" algn="l">
              <a:lnSpc>
                <a:spcPts val="230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Dưới đây là một số chỉ số quan trọng từ mô hình tinh chỉnh:</a:t>
            </a:r>
            <a:endParaRPr lang="en-US" sz="1400" dirty="0">
              <a:latin typeface="Times New Roman" panose="02020603050405020304" pitchFamily="18" charset="0"/>
              <a:cs typeface="Times New Roman" panose="02020603050405020304" pitchFamily="18" charset="0"/>
            </a:endParaRPr>
          </a:p>
        </p:txBody>
      </p:sp>
      <p:sp>
        <p:nvSpPr>
          <p:cNvPr id="15" name="Text 13"/>
          <p:cNvSpPr/>
          <p:nvPr/>
        </p:nvSpPr>
        <p:spPr>
          <a:xfrm>
            <a:off x="642580" y="4780121"/>
            <a:ext cx="4295418" cy="605909"/>
          </a:xfrm>
          <a:prstGeom prst="rect">
            <a:avLst/>
          </a:prstGeom>
          <a:noFill/>
          <a:ln/>
        </p:spPr>
        <p:txBody>
          <a:bodyPr wrap="none" lIns="0" tIns="0" rIns="0" bIns="0" rtlCol="0" anchor="t"/>
          <a:lstStyle/>
          <a:p>
            <a:pPr marL="0" indent="0" algn="ctr">
              <a:lnSpc>
                <a:spcPts val="4750"/>
              </a:lnSpc>
              <a:buNone/>
            </a:pPr>
            <a:r>
              <a:rPr lang="en-US" sz="475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81.578%</a:t>
            </a:r>
            <a:endParaRPr lang="en-US" sz="4750" dirty="0">
              <a:latin typeface="Times New Roman" panose="02020603050405020304" pitchFamily="18" charset="0"/>
              <a:cs typeface="Times New Roman" panose="02020603050405020304" pitchFamily="18" charset="0"/>
            </a:endParaRPr>
          </a:p>
        </p:txBody>
      </p:sp>
      <p:sp>
        <p:nvSpPr>
          <p:cNvPr id="16" name="Text 14"/>
          <p:cNvSpPr/>
          <p:nvPr/>
        </p:nvSpPr>
        <p:spPr>
          <a:xfrm>
            <a:off x="1642705" y="5615464"/>
            <a:ext cx="2295168" cy="286941"/>
          </a:xfrm>
          <a:prstGeom prst="rect">
            <a:avLst/>
          </a:prstGeom>
          <a:noFill/>
          <a:ln/>
        </p:spPr>
        <p:txBody>
          <a:bodyPr wrap="none" lIns="0" tIns="0" rIns="0" bIns="0" rtlCol="0" anchor="t"/>
          <a:lstStyle/>
          <a:p>
            <a:pPr marL="0" indent="0" algn="ctr">
              <a:lnSpc>
                <a:spcPts val="2250"/>
              </a:lnSpc>
              <a:buNone/>
            </a:pPr>
            <a:r>
              <a:rPr lang="en-US" sz="18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Public Score Tối Đa</a:t>
            </a:r>
            <a:endParaRPr lang="en-US" sz="1800" dirty="0">
              <a:latin typeface="Times New Roman" panose="02020603050405020304" pitchFamily="18" charset="0"/>
              <a:cs typeface="Times New Roman" panose="02020603050405020304" pitchFamily="18" charset="0"/>
            </a:endParaRPr>
          </a:p>
        </p:txBody>
      </p:sp>
      <p:sp>
        <p:nvSpPr>
          <p:cNvPr id="17" name="Text 15"/>
          <p:cNvSpPr/>
          <p:nvPr/>
        </p:nvSpPr>
        <p:spPr>
          <a:xfrm>
            <a:off x="642580" y="6012537"/>
            <a:ext cx="4295418" cy="587454"/>
          </a:xfrm>
          <a:prstGeom prst="rect">
            <a:avLst/>
          </a:prstGeom>
          <a:noFill/>
          <a:ln/>
        </p:spPr>
        <p:txBody>
          <a:bodyPr wrap="square" lIns="0" tIns="0" rIns="0" bIns="0" rtlCol="0" anchor="t"/>
          <a:lstStyle/>
          <a:p>
            <a:pPr marL="0" indent="0" algn="ctr">
              <a:lnSpc>
                <a:spcPts val="230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Đạt được với mô hình tinh chỉnh (leaderboard_model) sử dụng 5-fold CV.</a:t>
            </a:r>
            <a:endParaRPr lang="en-US" sz="1400" dirty="0">
              <a:latin typeface="Times New Roman" panose="02020603050405020304" pitchFamily="18" charset="0"/>
              <a:cs typeface="Times New Roman" panose="02020603050405020304" pitchFamily="18" charset="0"/>
            </a:endParaRPr>
          </a:p>
        </p:txBody>
      </p:sp>
      <p:sp>
        <p:nvSpPr>
          <p:cNvPr id="18" name="Text 16"/>
          <p:cNvSpPr/>
          <p:nvPr/>
        </p:nvSpPr>
        <p:spPr>
          <a:xfrm>
            <a:off x="5167432" y="4780121"/>
            <a:ext cx="4295418" cy="605909"/>
          </a:xfrm>
          <a:prstGeom prst="rect">
            <a:avLst/>
          </a:prstGeom>
          <a:noFill/>
          <a:ln/>
        </p:spPr>
        <p:txBody>
          <a:bodyPr wrap="none" lIns="0" tIns="0" rIns="0" bIns="0" rtlCol="0" anchor="t"/>
          <a:lstStyle/>
          <a:p>
            <a:pPr marL="0" indent="0" algn="ctr">
              <a:lnSpc>
                <a:spcPts val="4750"/>
              </a:lnSpc>
              <a:buNone/>
            </a:pPr>
            <a:r>
              <a:rPr lang="en-US" sz="475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200</a:t>
            </a:r>
            <a:endParaRPr lang="en-US" sz="4750" dirty="0">
              <a:latin typeface="Times New Roman" panose="02020603050405020304" pitchFamily="18" charset="0"/>
              <a:cs typeface="Times New Roman" panose="02020603050405020304" pitchFamily="18" charset="0"/>
            </a:endParaRPr>
          </a:p>
        </p:txBody>
      </p:sp>
      <p:sp>
        <p:nvSpPr>
          <p:cNvPr id="19" name="Text 17"/>
          <p:cNvSpPr/>
          <p:nvPr/>
        </p:nvSpPr>
        <p:spPr>
          <a:xfrm>
            <a:off x="6167557" y="5615464"/>
            <a:ext cx="2295168" cy="286941"/>
          </a:xfrm>
          <a:prstGeom prst="rect">
            <a:avLst/>
          </a:prstGeom>
          <a:noFill/>
          <a:ln/>
        </p:spPr>
        <p:txBody>
          <a:bodyPr wrap="none" lIns="0" tIns="0" rIns="0" bIns="0" rtlCol="0" anchor="t"/>
          <a:lstStyle/>
          <a:p>
            <a:pPr marL="0" indent="0" algn="ctr">
              <a:lnSpc>
                <a:spcPts val="2250"/>
              </a:lnSpc>
              <a:buNone/>
            </a:pPr>
            <a:r>
              <a:rPr lang="en-US" sz="18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N_Estimators</a:t>
            </a:r>
            <a:endParaRPr lang="en-US" sz="1800" dirty="0">
              <a:latin typeface="Times New Roman" panose="02020603050405020304" pitchFamily="18" charset="0"/>
              <a:cs typeface="Times New Roman" panose="02020603050405020304" pitchFamily="18" charset="0"/>
            </a:endParaRPr>
          </a:p>
        </p:txBody>
      </p:sp>
      <p:sp>
        <p:nvSpPr>
          <p:cNvPr id="20" name="Text 18"/>
          <p:cNvSpPr/>
          <p:nvPr/>
        </p:nvSpPr>
        <p:spPr>
          <a:xfrm>
            <a:off x="5167432" y="6012537"/>
            <a:ext cx="4295418" cy="587454"/>
          </a:xfrm>
          <a:prstGeom prst="rect">
            <a:avLst/>
          </a:prstGeom>
          <a:noFill/>
          <a:ln/>
        </p:spPr>
        <p:txBody>
          <a:bodyPr wrap="square" lIns="0" tIns="0" rIns="0" bIns="0" rtlCol="0" anchor="t"/>
          <a:lstStyle/>
          <a:p>
            <a:pPr marL="0" indent="0" algn="ctr">
              <a:lnSpc>
                <a:spcPts val="230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Số lượng cây tối ưu trong mô hình Random Forest tinh chỉnh.</a:t>
            </a:r>
            <a:endParaRPr lang="en-US" sz="1400" dirty="0">
              <a:latin typeface="Times New Roman" panose="02020603050405020304" pitchFamily="18" charset="0"/>
              <a:cs typeface="Times New Roman" panose="02020603050405020304" pitchFamily="18" charset="0"/>
            </a:endParaRPr>
          </a:p>
        </p:txBody>
      </p:sp>
      <p:sp>
        <p:nvSpPr>
          <p:cNvPr id="21" name="Text 19"/>
          <p:cNvSpPr/>
          <p:nvPr/>
        </p:nvSpPr>
        <p:spPr>
          <a:xfrm>
            <a:off x="9692283" y="4780121"/>
            <a:ext cx="4295537" cy="605909"/>
          </a:xfrm>
          <a:prstGeom prst="rect">
            <a:avLst/>
          </a:prstGeom>
          <a:noFill/>
          <a:ln/>
        </p:spPr>
        <p:txBody>
          <a:bodyPr wrap="none" lIns="0" tIns="0" rIns="0" bIns="0" rtlCol="0" anchor="t"/>
          <a:lstStyle/>
          <a:p>
            <a:pPr marL="0" indent="0" algn="ctr">
              <a:lnSpc>
                <a:spcPts val="4750"/>
              </a:lnSpc>
              <a:buNone/>
            </a:pPr>
            <a:r>
              <a:rPr lang="en-US" sz="475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8</a:t>
            </a:r>
            <a:endParaRPr lang="en-US" sz="4750" dirty="0">
              <a:latin typeface="Times New Roman" panose="02020603050405020304" pitchFamily="18" charset="0"/>
              <a:cs typeface="Times New Roman" panose="02020603050405020304" pitchFamily="18" charset="0"/>
            </a:endParaRPr>
          </a:p>
        </p:txBody>
      </p:sp>
      <p:sp>
        <p:nvSpPr>
          <p:cNvPr id="22" name="Text 20"/>
          <p:cNvSpPr/>
          <p:nvPr/>
        </p:nvSpPr>
        <p:spPr>
          <a:xfrm>
            <a:off x="10692408" y="5615464"/>
            <a:ext cx="2295168" cy="286941"/>
          </a:xfrm>
          <a:prstGeom prst="rect">
            <a:avLst/>
          </a:prstGeom>
          <a:noFill/>
          <a:ln/>
        </p:spPr>
        <p:txBody>
          <a:bodyPr wrap="none" lIns="0" tIns="0" rIns="0" bIns="0" rtlCol="0" anchor="t"/>
          <a:lstStyle/>
          <a:p>
            <a:pPr marL="0" indent="0" algn="ctr">
              <a:lnSpc>
                <a:spcPts val="2250"/>
              </a:lnSpc>
              <a:buNone/>
            </a:pPr>
            <a:r>
              <a:rPr lang="en-US" sz="18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Max_Depth</a:t>
            </a:r>
            <a:endParaRPr lang="en-US" sz="1800" dirty="0">
              <a:latin typeface="Times New Roman" panose="02020603050405020304" pitchFamily="18" charset="0"/>
              <a:cs typeface="Times New Roman" panose="02020603050405020304" pitchFamily="18" charset="0"/>
            </a:endParaRPr>
          </a:p>
        </p:txBody>
      </p:sp>
      <p:sp>
        <p:nvSpPr>
          <p:cNvPr id="23" name="Text 21"/>
          <p:cNvSpPr/>
          <p:nvPr/>
        </p:nvSpPr>
        <p:spPr>
          <a:xfrm>
            <a:off x="9692283" y="6012537"/>
            <a:ext cx="4295537" cy="587454"/>
          </a:xfrm>
          <a:prstGeom prst="rect">
            <a:avLst/>
          </a:prstGeom>
          <a:noFill/>
          <a:ln/>
        </p:spPr>
        <p:txBody>
          <a:bodyPr wrap="square" lIns="0" tIns="0" rIns="0" bIns="0" rtlCol="0" anchor="t"/>
          <a:lstStyle/>
          <a:p>
            <a:pPr marL="0" indent="0" algn="ctr">
              <a:lnSpc>
                <a:spcPts val="230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Độ sâu tối đa của cây, kiểm soát overfitting hiệu quả.</a:t>
            </a:r>
            <a:endParaRPr lang="en-US" sz="1400" dirty="0">
              <a:latin typeface="Times New Roman" panose="02020603050405020304" pitchFamily="18" charset="0"/>
              <a:cs typeface="Times New Roman" panose="02020603050405020304" pitchFamily="18" charset="0"/>
            </a:endParaRPr>
          </a:p>
        </p:txBody>
      </p:sp>
      <p:sp>
        <p:nvSpPr>
          <p:cNvPr id="24" name="Text 22"/>
          <p:cNvSpPr/>
          <p:nvPr/>
        </p:nvSpPr>
        <p:spPr>
          <a:xfrm>
            <a:off x="642580" y="6806565"/>
            <a:ext cx="13345239" cy="881182"/>
          </a:xfrm>
          <a:prstGeom prst="rect">
            <a:avLst/>
          </a:prstGeom>
          <a:noFill/>
          <a:ln/>
        </p:spPr>
        <p:txBody>
          <a:bodyPr wrap="square" lIns="0" tIns="0" rIns="0" bIns="0" rtlCol="0" anchor="t"/>
          <a:lstStyle/>
          <a:p>
            <a:pPr marL="0" indent="0" algn="l">
              <a:lnSpc>
                <a:spcPts val="230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Việc sử dụng </a:t>
            </a:r>
            <a:r>
              <a:rPr lang="en-US" sz="1400" b="1" dirty="0">
                <a:solidFill>
                  <a:srgbClr val="E5DCE6"/>
                </a:solidFill>
                <a:latin typeface="Times New Roman" panose="02020603050405020304" pitchFamily="18" charset="0"/>
                <a:ea typeface="Montserrat" pitchFamily="34" charset="-122"/>
                <a:cs typeface="Times New Roman" panose="02020603050405020304" pitchFamily="18" charset="0"/>
              </a:rPr>
              <a:t>Stratified K-Fold Cross Validation</a:t>
            </a: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 mang lại lợi ích đáng kể: nó đảm bảo rằng mỗi fold giữ lại tỷ lệ sống sót (~38%) cân bằng, cung cấp đánh giá mô hình ổn định hơn với phương sai thấp (&lt;1%). Điều này giải thích tại sao mô hình này đạt được Public Score cao hơn so với XGBoost trên dữ liệu kiểm thử thực tế.</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36865" y="500420"/>
            <a:ext cx="8741688" cy="454938"/>
          </a:xfrm>
          <a:prstGeom prst="rect">
            <a:avLst/>
          </a:prstGeom>
          <a:noFill/>
          <a:ln/>
        </p:spPr>
        <p:txBody>
          <a:bodyPr wrap="none" lIns="0" tIns="0" rIns="0" bIns="0" rtlCol="0" anchor="t"/>
          <a:lstStyle/>
          <a:p>
            <a:pPr marL="0" indent="0" algn="l">
              <a:lnSpc>
                <a:spcPts val="3550"/>
              </a:lnSpc>
              <a:buNone/>
            </a:pPr>
            <a:r>
              <a:rPr lang="en-US" sz="28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FEATURE IMPORTANCE TRONG RANDOM FOREST</a:t>
            </a:r>
            <a:endParaRPr lang="en-US" sz="2850" dirty="0">
              <a:latin typeface="Times New Roman" panose="02020603050405020304" pitchFamily="18" charset="0"/>
              <a:cs typeface="Times New Roman" panose="02020603050405020304" pitchFamily="18" charset="0"/>
            </a:endParaRPr>
          </a:p>
        </p:txBody>
      </p:sp>
      <p:sp>
        <p:nvSpPr>
          <p:cNvPr id="3" name="Text 1"/>
          <p:cNvSpPr/>
          <p:nvPr/>
        </p:nvSpPr>
        <p:spPr>
          <a:xfrm>
            <a:off x="636865" y="1319213"/>
            <a:ext cx="13356669" cy="581978"/>
          </a:xfrm>
          <a:prstGeom prst="rect">
            <a:avLst/>
          </a:prstGeom>
          <a:noFill/>
          <a:ln/>
        </p:spPr>
        <p:txBody>
          <a:bodyPr wrap="square" lIns="0" tIns="0" rIns="0" bIns="0" rtlCol="0" anchor="t"/>
          <a:lstStyle/>
          <a:p>
            <a:pPr marL="0" indent="0" algn="l">
              <a:lnSpc>
                <a:spcPts val="2250"/>
              </a:lnSpc>
              <a:buNone/>
            </a:pPr>
            <a:r>
              <a:rPr lang="en-US" sz="1400" b="1" dirty="0">
                <a:solidFill>
                  <a:srgbClr val="E5DCE6"/>
                </a:solidFill>
                <a:latin typeface="Times New Roman" panose="02020603050405020304" pitchFamily="18" charset="0"/>
                <a:ea typeface="Montserrat" pitchFamily="34" charset="-122"/>
                <a:cs typeface="Times New Roman" panose="02020603050405020304" pitchFamily="18" charset="0"/>
              </a:rPr>
              <a:t>Mô tả biểu đồ:</a:t>
            </a: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 Horizontal bar chart hiển thị mean importance (dựa Gini impurity) của features qua 5 folds – độ dài thanh thể hiện mức độ ảnh hưởng đến dự đoán.</a:t>
            </a:r>
            <a:endParaRPr lang="en-US" sz="14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2103001" y="2310527"/>
            <a:ext cx="3524012" cy="3973949"/>
          </a:xfrm>
          <a:prstGeom prst="rect">
            <a:avLst/>
          </a:prstGeom>
        </p:spPr>
      </p:pic>
      <p:sp>
        <p:nvSpPr>
          <p:cNvPr id="5" name="Text 2"/>
          <p:cNvSpPr/>
          <p:nvPr/>
        </p:nvSpPr>
        <p:spPr>
          <a:xfrm>
            <a:off x="636865" y="6489144"/>
            <a:ext cx="6456402" cy="290989"/>
          </a:xfrm>
          <a:prstGeom prst="rect">
            <a:avLst/>
          </a:prstGeom>
          <a:noFill/>
          <a:ln/>
        </p:spPr>
        <p:txBody>
          <a:bodyPr wrap="none" lIns="0" tIns="0" rIns="0" bIns="0" rtlCol="0" anchor="t"/>
          <a:lstStyle/>
          <a:p>
            <a:pPr marL="0" indent="0" algn="l">
              <a:lnSpc>
                <a:spcPts val="2250"/>
              </a:lnSpc>
              <a:buNone/>
            </a:pPr>
            <a:endParaRPr lang="en-US" sz="1400" dirty="0">
              <a:latin typeface="Times New Roman" panose="02020603050405020304" pitchFamily="18" charset="0"/>
              <a:cs typeface="Times New Roman" panose="02020603050405020304" pitchFamily="18" charset="0"/>
            </a:endParaRPr>
          </a:p>
        </p:txBody>
      </p:sp>
      <p:sp>
        <p:nvSpPr>
          <p:cNvPr id="6" name="Text 3"/>
          <p:cNvSpPr/>
          <p:nvPr/>
        </p:nvSpPr>
        <p:spPr>
          <a:xfrm>
            <a:off x="7544752" y="2269569"/>
            <a:ext cx="6456402" cy="290989"/>
          </a:xfrm>
          <a:prstGeom prst="rect">
            <a:avLst/>
          </a:prstGeom>
          <a:noFill/>
          <a:ln/>
        </p:spPr>
        <p:txBody>
          <a:bodyPr wrap="none" lIns="0" tIns="0" rIns="0" bIns="0" rtlCol="0" anchor="t"/>
          <a:lstStyle/>
          <a:p>
            <a:pPr marL="0" indent="0" algn="l">
              <a:lnSpc>
                <a:spcPts val="2250"/>
              </a:lnSpc>
              <a:buNone/>
            </a:pPr>
            <a:endParaRPr lang="en-US" sz="1400" dirty="0">
              <a:latin typeface="Times New Roman" panose="02020603050405020304" pitchFamily="18" charset="0"/>
              <a:cs typeface="Times New Roman" panose="02020603050405020304" pitchFamily="18" charset="0"/>
            </a:endParaRPr>
          </a:p>
        </p:txBody>
      </p:sp>
      <p:sp>
        <p:nvSpPr>
          <p:cNvPr id="7" name="Text 4"/>
          <p:cNvSpPr/>
          <p:nvPr/>
        </p:nvSpPr>
        <p:spPr>
          <a:xfrm>
            <a:off x="7544752" y="2724269"/>
            <a:ext cx="6456402" cy="290989"/>
          </a:xfrm>
          <a:prstGeom prst="rect">
            <a:avLst/>
          </a:prstGeom>
          <a:noFill/>
          <a:ln/>
        </p:spPr>
        <p:txBody>
          <a:bodyPr wrap="none" lIns="0" tIns="0" rIns="0" bIns="0" rtlCol="0" anchor="t"/>
          <a:lstStyle/>
          <a:p>
            <a:pPr marL="0" indent="0" algn="l">
              <a:lnSpc>
                <a:spcPts val="2250"/>
              </a:lnSpc>
              <a:buNone/>
            </a:pPr>
            <a:r>
              <a:rPr lang="en-US" sz="1400" b="1" dirty="0">
                <a:solidFill>
                  <a:srgbClr val="E5DCE6"/>
                </a:solidFill>
                <a:latin typeface="Times New Roman" panose="02020603050405020304" pitchFamily="18" charset="0"/>
                <a:ea typeface="Montserrat" pitchFamily="34" charset="-122"/>
                <a:cs typeface="Times New Roman" panose="02020603050405020304" pitchFamily="18" charset="0"/>
              </a:rPr>
              <a:t>Top 5 Features (Bảng Tóm Tắt):</a:t>
            </a:r>
            <a:endParaRPr lang="en-US" sz="1400" dirty="0">
              <a:latin typeface="Times New Roman" panose="02020603050405020304" pitchFamily="18" charset="0"/>
              <a:cs typeface="Times New Roman" panose="02020603050405020304" pitchFamily="18" charset="0"/>
            </a:endParaRPr>
          </a:p>
        </p:txBody>
      </p:sp>
      <p:sp>
        <p:nvSpPr>
          <p:cNvPr id="8" name="Shape 5"/>
          <p:cNvSpPr/>
          <p:nvPr/>
        </p:nvSpPr>
        <p:spPr>
          <a:xfrm>
            <a:off x="7544752" y="3219926"/>
            <a:ext cx="6456402" cy="2638187"/>
          </a:xfrm>
          <a:prstGeom prst="roundRect">
            <a:avLst>
              <a:gd name="adj" fmla="val 2897"/>
            </a:avLst>
          </a:prstGeom>
          <a:noFill/>
          <a:ln w="7620">
            <a:solidFill>
              <a:srgbClr val="FFFFFF">
                <a:alpha val="24000"/>
              </a:srgbClr>
            </a:solidFill>
            <a:prstDash val="solid"/>
          </a:ln>
        </p:spPr>
      </p:sp>
      <p:sp>
        <p:nvSpPr>
          <p:cNvPr id="9" name="Shape 6"/>
          <p:cNvSpPr/>
          <p:nvPr/>
        </p:nvSpPr>
        <p:spPr>
          <a:xfrm>
            <a:off x="7552373" y="3227546"/>
            <a:ext cx="6441162" cy="524589"/>
          </a:xfrm>
          <a:prstGeom prst="rect">
            <a:avLst/>
          </a:prstGeom>
          <a:solidFill>
            <a:srgbClr val="FFFFFF">
              <a:alpha val="4000"/>
            </a:srgbClr>
          </a:solidFill>
          <a:ln/>
        </p:spPr>
      </p:sp>
      <p:sp>
        <p:nvSpPr>
          <p:cNvPr id="10" name="Text 7"/>
          <p:cNvSpPr/>
          <p:nvPr/>
        </p:nvSpPr>
        <p:spPr>
          <a:xfrm>
            <a:off x="7734419" y="3344347"/>
            <a:ext cx="2852857" cy="290989"/>
          </a:xfrm>
          <a:prstGeom prst="rect">
            <a:avLst/>
          </a:prstGeom>
          <a:noFill/>
          <a:ln/>
        </p:spPr>
        <p:txBody>
          <a:bodyPr wrap="none" lIns="0" tIns="0" rIns="0" bIns="0" rtlCol="0" anchor="t"/>
          <a:lstStyle/>
          <a:p>
            <a:pPr marL="0" indent="0" algn="l">
              <a:lnSpc>
                <a:spcPts val="225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Ticket Frequency:</a:t>
            </a:r>
            <a:endParaRPr lang="en-US" sz="1400" dirty="0">
              <a:latin typeface="Times New Roman" panose="02020603050405020304" pitchFamily="18" charset="0"/>
              <a:cs typeface="Times New Roman" panose="02020603050405020304" pitchFamily="18" charset="0"/>
            </a:endParaRPr>
          </a:p>
        </p:txBody>
      </p:sp>
      <p:sp>
        <p:nvSpPr>
          <p:cNvPr id="11" name="Text 8"/>
          <p:cNvSpPr/>
          <p:nvPr/>
        </p:nvSpPr>
        <p:spPr>
          <a:xfrm>
            <a:off x="10958751" y="3344347"/>
            <a:ext cx="2852857" cy="290989"/>
          </a:xfrm>
          <a:prstGeom prst="rect">
            <a:avLst/>
          </a:prstGeom>
          <a:noFill/>
          <a:ln/>
        </p:spPr>
        <p:txBody>
          <a:bodyPr wrap="none" lIns="0" tIns="0" rIns="0" bIns="0" rtlCol="0" anchor="t"/>
          <a:lstStyle/>
          <a:p>
            <a:pPr marL="0" indent="0" algn="l">
              <a:lnSpc>
                <a:spcPts val="225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0.14</a:t>
            </a:r>
            <a:endParaRPr lang="en-US" sz="1400" dirty="0">
              <a:latin typeface="Times New Roman" panose="02020603050405020304" pitchFamily="18" charset="0"/>
              <a:cs typeface="Times New Roman" panose="02020603050405020304" pitchFamily="18" charset="0"/>
            </a:endParaRPr>
          </a:p>
        </p:txBody>
      </p:sp>
      <p:sp>
        <p:nvSpPr>
          <p:cNvPr id="12" name="Shape 9"/>
          <p:cNvSpPr/>
          <p:nvPr/>
        </p:nvSpPr>
        <p:spPr>
          <a:xfrm>
            <a:off x="7552373" y="3752136"/>
            <a:ext cx="6441162" cy="524589"/>
          </a:xfrm>
          <a:prstGeom prst="rect">
            <a:avLst/>
          </a:prstGeom>
          <a:solidFill>
            <a:srgbClr val="000000">
              <a:alpha val="4000"/>
            </a:srgbClr>
          </a:solidFill>
          <a:ln/>
        </p:spPr>
      </p:sp>
      <p:sp>
        <p:nvSpPr>
          <p:cNvPr id="13" name="Text 10"/>
          <p:cNvSpPr/>
          <p:nvPr/>
        </p:nvSpPr>
        <p:spPr>
          <a:xfrm>
            <a:off x="7734419" y="3868936"/>
            <a:ext cx="2852857" cy="290989"/>
          </a:xfrm>
          <a:prstGeom prst="rect">
            <a:avLst/>
          </a:prstGeom>
          <a:noFill/>
          <a:ln/>
        </p:spPr>
        <p:txBody>
          <a:bodyPr wrap="none" lIns="0" tIns="0" rIns="0" bIns="0" rtlCol="0" anchor="t"/>
          <a:lstStyle/>
          <a:p>
            <a:pPr marL="0" indent="0" algn="l">
              <a:lnSpc>
                <a:spcPts val="225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Deck_4:</a:t>
            </a:r>
            <a:endParaRPr lang="en-US" sz="1400" dirty="0">
              <a:latin typeface="Times New Roman" panose="02020603050405020304" pitchFamily="18" charset="0"/>
              <a:cs typeface="Times New Roman" panose="02020603050405020304" pitchFamily="18" charset="0"/>
            </a:endParaRPr>
          </a:p>
        </p:txBody>
      </p:sp>
      <p:sp>
        <p:nvSpPr>
          <p:cNvPr id="14" name="Text 11"/>
          <p:cNvSpPr/>
          <p:nvPr/>
        </p:nvSpPr>
        <p:spPr>
          <a:xfrm>
            <a:off x="10958751" y="3868936"/>
            <a:ext cx="2852857" cy="290989"/>
          </a:xfrm>
          <a:prstGeom prst="rect">
            <a:avLst/>
          </a:prstGeom>
          <a:noFill/>
          <a:ln/>
        </p:spPr>
        <p:txBody>
          <a:bodyPr wrap="none" lIns="0" tIns="0" rIns="0" bIns="0" rtlCol="0" anchor="t"/>
          <a:lstStyle/>
          <a:p>
            <a:pPr marL="0" indent="0" algn="l">
              <a:lnSpc>
                <a:spcPts val="225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0.12</a:t>
            </a:r>
            <a:endParaRPr lang="en-US" sz="1400" dirty="0">
              <a:latin typeface="Times New Roman" panose="02020603050405020304" pitchFamily="18" charset="0"/>
              <a:cs typeface="Times New Roman" panose="02020603050405020304" pitchFamily="18" charset="0"/>
            </a:endParaRPr>
          </a:p>
        </p:txBody>
      </p:sp>
      <p:sp>
        <p:nvSpPr>
          <p:cNvPr id="15" name="Shape 12"/>
          <p:cNvSpPr/>
          <p:nvPr/>
        </p:nvSpPr>
        <p:spPr>
          <a:xfrm>
            <a:off x="7552373" y="4276725"/>
            <a:ext cx="6441162" cy="524589"/>
          </a:xfrm>
          <a:prstGeom prst="rect">
            <a:avLst/>
          </a:prstGeom>
          <a:solidFill>
            <a:srgbClr val="FFFFFF">
              <a:alpha val="4000"/>
            </a:srgbClr>
          </a:solidFill>
          <a:ln/>
        </p:spPr>
      </p:sp>
      <p:sp>
        <p:nvSpPr>
          <p:cNvPr id="16" name="Text 13"/>
          <p:cNvSpPr/>
          <p:nvPr/>
        </p:nvSpPr>
        <p:spPr>
          <a:xfrm>
            <a:off x="7734419" y="4393525"/>
            <a:ext cx="2852857" cy="290989"/>
          </a:xfrm>
          <a:prstGeom prst="rect">
            <a:avLst/>
          </a:prstGeom>
          <a:noFill/>
          <a:ln/>
        </p:spPr>
        <p:txBody>
          <a:bodyPr wrap="none" lIns="0" tIns="0" rIns="0" bIns="0" rtlCol="0" anchor="t"/>
          <a:lstStyle/>
          <a:p>
            <a:pPr marL="0" indent="0" algn="l">
              <a:lnSpc>
                <a:spcPts val="225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Family Size Grouped_3:</a:t>
            </a:r>
            <a:endParaRPr lang="en-US" sz="1400" dirty="0">
              <a:latin typeface="Times New Roman" panose="02020603050405020304" pitchFamily="18" charset="0"/>
              <a:cs typeface="Times New Roman" panose="02020603050405020304" pitchFamily="18" charset="0"/>
            </a:endParaRPr>
          </a:p>
        </p:txBody>
      </p:sp>
      <p:sp>
        <p:nvSpPr>
          <p:cNvPr id="17" name="Text 14"/>
          <p:cNvSpPr/>
          <p:nvPr/>
        </p:nvSpPr>
        <p:spPr>
          <a:xfrm>
            <a:off x="10958751" y="4393525"/>
            <a:ext cx="2852857" cy="290989"/>
          </a:xfrm>
          <a:prstGeom prst="rect">
            <a:avLst/>
          </a:prstGeom>
          <a:noFill/>
          <a:ln/>
        </p:spPr>
        <p:txBody>
          <a:bodyPr wrap="none" lIns="0" tIns="0" rIns="0" bIns="0" rtlCol="0" anchor="t"/>
          <a:lstStyle/>
          <a:p>
            <a:pPr marL="0" indent="0" algn="l">
              <a:lnSpc>
                <a:spcPts val="225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0.11</a:t>
            </a:r>
            <a:endParaRPr lang="en-US" sz="1400" dirty="0">
              <a:latin typeface="Times New Roman" panose="02020603050405020304" pitchFamily="18" charset="0"/>
              <a:cs typeface="Times New Roman" panose="02020603050405020304" pitchFamily="18" charset="0"/>
            </a:endParaRPr>
          </a:p>
        </p:txBody>
      </p:sp>
      <p:sp>
        <p:nvSpPr>
          <p:cNvPr id="18" name="Shape 15"/>
          <p:cNvSpPr/>
          <p:nvPr/>
        </p:nvSpPr>
        <p:spPr>
          <a:xfrm>
            <a:off x="7552373" y="4801314"/>
            <a:ext cx="6441162" cy="524589"/>
          </a:xfrm>
          <a:prstGeom prst="rect">
            <a:avLst/>
          </a:prstGeom>
          <a:solidFill>
            <a:srgbClr val="000000">
              <a:alpha val="4000"/>
            </a:srgbClr>
          </a:solidFill>
          <a:ln/>
        </p:spPr>
      </p:sp>
      <p:sp>
        <p:nvSpPr>
          <p:cNvPr id="19" name="Text 16"/>
          <p:cNvSpPr/>
          <p:nvPr/>
        </p:nvSpPr>
        <p:spPr>
          <a:xfrm>
            <a:off x="7734419" y="4918115"/>
            <a:ext cx="2852857" cy="290989"/>
          </a:xfrm>
          <a:prstGeom prst="rect">
            <a:avLst/>
          </a:prstGeom>
          <a:noFill/>
          <a:ln/>
        </p:spPr>
        <p:txBody>
          <a:bodyPr wrap="none" lIns="0" tIns="0" rIns="0" bIns="0" rtlCol="0" anchor="t"/>
          <a:lstStyle/>
          <a:p>
            <a:pPr marL="0" indent="0" algn="l">
              <a:lnSpc>
                <a:spcPts val="225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Survival Rate NA:</a:t>
            </a:r>
            <a:endParaRPr lang="en-US" sz="1400" dirty="0">
              <a:latin typeface="Times New Roman" panose="02020603050405020304" pitchFamily="18" charset="0"/>
              <a:cs typeface="Times New Roman" panose="02020603050405020304" pitchFamily="18" charset="0"/>
            </a:endParaRPr>
          </a:p>
        </p:txBody>
      </p:sp>
      <p:sp>
        <p:nvSpPr>
          <p:cNvPr id="20" name="Text 17"/>
          <p:cNvSpPr/>
          <p:nvPr/>
        </p:nvSpPr>
        <p:spPr>
          <a:xfrm>
            <a:off x="10958751" y="4918115"/>
            <a:ext cx="2852857" cy="290989"/>
          </a:xfrm>
          <a:prstGeom prst="rect">
            <a:avLst/>
          </a:prstGeom>
          <a:noFill/>
          <a:ln/>
        </p:spPr>
        <p:txBody>
          <a:bodyPr wrap="none" lIns="0" tIns="0" rIns="0" bIns="0" rtlCol="0" anchor="t"/>
          <a:lstStyle/>
          <a:p>
            <a:pPr marL="0" indent="0" algn="l">
              <a:lnSpc>
                <a:spcPts val="225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0.10</a:t>
            </a:r>
            <a:endParaRPr lang="en-US" sz="1400" dirty="0">
              <a:latin typeface="Times New Roman" panose="02020603050405020304" pitchFamily="18" charset="0"/>
              <a:cs typeface="Times New Roman" panose="02020603050405020304" pitchFamily="18" charset="0"/>
            </a:endParaRPr>
          </a:p>
        </p:txBody>
      </p:sp>
      <p:sp>
        <p:nvSpPr>
          <p:cNvPr id="21" name="Shape 18"/>
          <p:cNvSpPr/>
          <p:nvPr/>
        </p:nvSpPr>
        <p:spPr>
          <a:xfrm>
            <a:off x="7552373" y="5325904"/>
            <a:ext cx="6441162" cy="524589"/>
          </a:xfrm>
          <a:prstGeom prst="rect">
            <a:avLst/>
          </a:prstGeom>
          <a:solidFill>
            <a:srgbClr val="FFFFFF">
              <a:alpha val="4000"/>
            </a:srgbClr>
          </a:solidFill>
          <a:ln/>
        </p:spPr>
      </p:sp>
      <p:sp>
        <p:nvSpPr>
          <p:cNvPr id="22" name="Text 19"/>
          <p:cNvSpPr/>
          <p:nvPr/>
        </p:nvSpPr>
        <p:spPr>
          <a:xfrm>
            <a:off x="7734419" y="5442704"/>
            <a:ext cx="2852857" cy="290989"/>
          </a:xfrm>
          <a:prstGeom prst="rect">
            <a:avLst/>
          </a:prstGeom>
          <a:noFill/>
          <a:ln/>
        </p:spPr>
        <p:txBody>
          <a:bodyPr wrap="none" lIns="0" tIns="0" rIns="0" bIns="0" rtlCol="0" anchor="t"/>
          <a:lstStyle/>
          <a:p>
            <a:pPr marL="0" indent="0" algn="l">
              <a:lnSpc>
                <a:spcPts val="225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Family Size Grouped_2:</a:t>
            </a:r>
            <a:endParaRPr lang="en-US" sz="1400" dirty="0">
              <a:latin typeface="Times New Roman" panose="02020603050405020304" pitchFamily="18" charset="0"/>
              <a:cs typeface="Times New Roman" panose="02020603050405020304" pitchFamily="18" charset="0"/>
            </a:endParaRPr>
          </a:p>
        </p:txBody>
      </p:sp>
      <p:sp>
        <p:nvSpPr>
          <p:cNvPr id="23" name="Text 20"/>
          <p:cNvSpPr/>
          <p:nvPr/>
        </p:nvSpPr>
        <p:spPr>
          <a:xfrm>
            <a:off x="10958751" y="5442704"/>
            <a:ext cx="2852857" cy="290989"/>
          </a:xfrm>
          <a:prstGeom prst="rect">
            <a:avLst/>
          </a:prstGeom>
          <a:noFill/>
          <a:ln/>
        </p:spPr>
        <p:txBody>
          <a:bodyPr wrap="none" lIns="0" tIns="0" rIns="0" bIns="0" rtlCol="0" anchor="t"/>
          <a:lstStyle/>
          <a:p>
            <a:pPr marL="0" indent="0" algn="l">
              <a:lnSpc>
                <a:spcPts val="2250"/>
              </a:lnSpc>
              <a:buNone/>
            </a:pP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0.09</a:t>
            </a:r>
            <a:endParaRPr lang="en-US" sz="1400" dirty="0">
              <a:latin typeface="Times New Roman" panose="02020603050405020304" pitchFamily="18" charset="0"/>
              <a:cs typeface="Times New Roman" panose="02020603050405020304" pitchFamily="18" charset="0"/>
            </a:endParaRPr>
          </a:p>
        </p:txBody>
      </p:sp>
      <p:sp>
        <p:nvSpPr>
          <p:cNvPr id="24" name="Text 21"/>
          <p:cNvSpPr/>
          <p:nvPr/>
        </p:nvSpPr>
        <p:spPr>
          <a:xfrm>
            <a:off x="7544752" y="6062782"/>
            <a:ext cx="6456402" cy="290989"/>
          </a:xfrm>
          <a:prstGeom prst="rect">
            <a:avLst/>
          </a:prstGeom>
          <a:noFill/>
          <a:ln/>
        </p:spPr>
        <p:txBody>
          <a:bodyPr wrap="none" lIns="0" tIns="0" rIns="0" bIns="0" rtlCol="0" anchor="t"/>
          <a:lstStyle/>
          <a:p>
            <a:pPr marL="0" indent="0" algn="l">
              <a:lnSpc>
                <a:spcPts val="2250"/>
              </a:lnSpc>
              <a:buNone/>
            </a:pPr>
            <a:endParaRPr lang="en-US" sz="1400" dirty="0">
              <a:latin typeface="Times New Roman" panose="02020603050405020304" pitchFamily="18" charset="0"/>
              <a:cs typeface="Times New Roman" panose="02020603050405020304" pitchFamily="18" charset="0"/>
            </a:endParaRPr>
          </a:p>
        </p:txBody>
      </p:sp>
      <p:sp>
        <p:nvSpPr>
          <p:cNvPr id="25" name="Text 22"/>
          <p:cNvSpPr/>
          <p:nvPr/>
        </p:nvSpPr>
        <p:spPr>
          <a:xfrm>
            <a:off x="636865" y="7148512"/>
            <a:ext cx="13356669" cy="581978"/>
          </a:xfrm>
          <a:prstGeom prst="rect">
            <a:avLst/>
          </a:prstGeom>
          <a:noFill/>
          <a:ln/>
        </p:spPr>
        <p:txBody>
          <a:bodyPr wrap="square" lIns="0" tIns="0" rIns="0" bIns="0" rtlCol="0" anchor="t"/>
          <a:lstStyle/>
          <a:p>
            <a:pPr marL="0" indent="0" algn="l">
              <a:lnSpc>
                <a:spcPts val="2250"/>
              </a:lnSpc>
              <a:buNone/>
            </a:pPr>
            <a:r>
              <a:rPr lang="en-US" sz="1400" b="1" dirty="0">
                <a:solidFill>
                  <a:srgbClr val="E5DCE6"/>
                </a:solidFill>
                <a:latin typeface="Times New Roman" panose="02020603050405020304" pitchFamily="18" charset="0"/>
                <a:ea typeface="Montserrat" pitchFamily="34" charset="-122"/>
                <a:cs typeface="Times New Roman" panose="02020603050405020304" pitchFamily="18" charset="0"/>
              </a:rPr>
              <a:t>Ý Nghĩa:</a:t>
            </a:r>
            <a:r>
              <a:rPr lang="en-US" sz="1400" dirty="0">
                <a:solidFill>
                  <a:srgbClr val="E5DCE6"/>
                </a:solidFill>
                <a:latin typeface="Times New Roman" panose="02020603050405020304" pitchFamily="18" charset="0"/>
                <a:ea typeface="Montserrat" pitchFamily="34" charset="-122"/>
                <a:cs typeface="Times New Roman" panose="02020603050405020304" pitchFamily="18" charset="0"/>
              </a:rPr>
              <a:t> Features engineered (Family Size Grouped, Deck) thống trị top → Feature engineering hiệu quả, giúp RF khai thác pattern xã hội (gia đình/vị trí tàu) tốt hơn đặc trưng gốc (Sex/Age thấp). Ổn định giữa folds củng cố tính robust của mô hình.</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09362" y="478750"/>
            <a:ext cx="13411676" cy="1088231"/>
          </a:xfrm>
          <a:prstGeom prst="rect">
            <a:avLst/>
          </a:prstGeom>
          <a:noFill/>
          <a:ln/>
        </p:spPr>
        <p:txBody>
          <a:bodyPr wrap="square" lIns="0" tIns="0" rIns="0" bIns="0" rtlCol="0" anchor="t"/>
          <a:lstStyle/>
          <a:p>
            <a:pPr marL="0" indent="0" algn="l">
              <a:lnSpc>
                <a:spcPts val="4250"/>
              </a:lnSpc>
              <a:buNone/>
            </a:pPr>
            <a:r>
              <a:rPr lang="en-US" sz="340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HIỆU SUẤT PHÂN BIỆT CỦA RANDOM FOREST (ROC Curves Từ 5-Fold CV)</a:t>
            </a:r>
            <a:endParaRPr lang="en-US" sz="3400" dirty="0">
              <a:latin typeface="Times New Roman" panose="02020603050405020304" pitchFamily="18" charset="0"/>
              <a:cs typeface="Times New Roman" panose="02020603050405020304" pitchFamily="18" charset="0"/>
            </a:endParaRPr>
          </a:p>
        </p:txBody>
      </p:sp>
      <p:sp>
        <p:nvSpPr>
          <p:cNvPr id="3" name="Text 1"/>
          <p:cNvSpPr/>
          <p:nvPr/>
        </p:nvSpPr>
        <p:spPr>
          <a:xfrm>
            <a:off x="609362" y="1915120"/>
            <a:ext cx="13411676" cy="556974"/>
          </a:xfrm>
          <a:prstGeom prst="rect">
            <a:avLst/>
          </a:prstGeom>
          <a:noFill/>
          <a:ln/>
        </p:spPr>
        <p:txBody>
          <a:bodyPr wrap="square" lIns="0" tIns="0" rIns="0" bIns="0" rtlCol="0" anchor="t"/>
          <a:lstStyle/>
          <a:p>
            <a:pPr marL="0" indent="0" algn="l">
              <a:lnSpc>
                <a:spcPts val="2150"/>
              </a:lnSpc>
              <a:buNone/>
            </a:pP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Mô tả biểu đồ:</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ROC Curves từ 5 folds Stratified K-Fold, đo lường True Positive Rate (TPR) vs. False Positive Rate (FPR) – đánh giá khả năng phân biệt "sống sót" vs. "không sống sót".</a:t>
            </a:r>
            <a:endParaRPr lang="en-US" sz="135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956078" y="2863810"/>
            <a:ext cx="3799999" cy="3940254"/>
          </a:xfrm>
          <a:prstGeom prst="rect">
            <a:avLst/>
          </a:prstGeom>
        </p:spPr>
      </p:pic>
      <p:sp>
        <p:nvSpPr>
          <p:cNvPr id="5" name="Text 2"/>
          <p:cNvSpPr/>
          <p:nvPr/>
        </p:nvSpPr>
        <p:spPr>
          <a:xfrm>
            <a:off x="7535228" y="2824639"/>
            <a:ext cx="6493431" cy="278487"/>
          </a:xfrm>
          <a:prstGeom prst="rect">
            <a:avLst/>
          </a:prstGeom>
          <a:noFill/>
          <a:ln/>
        </p:spPr>
        <p:txBody>
          <a:bodyPr wrap="none" lIns="0" tIns="0" rIns="0" bIns="0" rtlCol="0" anchor="t"/>
          <a:lstStyle/>
          <a:p>
            <a:pPr marL="0" indent="0" algn="l">
              <a:lnSpc>
                <a:spcPts val="2150"/>
              </a:lnSpc>
              <a:buNone/>
            </a:pP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Key Metrics:</a:t>
            </a:r>
            <a:endParaRPr lang="en-US" sz="1350" dirty="0">
              <a:latin typeface="Times New Roman" panose="02020603050405020304" pitchFamily="18" charset="0"/>
              <a:cs typeface="Times New Roman" panose="02020603050405020304" pitchFamily="18" charset="0"/>
            </a:endParaRPr>
          </a:p>
        </p:txBody>
      </p:sp>
      <p:sp>
        <p:nvSpPr>
          <p:cNvPr id="6" name="Text 3"/>
          <p:cNvSpPr/>
          <p:nvPr/>
        </p:nvSpPr>
        <p:spPr>
          <a:xfrm>
            <a:off x="7535228" y="3259812"/>
            <a:ext cx="6493431" cy="278487"/>
          </a:xfrm>
          <a:prstGeom prst="rect">
            <a:avLst/>
          </a:prstGeom>
          <a:noFill/>
          <a:ln/>
        </p:spPr>
        <p:txBody>
          <a:bodyPr wrap="none" lIns="0" tIns="0" rIns="0" bIns="0" rtlCol="0" anchor="t"/>
          <a:lstStyle/>
          <a:p>
            <a:pPr marL="342900" indent="-342900" algn="l">
              <a:lnSpc>
                <a:spcPts val="2150"/>
              </a:lnSpc>
              <a:buSzPct val="100000"/>
              <a:buChar char="•"/>
            </a:pP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Mean AUC:</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0.89 ± 0.019 (xuất sắc, &gt;0.8 là tốt; gần XGBoost 0.9295)</a:t>
            </a:r>
            <a:endParaRPr lang="en-US" sz="1350" dirty="0">
              <a:latin typeface="Times New Roman" panose="02020603050405020304" pitchFamily="18" charset="0"/>
              <a:cs typeface="Times New Roman" panose="02020603050405020304" pitchFamily="18" charset="0"/>
            </a:endParaRPr>
          </a:p>
        </p:txBody>
      </p:sp>
      <p:sp>
        <p:nvSpPr>
          <p:cNvPr id="7" name="Text 4"/>
          <p:cNvSpPr/>
          <p:nvPr/>
        </p:nvSpPr>
        <p:spPr>
          <a:xfrm>
            <a:off x="7535228" y="3599140"/>
            <a:ext cx="6493431" cy="556974"/>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Chi Tiết Folds:</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Fold 1: 0.866, Fold 2: 0.914, Fold 3: 0.881, Fold 4: 0.914, Fold 5: 0.905</a:t>
            </a:r>
            <a:endParaRPr lang="en-US" sz="1350" dirty="0">
              <a:latin typeface="Times New Roman" panose="02020603050405020304" pitchFamily="18" charset="0"/>
              <a:cs typeface="Times New Roman" panose="02020603050405020304" pitchFamily="18" charset="0"/>
            </a:endParaRPr>
          </a:p>
        </p:txBody>
      </p:sp>
      <p:sp>
        <p:nvSpPr>
          <p:cNvPr id="8" name="Text 5"/>
          <p:cNvSpPr/>
          <p:nvPr/>
        </p:nvSpPr>
        <p:spPr>
          <a:xfrm>
            <a:off x="7535228" y="4216956"/>
            <a:ext cx="6493431" cy="556974"/>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Variance thấp (&lt;0.02)</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 Mô hình ổn định, ít biến động giữa các phần dữ liệu</a:t>
            </a:r>
            <a:endParaRPr lang="en-US" sz="1350" dirty="0">
              <a:latin typeface="Times New Roman" panose="02020603050405020304" pitchFamily="18" charset="0"/>
              <a:cs typeface="Times New Roman" panose="02020603050405020304" pitchFamily="18" charset="0"/>
            </a:endParaRPr>
          </a:p>
        </p:txBody>
      </p:sp>
      <p:sp>
        <p:nvSpPr>
          <p:cNvPr id="9" name="Text 6"/>
          <p:cNvSpPr/>
          <p:nvPr/>
        </p:nvSpPr>
        <p:spPr>
          <a:xfrm>
            <a:off x="609362" y="7195780"/>
            <a:ext cx="13411676" cy="556974"/>
          </a:xfrm>
          <a:prstGeom prst="rect">
            <a:avLst/>
          </a:prstGeom>
          <a:noFill/>
          <a:ln/>
        </p:spPr>
        <p:txBody>
          <a:bodyPr wrap="square" lIns="0" tIns="0" rIns="0" bIns="0" rtlCol="0" anchor="t"/>
          <a:lstStyle/>
          <a:p>
            <a:pPr marL="0" indent="0" algn="l">
              <a:lnSpc>
                <a:spcPts val="2150"/>
              </a:lnSpc>
              <a:buNone/>
            </a:pP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Ý Nghĩa:</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Chứng tỏ generalization mạnh mẽ trên imbalanced data (38% sống sót), lý giải Public Score cao (81.578%) trên test unseen –</a:t>
            </a: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 Random Forest</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vượt trội hơn</a:t>
            </a:r>
            <a:r>
              <a:rPr lang="en-US" sz="1350" b="1" dirty="0">
                <a:solidFill>
                  <a:srgbClr val="E5DCE6"/>
                </a:solidFill>
                <a:latin typeface="Times New Roman" panose="02020603050405020304" pitchFamily="18" charset="0"/>
                <a:ea typeface="Montserrat" pitchFamily="34" charset="-122"/>
                <a:cs typeface="Times New Roman" panose="02020603050405020304" pitchFamily="18" charset="0"/>
              </a:rPr>
              <a:t> Logistic</a:t>
            </a:r>
            <a:r>
              <a:rPr lang="en-US" sz="1350" dirty="0">
                <a:solidFill>
                  <a:srgbClr val="E5DCE6"/>
                </a:solidFill>
                <a:latin typeface="Times New Roman" panose="02020603050405020304" pitchFamily="18" charset="0"/>
                <a:ea typeface="Montserrat" pitchFamily="34" charset="-122"/>
                <a:cs typeface="Times New Roman" panose="02020603050405020304" pitchFamily="18" charset="0"/>
              </a:rPr>
              <a:t> ở khả năng phân loại lớp.</a:t>
            </a:r>
            <a:endParaRPr lang="en-US" sz="13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27829" y="714256"/>
            <a:ext cx="8729901" cy="519827"/>
          </a:xfrm>
          <a:prstGeom prst="rect">
            <a:avLst/>
          </a:prstGeom>
          <a:noFill/>
          <a:ln/>
        </p:spPr>
        <p:txBody>
          <a:bodyPr wrap="none" lIns="0" tIns="0" rIns="0" bIns="0" rtlCol="0" anchor="t"/>
          <a:lstStyle/>
          <a:p>
            <a:pPr marL="0" indent="0" algn="l">
              <a:lnSpc>
                <a:spcPts val="4050"/>
              </a:lnSpc>
              <a:buNone/>
            </a:pPr>
            <a:r>
              <a:rPr lang="en-US" sz="3250" b="1" dirty="0">
                <a:solidFill>
                  <a:srgbClr val="EEAEF6"/>
                </a:solidFill>
                <a:latin typeface="Times New Roman" panose="02020603050405020304" pitchFamily="18" charset="0"/>
                <a:ea typeface="Bricolage Grotesque Extra Bold" pitchFamily="34" charset="-122"/>
                <a:cs typeface="Times New Roman" panose="02020603050405020304" pitchFamily="18" charset="0"/>
              </a:rPr>
              <a:t>HƯỚNG PHÁT TRIỂN &amp; KẾT LUẬN TỔNG THỂ</a:t>
            </a:r>
            <a:endParaRPr lang="en-US" sz="3250" dirty="0">
              <a:latin typeface="Times New Roman" panose="02020603050405020304" pitchFamily="18" charset="0"/>
              <a:cs typeface="Times New Roman" panose="02020603050405020304" pitchFamily="18" charset="0"/>
            </a:endParaRPr>
          </a:p>
        </p:txBody>
      </p:sp>
      <p:sp>
        <p:nvSpPr>
          <p:cNvPr id="3" name="Shape 1"/>
          <p:cNvSpPr/>
          <p:nvPr/>
        </p:nvSpPr>
        <p:spPr>
          <a:xfrm>
            <a:off x="727829" y="1649968"/>
            <a:ext cx="6483429" cy="4384238"/>
          </a:xfrm>
          <a:prstGeom prst="roundRect">
            <a:avLst>
              <a:gd name="adj" fmla="val 1992"/>
            </a:avLst>
          </a:prstGeom>
          <a:solidFill>
            <a:srgbClr val="090E3F"/>
          </a:solidFill>
          <a:ln w="22860">
            <a:solidFill>
              <a:srgbClr val="414677"/>
            </a:solidFill>
            <a:prstDash val="solid"/>
          </a:ln>
        </p:spPr>
      </p:sp>
      <p:sp>
        <p:nvSpPr>
          <p:cNvPr id="4" name="Text 2"/>
          <p:cNvSpPr/>
          <p:nvPr/>
        </p:nvSpPr>
        <p:spPr>
          <a:xfrm>
            <a:off x="958572" y="1880711"/>
            <a:ext cx="3512582" cy="324802"/>
          </a:xfrm>
          <a:prstGeom prst="rect">
            <a:avLst/>
          </a:prstGeom>
          <a:noFill/>
          <a:ln/>
        </p:spPr>
        <p:txBody>
          <a:bodyPr wrap="none" lIns="0" tIns="0" rIns="0" bIns="0" rtlCol="0" anchor="t"/>
          <a:lstStyle/>
          <a:p>
            <a:pPr marL="0" indent="0" algn="l">
              <a:lnSpc>
                <a:spcPts val="2550"/>
              </a:lnSpc>
              <a:buNone/>
            </a:pPr>
            <a:r>
              <a:rPr lang="en-US" sz="20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Hướng Phát Triển Tiếp Theo</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958572" y="2330172"/>
            <a:ext cx="6021943" cy="998339"/>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Tối Ưu Hyperparameters Nâng Cao:</a:t>
            </a: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 Thử N_Estimators= </a:t>
            </a: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500</a:t>
            </a: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 + Min_Samples_Split=</a:t>
            </a: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5</a:t>
            </a: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 (qua GridSearchCV) – dự kiến giảm variance thêm </a:t>
            </a: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1-2%</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958572" y="3401258"/>
            <a:ext cx="6021943" cy="998339"/>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Ensemble Nâng Cao:</a:t>
            </a: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 Stacking RF với XGBoost (meta-learner) để kết hợp generalization (RF) + phân biệt lớp (XGBoost) – tiềm năng đẩy Public Score &gt;</a:t>
            </a: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83%</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958572" y="4472345"/>
            <a:ext cx="6021943" cy="1331119"/>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Xử Lý Dữ Liệu Sâu Hơn:</a:t>
            </a: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 Feature selection dựa trên Importance (loại &lt;</a:t>
            </a: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0.05</a:t>
            </a: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 từ slide trước) + thêm external data (e.g., lịch sử cứu hộ tàu khác) để khai thác tương tác xã hội tốt hơn</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7419142" y="1649968"/>
            <a:ext cx="6483429" cy="4384238"/>
          </a:xfrm>
          <a:prstGeom prst="roundRect">
            <a:avLst>
              <a:gd name="adj" fmla="val 1992"/>
            </a:avLst>
          </a:prstGeom>
          <a:solidFill>
            <a:srgbClr val="090E3F"/>
          </a:solidFill>
          <a:ln w="22860">
            <a:solidFill>
              <a:srgbClr val="414677"/>
            </a:solidFill>
            <a:prstDash val="solid"/>
          </a:ln>
        </p:spPr>
      </p:sp>
      <p:sp>
        <p:nvSpPr>
          <p:cNvPr id="9" name="Text 7"/>
          <p:cNvSpPr/>
          <p:nvPr/>
        </p:nvSpPr>
        <p:spPr>
          <a:xfrm>
            <a:off x="7649885" y="1880711"/>
            <a:ext cx="3596521" cy="324802"/>
          </a:xfrm>
          <a:prstGeom prst="rect">
            <a:avLst/>
          </a:prstGeom>
          <a:noFill/>
          <a:ln/>
        </p:spPr>
        <p:txBody>
          <a:bodyPr wrap="none" lIns="0" tIns="0" rIns="0" bIns="0" rtlCol="0" anchor="t"/>
          <a:lstStyle/>
          <a:p>
            <a:pPr marL="0" indent="0" algn="l">
              <a:lnSpc>
                <a:spcPts val="2550"/>
              </a:lnSpc>
              <a:buNone/>
            </a:pPr>
            <a:r>
              <a:rPr lang="en-US" sz="2000" b="1" dirty="0">
                <a:solidFill>
                  <a:srgbClr val="E5DCE6"/>
                </a:solidFill>
                <a:latin typeface="Times New Roman" panose="02020603050405020304" pitchFamily="18" charset="0"/>
                <a:ea typeface="Bricolage Grotesque Extra Bold" pitchFamily="34" charset="-122"/>
                <a:cs typeface="Times New Roman" panose="02020603050405020304" pitchFamily="18" charset="0"/>
              </a:rPr>
              <a:t>Cải Thiện Hiệu Suất &amp; Rủi Ro</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7649885" y="2330172"/>
            <a:ext cx="6021943" cy="1331119"/>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Giảm Imbalanced Classes:</a:t>
            </a: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 Áp dụng SMOTE oversampling trong CV để cân bằng tỷ lệ sống sót (~</a:t>
            </a: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38%</a:t>
            </a: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 – cải thiện recall cho minority class mà không overfit</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7649885" y="3734038"/>
            <a:ext cx="6021943" cy="998339"/>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Đánh Giá Thêm Metrics:</a:t>
            </a: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 Theo dõi Precision-Recall curve (bên cạnh ROC/AUC) để xử lý imbalance tốt hơn, tránh bias majority class</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7649885" y="4805124"/>
            <a:ext cx="6021943" cy="998339"/>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E5DCE6"/>
                </a:solidFill>
                <a:latin typeface="Times New Roman" panose="02020603050405020304" pitchFamily="18" charset="0"/>
                <a:ea typeface="Montserrat" pitchFamily="34" charset="-122"/>
                <a:cs typeface="Times New Roman" panose="02020603050405020304" pitchFamily="18" charset="0"/>
              </a:rPr>
              <a:t>Deployment &amp; Monitoring:</a:t>
            </a:r>
            <a:r>
              <a:rPr lang="en-US" sz="1600" dirty="0">
                <a:solidFill>
                  <a:srgbClr val="E5DCE6"/>
                </a:solidFill>
                <a:latin typeface="Times New Roman" panose="02020603050405020304" pitchFamily="18" charset="0"/>
                <a:ea typeface="Montserrat" pitchFamily="34" charset="-122"/>
                <a:cs typeface="Times New Roman" panose="02020603050405020304" pitchFamily="18" charset="0"/>
              </a:rPr>
              <a:t> Triển khai trên AWS SageMaker với A/B testing; monitor data drift (e.g., thay đổi pattern xã hội) để retrain tự động</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727829" y="6268045"/>
            <a:ext cx="13174742" cy="1247299"/>
          </a:xfrm>
          <a:prstGeom prst="rect">
            <a:avLst/>
          </a:prstGeom>
          <a:noFill/>
          <a:ln/>
        </p:spPr>
        <p:txBody>
          <a:bodyPr wrap="square" lIns="0" tIns="0" rIns="0" bIns="0" rtlCol="0" anchor="t"/>
          <a:lstStyle/>
          <a:p>
            <a:pPr marL="0" indent="0" algn="l">
              <a:lnSpc>
                <a:spcPts val="3250"/>
              </a:lnSpc>
              <a:buNone/>
            </a:pPr>
            <a:r>
              <a:rPr lang="en-US" sz="2000" b="1" dirty="0">
                <a:solidFill>
                  <a:srgbClr val="E5DCE6"/>
                </a:solidFill>
                <a:latin typeface="Times New Roman" panose="02020603050405020304" pitchFamily="18" charset="0"/>
                <a:ea typeface="Montserrat" pitchFamily="34" charset="-122"/>
                <a:cs typeface="Times New Roman" panose="02020603050405020304" pitchFamily="18" charset="0"/>
              </a:rPr>
              <a:t>Kết Luận Tổng Thể:</a:t>
            </a:r>
            <a:r>
              <a:rPr lang="en-US" sz="2000" dirty="0">
                <a:solidFill>
                  <a:srgbClr val="E5DCE6"/>
                </a:solidFill>
                <a:latin typeface="Times New Roman" panose="02020603050405020304" pitchFamily="18" charset="0"/>
                <a:ea typeface="Montserrat" pitchFamily="34" charset="-122"/>
                <a:cs typeface="Times New Roman" panose="02020603050405020304" pitchFamily="18" charset="0"/>
              </a:rPr>
              <a:t> Random Forest không chỉ đạt hiệu suất cao (Public Score </a:t>
            </a:r>
            <a:r>
              <a:rPr lang="en-US" sz="2000" b="1" dirty="0">
                <a:solidFill>
                  <a:srgbClr val="E5DCE6"/>
                </a:solidFill>
                <a:latin typeface="Times New Roman" panose="02020603050405020304" pitchFamily="18" charset="0"/>
                <a:ea typeface="Montserrat" pitchFamily="34" charset="-122"/>
                <a:cs typeface="Times New Roman" panose="02020603050405020304" pitchFamily="18" charset="0"/>
              </a:rPr>
              <a:t>81.578%</a:t>
            </a:r>
            <a:r>
              <a:rPr lang="en-US" sz="2000" dirty="0">
                <a:solidFill>
                  <a:srgbClr val="E5DCE6"/>
                </a:solidFill>
                <a:latin typeface="Times New Roman" panose="02020603050405020304" pitchFamily="18" charset="0"/>
                <a:ea typeface="Montserrat" pitchFamily="34" charset="-122"/>
                <a:cs typeface="Times New Roman" panose="02020603050405020304" pitchFamily="18" charset="0"/>
              </a:rPr>
              <a:t>) mà còn dễ mở rộng &amp; interpret. Bài học chính: </a:t>
            </a:r>
            <a:r>
              <a:rPr lang="en-US" sz="2000" b="1" dirty="0">
                <a:solidFill>
                  <a:srgbClr val="E5DCE6"/>
                </a:solidFill>
                <a:latin typeface="Times New Roman" panose="02020603050405020304" pitchFamily="18" charset="0"/>
                <a:ea typeface="Montserrat" pitchFamily="34" charset="-122"/>
                <a:cs typeface="Times New Roman" panose="02020603050405020304" pitchFamily="18" charset="0"/>
              </a:rPr>
              <a:t>Ensemble là chìa khóa cho tabular data nhiễu cao</a:t>
            </a:r>
            <a:r>
              <a:rPr lang="en-US" sz="2000" dirty="0">
                <a:solidFill>
                  <a:srgbClr val="E5DCE6"/>
                </a:solidFill>
                <a:latin typeface="Times New Roman" panose="02020603050405020304" pitchFamily="18" charset="0"/>
                <a:ea typeface="Montserrat" pitchFamily="34" charset="-122"/>
                <a:cs typeface="Times New Roman" panose="02020603050405020304" pitchFamily="18" charset="0"/>
              </a:rPr>
              <a:t> – hướng tới production bằng generalization bền vững.</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3846</Words>
  <Application>Microsoft Office PowerPoint</Application>
  <PresentationFormat>Custom</PresentationFormat>
  <Paragraphs>338</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Tung</cp:lastModifiedBy>
  <cp:revision>3</cp:revision>
  <dcterms:created xsi:type="dcterms:W3CDTF">2025-10-15T11:25:00Z</dcterms:created>
  <dcterms:modified xsi:type="dcterms:W3CDTF">2025-10-17T06:33:48Z</dcterms:modified>
</cp:coreProperties>
</file>
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4630400" cy="8229600"/>
  <p:notesSz cx="8229600" cy="14630400"/>
  <p:embeddedFontLst>
    <p:embeddedFont>
      <p:font typeface="Calibri" panose="020F050202020403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1958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 Id="rId14" Type="http://schemas.openxmlformats.org/officeDocument/2006/relationships/image" Target="../media/image39.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94090"/>
            <a:ext cx="6847284" cy="855821"/>
          </a:xfrm>
          <a:prstGeom prst="rect">
            <a:avLst/>
          </a:prstGeom>
          <a:noFill/>
          <a:ln/>
        </p:spPr>
        <p:txBody>
          <a:bodyPr wrap="none" lIns="0" tIns="0" rIns="0" bIns="0" rtlCol="0" anchor="t"/>
          <a:lstStyle/>
          <a:p>
            <a:pPr marL="0" indent="0" algn="l">
              <a:lnSpc>
                <a:spcPts val="6700"/>
              </a:lnSpc>
              <a:buNone/>
            </a:pPr>
            <a:r>
              <a:rPr lang="en-US" sz="5350" b="1" dirty="0">
                <a:solidFill>
                  <a:srgbClr val="1B1B27"/>
                </a:solidFill>
                <a:latin typeface="Times New Roman" panose="02020603050405020304" pitchFamily="18" charset="0"/>
                <a:ea typeface="Tahoma" panose="020B0604030504040204" pitchFamily="34" charset="0"/>
                <a:cs typeface="Times New Roman" panose="02020603050405020304" pitchFamily="18" charset="0"/>
              </a:rPr>
              <a:t>Diabetes Prediction </a:t>
            </a:r>
            <a:endParaRPr lang="en-US" sz="535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1"/>
          <p:cNvSpPr/>
          <p:nvPr/>
        </p:nvSpPr>
        <p:spPr>
          <a:xfrm>
            <a:off x="793790" y="2447568"/>
            <a:ext cx="7556421" cy="317540"/>
          </a:xfrm>
          <a:prstGeom prst="rect">
            <a:avLst/>
          </a:prstGeom>
          <a:noFill/>
          <a:ln/>
        </p:spPr>
        <p:txBody>
          <a:bodyPr wrap="none" lIns="0" tIns="0" rIns="0" bIns="0" rtlCol="0" anchor="t"/>
          <a:lstStyle/>
          <a:p>
            <a:pPr marL="0" indent="0" algn="l">
              <a:lnSpc>
                <a:spcPts val="2500"/>
              </a:lnSpc>
              <a:buNone/>
            </a:pPr>
            <a:endParaRPr lang="en-US" sz="155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Text 2"/>
          <p:cNvSpPr/>
          <p:nvPr/>
        </p:nvSpPr>
        <p:spPr>
          <a:xfrm>
            <a:off x="793790" y="2988350"/>
            <a:ext cx="7556421" cy="317540"/>
          </a:xfrm>
          <a:prstGeom prst="rect">
            <a:avLst/>
          </a:prstGeom>
          <a:noFill/>
          <a:ln/>
        </p:spPr>
        <p:txBody>
          <a:bodyPr wrap="none" lIns="0" tIns="0" rIns="0" bIns="0" rtlCol="0" anchor="t"/>
          <a:lstStyle/>
          <a:p>
            <a:pPr marL="0" indent="0" algn="l">
              <a:lnSpc>
                <a:spcPts val="2500"/>
              </a:lnSpc>
              <a:buNone/>
            </a:pPr>
            <a:endParaRPr lang="en-US" sz="155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6" name="Text 3"/>
          <p:cNvSpPr/>
          <p:nvPr/>
        </p:nvSpPr>
        <p:spPr>
          <a:xfrm>
            <a:off x="793790" y="3529132"/>
            <a:ext cx="7556421" cy="317540"/>
          </a:xfrm>
          <a:prstGeom prst="rect">
            <a:avLst/>
          </a:prstGeom>
          <a:noFill/>
          <a:ln/>
        </p:spPr>
        <p:txBody>
          <a:bodyPr wrap="none" lIns="0" tIns="0" rIns="0" bIns="0" rtlCol="0" anchor="t"/>
          <a:lstStyle/>
          <a:p>
            <a:pPr marL="0" indent="0" algn="l">
              <a:lnSpc>
                <a:spcPts val="2500"/>
              </a:lnSpc>
              <a:buNone/>
            </a:pPr>
            <a:endParaRPr lang="en-US" sz="155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Text 4"/>
          <p:cNvSpPr/>
          <p:nvPr/>
        </p:nvSpPr>
        <p:spPr>
          <a:xfrm>
            <a:off x="793790" y="4069913"/>
            <a:ext cx="7556421" cy="317540"/>
          </a:xfrm>
          <a:prstGeom prst="rect">
            <a:avLst/>
          </a:prstGeom>
          <a:noFill/>
          <a:ln/>
        </p:spPr>
        <p:txBody>
          <a:bodyPr wrap="none" lIns="0" tIns="0" rIns="0" bIns="0" rtlCol="0" anchor="t"/>
          <a:lstStyle/>
          <a:p>
            <a:pPr marL="0" indent="0" algn="l">
              <a:lnSpc>
                <a:spcPts val="2500"/>
              </a:lnSpc>
              <a:buNone/>
            </a:pPr>
            <a:endParaRPr lang="en-US" sz="155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8" name="Text 5"/>
          <p:cNvSpPr/>
          <p:nvPr/>
        </p:nvSpPr>
        <p:spPr>
          <a:xfrm>
            <a:off x="793790" y="468510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1B1B27"/>
                </a:solidFill>
                <a:latin typeface="Times New Roman" panose="02020603050405020304" pitchFamily="18" charset="0"/>
                <a:ea typeface="Tahoma" panose="020B0604030504040204" pitchFamily="34" charset="0"/>
                <a:cs typeface="Times New Roman" panose="02020603050405020304" pitchFamily="18" charset="0"/>
              </a:rPr>
              <a:t>Thành viên nhóm</a:t>
            </a:r>
            <a:endParaRPr lang="en-US" sz="195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9" name="Shape 6"/>
          <p:cNvSpPr/>
          <p:nvPr/>
        </p:nvSpPr>
        <p:spPr>
          <a:xfrm>
            <a:off x="793790" y="5292923"/>
            <a:ext cx="3679031" cy="722114"/>
          </a:xfrm>
          <a:prstGeom prst="roundRect">
            <a:avLst>
              <a:gd name="adj" fmla="val 11544"/>
            </a:avLst>
          </a:prstGeom>
          <a:solidFill>
            <a:srgbClr val="E1E1EA"/>
          </a:solidFill>
          <a:ln w="7620">
            <a:solidFill>
              <a:srgbClr val="C7C7D0"/>
            </a:solidFill>
            <a:prstDash val="solid"/>
          </a:ln>
        </p:spPr>
      </p:sp>
      <p:sp>
        <p:nvSpPr>
          <p:cNvPr id="10" name="Text 7"/>
          <p:cNvSpPr/>
          <p:nvPr/>
        </p:nvSpPr>
        <p:spPr>
          <a:xfrm>
            <a:off x="999768" y="549890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Times New Roman" panose="02020603050405020304" pitchFamily="18" charset="0"/>
                <a:ea typeface="Tahoma" panose="020B0604030504040204" pitchFamily="34" charset="0"/>
                <a:cs typeface="Times New Roman" panose="02020603050405020304" pitchFamily="18" charset="0"/>
              </a:rPr>
              <a:t>Vũ Ngọc Tùng</a:t>
            </a:r>
            <a:endParaRPr lang="en-US" sz="195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1" name="Shape 8"/>
          <p:cNvSpPr/>
          <p:nvPr/>
        </p:nvSpPr>
        <p:spPr>
          <a:xfrm>
            <a:off x="4671179" y="5292923"/>
            <a:ext cx="3679031" cy="722114"/>
          </a:xfrm>
          <a:prstGeom prst="roundRect">
            <a:avLst>
              <a:gd name="adj" fmla="val 11544"/>
            </a:avLst>
          </a:prstGeom>
          <a:solidFill>
            <a:srgbClr val="E1E1EA"/>
          </a:solidFill>
          <a:ln w="7620">
            <a:solidFill>
              <a:srgbClr val="C7C7D0"/>
            </a:solidFill>
            <a:prstDash val="solid"/>
          </a:ln>
        </p:spPr>
      </p:sp>
      <p:sp>
        <p:nvSpPr>
          <p:cNvPr id="12" name="Text 9"/>
          <p:cNvSpPr/>
          <p:nvPr/>
        </p:nvSpPr>
        <p:spPr>
          <a:xfrm>
            <a:off x="4877157" y="5498902"/>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Times New Roman" panose="02020603050405020304" pitchFamily="18" charset="0"/>
                <a:ea typeface="Tahoma" panose="020B0604030504040204" pitchFamily="34" charset="0"/>
                <a:cs typeface="Times New Roman" panose="02020603050405020304" pitchFamily="18" charset="0"/>
              </a:rPr>
              <a:t>Phan Thanh Tùng</a:t>
            </a:r>
            <a:endParaRPr lang="en-US" sz="195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3" name="Shape 10"/>
          <p:cNvSpPr/>
          <p:nvPr/>
        </p:nvSpPr>
        <p:spPr>
          <a:xfrm>
            <a:off x="793790" y="6213396"/>
            <a:ext cx="3679031" cy="722114"/>
          </a:xfrm>
          <a:prstGeom prst="roundRect">
            <a:avLst>
              <a:gd name="adj" fmla="val 11544"/>
            </a:avLst>
          </a:prstGeom>
          <a:solidFill>
            <a:srgbClr val="E1E1EA"/>
          </a:solidFill>
          <a:ln w="7620">
            <a:solidFill>
              <a:srgbClr val="C7C7D0"/>
            </a:solidFill>
            <a:prstDash val="solid"/>
          </a:ln>
        </p:spPr>
      </p:sp>
      <p:sp>
        <p:nvSpPr>
          <p:cNvPr id="14" name="Text 11"/>
          <p:cNvSpPr/>
          <p:nvPr/>
        </p:nvSpPr>
        <p:spPr>
          <a:xfrm>
            <a:off x="999768" y="641937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Times New Roman" panose="02020603050405020304" pitchFamily="18" charset="0"/>
                <a:ea typeface="Tahoma" panose="020B0604030504040204" pitchFamily="34" charset="0"/>
                <a:cs typeface="Times New Roman" panose="02020603050405020304" pitchFamily="18" charset="0"/>
              </a:rPr>
              <a:t>Tạ Quang Thắng</a:t>
            </a:r>
            <a:endParaRPr lang="en-US" sz="195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15" name="Shape 12"/>
          <p:cNvSpPr/>
          <p:nvPr/>
        </p:nvSpPr>
        <p:spPr>
          <a:xfrm>
            <a:off x="4671179" y="6213396"/>
            <a:ext cx="3679031" cy="722114"/>
          </a:xfrm>
          <a:prstGeom prst="roundRect">
            <a:avLst>
              <a:gd name="adj" fmla="val 11544"/>
            </a:avLst>
          </a:prstGeom>
          <a:solidFill>
            <a:srgbClr val="E1E1EA"/>
          </a:solidFill>
          <a:ln w="7620">
            <a:solidFill>
              <a:srgbClr val="C7C7D0"/>
            </a:solidFill>
            <a:prstDash val="solid"/>
          </a:ln>
        </p:spPr>
      </p:sp>
      <p:sp>
        <p:nvSpPr>
          <p:cNvPr id="16" name="Text 13"/>
          <p:cNvSpPr/>
          <p:nvPr/>
        </p:nvSpPr>
        <p:spPr>
          <a:xfrm>
            <a:off x="4877157" y="6419374"/>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C3939"/>
                </a:solidFill>
                <a:latin typeface="Times New Roman" panose="02020603050405020304" pitchFamily="18" charset="0"/>
                <a:ea typeface="Tahoma" panose="020B0604030504040204" pitchFamily="34" charset="0"/>
                <a:cs typeface="Times New Roman" panose="02020603050405020304" pitchFamily="18" charset="0"/>
              </a:rPr>
              <a:t>Phạm Hồng Thái</a:t>
            </a:r>
            <a:endParaRPr lang="en-US" sz="1950" dirty="0">
              <a:latin typeface="Times New Roman" panose="02020603050405020304" pitchFamily="18" charset="0"/>
              <a:ea typeface="Tahoma" panose="020B060403050404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47142"/>
            <a:ext cx="4484727" cy="496133"/>
          </a:xfrm>
          <a:prstGeom prst="rect">
            <a:avLst/>
          </a:prstGeom>
          <a:noFill/>
          <a:ln/>
        </p:spPr>
        <p:txBody>
          <a:bodyPr wrap="none" lIns="0" tIns="0" rIns="0" bIns="0" rtlCol="0" anchor="t"/>
          <a:lstStyle/>
          <a:p>
            <a:pPr marL="0" indent="0" algn="l">
              <a:lnSpc>
                <a:spcPts val="3900"/>
              </a:lnSpc>
              <a:buNone/>
            </a:pPr>
            <a:r>
              <a:rPr lang="en-US" sz="3100" b="1" dirty="0">
                <a:solidFill>
                  <a:srgbClr val="1B1B27"/>
                </a:solidFill>
                <a:latin typeface="Times New Roman" panose="02020603050405020304" pitchFamily="18" charset="0"/>
                <a:ea typeface="Raleway" pitchFamily="34" charset="-122"/>
                <a:cs typeface="Times New Roman" panose="02020603050405020304" pitchFamily="18" charset="0"/>
              </a:rPr>
              <a:t>BỐI CẢNH VÀ MỤC TIÊU</a:t>
            </a:r>
            <a:endParaRPr lang="en-US" sz="3100" dirty="0"/>
          </a:p>
        </p:txBody>
      </p:sp>
      <p:sp>
        <p:nvSpPr>
          <p:cNvPr id="3" name="Text 1"/>
          <p:cNvSpPr/>
          <p:nvPr/>
        </p:nvSpPr>
        <p:spPr>
          <a:xfrm>
            <a:off x="793790" y="19392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1B1B27"/>
                </a:solidFill>
                <a:latin typeface="Times New Roman" panose="02020603050405020304" pitchFamily="18" charset="0"/>
                <a:ea typeface="Raleway" pitchFamily="34" charset="-122"/>
                <a:cs typeface="Times New Roman" panose="02020603050405020304" pitchFamily="18" charset="0"/>
              </a:rPr>
              <a:t>Bối Cảnh Toàn Cầu</a:t>
            </a:r>
            <a:endParaRPr lang="en-US" sz="1950" dirty="0"/>
          </a:p>
        </p:txBody>
      </p:sp>
      <p:sp>
        <p:nvSpPr>
          <p:cNvPr id="4" name="Text 2"/>
          <p:cNvSpPr/>
          <p:nvPr/>
        </p:nvSpPr>
        <p:spPr>
          <a:xfrm>
            <a:off x="793790" y="2447806"/>
            <a:ext cx="7632025" cy="127015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Times New Roman" panose="02020603050405020304" pitchFamily="18" charset="0"/>
                <a:ea typeface="Roboto" pitchFamily="34" charset="-122"/>
                <a:cs typeface="Times New Roman" panose="02020603050405020304" pitchFamily="18" charset="0"/>
              </a:rPr>
              <a:t>Bệnh đái tháo đường (Diabetes Mellitus) là bệnh mãn tính phổ biến, ảnh hưởng </a:t>
            </a:r>
            <a:r>
              <a:rPr lang="en-US" sz="1550" b="1" dirty="0">
                <a:solidFill>
                  <a:srgbClr val="3C3939"/>
                </a:solidFill>
                <a:latin typeface="Times New Roman" panose="02020603050405020304" pitchFamily="18" charset="0"/>
                <a:ea typeface="Roboto" pitchFamily="34" charset="-122"/>
                <a:cs typeface="Times New Roman" panose="02020603050405020304" pitchFamily="18" charset="0"/>
              </a:rPr>
              <a:t>~537 triệu người</a:t>
            </a:r>
            <a:r>
              <a:rPr lang="en-US" sz="1550" dirty="0">
                <a:solidFill>
                  <a:srgbClr val="3C3939"/>
                </a:solidFill>
                <a:latin typeface="Times New Roman" panose="02020603050405020304" pitchFamily="18" charset="0"/>
                <a:ea typeface="Roboto" pitchFamily="34" charset="-122"/>
                <a:cs typeface="Times New Roman" panose="02020603050405020304" pitchFamily="18" charset="0"/>
              </a:rPr>
              <a:t> (2021) và dự kiến tăng lên 783 triệu vào 2045. Bệnh gây rối loạn sản xuất/sử dụng insulin, dẫn đến biến chứng nguy hiểm như tim mạch, suy thận và mù lòa.</a:t>
            </a:r>
            <a:endParaRPr lang="en-US" sz="1550" dirty="0"/>
          </a:p>
        </p:txBody>
      </p:sp>
      <p:sp>
        <p:nvSpPr>
          <p:cNvPr id="5" name="Shape 3"/>
          <p:cNvSpPr/>
          <p:nvPr/>
        </p:nvSpPr>
        <p:spPr>
          <a:xfrm>
            <a:off x="793790" y="3941207"/>
            <a:ext cx="7632025" cy="1160740"/>
          </a:xfrm>
          <a:prstGeom prst="roundRect">
            <a:avLst>
              <a:gd name="adj" fmla="val 7182"/>
            </a:avLst>
          </a:prstGeom>
          <a:solidFill>
            <a:srgbClr val="D2D2E0"/>
          </a:solidFill>
          <a:ln/>
        </p:spPr>
      </p:sp>
      <p:sp>
        <p:nvSpPr>
          <p:cNvPr id="6" name="Text 4"/>
          <p:cNvSpPr/>
          <p:nvPr/>
        </p:nvSpPr>
        <p:spPr>
          <a:xfrm>
            <a:off x="992148" y="4189095"/>
            <a:ext cx="7235309"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Times New Roman" panose="02020603050405020304" pitchFamily="18" charset="0"/>
                <a:ea typeface="Roboto" pitchFamily="34" charset="-122"/>
                <a:cs typeface="Times New Roman" panose="02020603050405020304" pitchFamily="18" charset="0"/>
              </a:rPr>
              <a:t>Phát hiện sớm qua dữ liệu lâm sàng giúp giảm </a:t>
            </a:r>
            <a:r>
              <a:rPr lang="en-US" sz="1550" b="1" dirty="0">
                <a:solidFill>
                  <a:srgbClr val="000000"/>
                </a:solidFill>
                <a:latin typeface="Times New Roman" panose="02020603050405020304" pitchFamily="18" charset="0"/>
                <a:ea typeface="Roboto" pitchFamily="34" charset="-122"/>
                <a:cs typeface="Times New Roman" panose="02020603050405020304" pitchFamily="18" charset="0"/>
              </a:rPr>
              <a:t>30-50%</a:t>
            </a:r>
            <a:r>
              <a:rPr lang="en-US" sz="1550" dirty="0">
                <a:solidFill>
                  <a:srgbClr val="000000"/>
                </a:solidFill>
                <a:latin typeface="Times New Roman" panose="02020603050405020304" pitchFamily="18" charset="0"/>
                <a:ea typeface="Roboto" pitchFamily="34" charset="-122"/>
                <a:cs typeface="Times New Roman" panose="02020603050405020304" pitchFamily="18" charset="0"/>
              </a:rPr>
              <a:t> rủi ro biến chứng (WHO). Học máy (ML) hỗ trợ dự đoán sớm, giảm tải cho bác sĩ.</a:t>
            </a:r>
            <a:endParaRPr lang="en-US" sz="1550" dirty="0"/>
          </a:p>
        </p:txBody>
      </p:sp>
      <p:sp>
        <p:nvSpPr>
          <p:cNvPr id="7" name="Text 5"/>
          <p:cNvSpPr/>
          <p:nvPr/>
        </p:nvSpPr>
        <p:spPr>
          <a:xfrm>
            <a:off x="793790" y="532518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1B1B27"/>
                </a:solidFill>
                <a:latin typeface="Times New Roman" panose="02020603050405020304" pitchFamily="18" charset="0"/>
                <a:ea typeface="Raleway" pitchFamily="34" charset="-122"/>
                <a:cs typeface="Times New Roman" panose="02020603050405020304" pitchFamily="18" charset="0"/>
              </a:rPr>
              <a:t>Dữ Liệu &amp; Mục Tiêu</a:t>
            </a:r>
            <a:endParaRPr lang="en-US" sz="1950" dirty="0"/>
          </a:p>
        </p:txBody>
      </p:sp>
      <p:sp>
        <p:nvSpPr>
          <p:cNvPr id="8" name="Text 6"/>
          <p:cNvSpPr/>
          <p:nvPr/>
        </p:nvSpPr>
        <p:spPr>
          <a:xfrm>
            <a:off x="793790" y="5833705"/>
            <a:ext cx="7632025" cy="1270159"/>
          </a:xfrm>
          <a:prstGeom prst="rect">
            <a:avLst/>
          </a:prstGeom>
          <a:noFill/>
          <a:ln/>
        </p:spPr>
        <p:txBody>
          <a:bodyPr wrap="square" lIns="0" tIns="0" rIns="0" bIns="0" rtlCol="0" anchor="t"/>
          <a:lstStyle/>
          <a:p>
            <a:pPr marL="0" indent="0" algn="l">
              <a:lnSpc>
                <a:spcPts val="2500"/>
              </a:lnSpc>
              <a:buNone/>
            </a:pPr>
            <a:r>
              <a:rPr lang="en-US" sz="1550" dirty="0">
                <a:solidFill>
                  <a:srgbClr val="3C3939"/>
                </a:solidFill>
                <a:latin typeface="Times New Roman" panose="02020603050405020304" pitchFamily="18" charset="0"/>
                <a:ea typeface="Roboto" pitchFamily="34" charset="-122"/>
                <a:cs typeface="Times New Roman" panose="02020603050405020304" pitchFamily="18" charset="0"/>
              </a:rPr>
              <a:t>Sử dụng </a:t>
            </a:r>
            <a:r>
              <a:rPr lang="en-US" sz="1550" b="1" dirty="0">
                <a:solidFill>
                  <a:srgbClr val="3C3939"/>
                </a:solidFill>
                <a:latin typeface="Times New Roman" panose="02020603050405020304" pitchFamily="18" charset="0"/>
                <a:ea typeface="Roboto" pitchFamily="34" charset="-122"/>
                <a:cs typeface="Times New Roman" panose="02020603050405020304" pitchFamily="18" charset="0"/>
              </a:rPr>
              <a:t>Pima Indians Diabetes Dataset</a:t>
            </a:r>
            <a:r>
              <a:rPr lang="en-US" sz="1550" dirty="0">
                <a:solidFill>
                  <a:srgbClr val="3C3939"/>
                </a:solidFill>
                <a:latin typeface="Times New Roman" panose="02020603050405020304" pitchFamily="18" charset="0"/>
                <a:ea typeface="Roboto" pitchFamily="34" charset="-122"/>
                <a:cs typeface="Times New Roman" panose="02020603050405020304" pitchFamily="18" charset="0"/>
              </a:rPr>
              <a:t> (768 phụ nữ Pima, nhóm có nguy cơ cao do di truyền). Mục tiêu là xây dựng và so sánh 3 mô hình ML (Logistic Regression, Random Forest, XGBoost) để dự đoán nguy cơ đái tháo đường, tập trung vào các metrics như Accuracy, F1, và </a:t>
            </a:r>
            <a:r>
              <a:rPr lang="en-US" sz="1550" b="1" dirty="0">
                <a:solidFill>
                  <a:srgbClr val="3C3939"/>
                </a:solidFill>
                <a:latin typeface="Times New Roman" panose="02020603050405020304" pitchFamily="18" charset="0"/>
                <a:ea typeface="Roboto" pitchFamily="34" charset="-122"/>
                <a:cs typeface="Times New Roman" panose="02020603050405020304" pitchFamily="18" charset="0"/>
              </a:rPr>
              <a:t>ROC-AUC</a:t>
            </a:r>
            <a:r>
              <a:rPr lang="en-US" sz="1550" dirty="0">
                <a:solidFill>
                  <a:srgbClr val="3C3939"/>
                </a:solidFill>
                <a:latin typeface="Times New Roman" panose="02020603050405020304" pitchFamily="18" charset="0"/>
                <a:ea typeface="Roboto" pitchFamily="34" charset="-122"/>
                <a:cs typeface="Times New Roman" panose="02020603050405020304" pitchFamily="18" charset="0"/>
              </a:rPr>
              <a:t>.</a:t>
            </a:r>
            <a:endParaRPr lang="en-US" sz="1550" dirty="0"/>
          </a:p>
        </p:txBody>
      </p:sp>
      <p:sp>
        <p:nvSpPr>
          <p:cNvPr id="9" name="Text 7"/>
          <p:cNvSpPr/>
          <p:nvPr/>
        </p:nvSpPr>
        <p:spPr>
          <a:xfrm>
            <a:off x="8917543" y="1919526"/>
            <a:ext cx="4926568" cy="317540"/>
          </a:xfrm>
          <a:prstGeom prst="rect">
            <a:avLst/>
          </a:prstGeom>
          <a:noFill/>
          <a:ln/>
        </p:spPr>
        <p:txBody>
          <a:bodyPr wrap="none" lIns="0" tIns="0" rIns="0" bIns="0" rtlCol="0" anchor="t"/>
          <a:lstStyle/>
          <a:p>
            <a:pPr marL="0" indent="0" algn="l">
              <a:lnSpc>
                <a:spcPts val="2500"/>
              </a:lnSpc>
              <a:buNone/>
            </a:pPr>
            <a:endParaRPr lang="en-US" sz="1550" dirty="0"/>
          </a:p>
        </p:txBody>
      </p:sp>
      <p:sp>
        <p:nvSpPr>
          <p:cNvPr id="10" name="Text 8"/>
          <p:cNvSpPr/>
          <p:nvPr/>
        </p:nvSpPr>
        <p:spPr>
          <a:xfrm>
            <a:off x="8917543" y="2415659"/>
            <a:ext cx="4926568" cy="317540"/>
          </a:xfrm>
          <a:prstGeom prst="rect">
            <a:avLst/>
          </a:prstGeom>
          <a:noFill/>
          <a:ln/>
        </p:spPr>
        <p:txBody>
          <a:bodyPr wrap="none" lIns="0" tIns="0" rIns="0" bIns="0" rtlCol="0" anchor="t"/>
          <a:lstStyle/>
          <a:p>
            <a:pPr marL="0" indent="0" algn="l">
              <a:lnSpc>
                <a:spcPts val="2500"/>
              </a:lnSpc>
              <a:buNone/>
            </a:pPr>
            <a:endParaRPr lang="en-US" sz="1550" dirty="0"/>
          </a:p>
        </p:txBody>
      </p:sp>
      <p:pic>
        <p:nvPicPr>
          <p:cNvPr id="11" name="Image 0" descr="preencoded.png"/>
          <p:cNvPicPr>
            <a:picLocks noChangeAspect="1"/>
          </p:cNvPicPr>
          <p:nvPr/>
        </p:nvPicPr>
        <p:blipFill>
          <a:blip r:embed="rId3"/>
          <a:stretch>
            <a:fillRect/>
          </a:stretch>
        </p:blipFill>
        <p:spPr>
          <a:xfrm>
            <a:off x="8917543" y="2956441"/>
            <a:ext cx="4926568" cy="369486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69012"/>
            <a:ext cx="3934658" cy="421719"/>
          </a:xfrm>
          <a:prstGeom prst="rect">
            <a:avLst/>
          </a:prstGeom>
          <a:noFill/>
          <a:ln/>
        </p:spPr>
        <p:txBody>
          <a:bodyPr wrap="none" lIns="0" tIns="0" rIns="0" bIns="0" rtlCol="0" anchor="t"/>
          <a:lstStyle/>
          <a:p>
            <a:pPr marL="0" indent="0" algn="l">
              <a:lnSpc>
                <a:spcPts val="3300"/>
              </a:lnSpc>
              <a:buNone/>
            </a:pPr>
            <a:r>
              <a:rPr lang="en-US" sz="2650" b="1" dirty="0">
                <a:solidFill>
                  <a:srgbClr val="1B1B27"/>
                </a:solidFill>
                <a:latin typeface="Times New Roman" panose="02020603050405020304" pitchFamily="18" charset="0"/>
                <a:ea typeface="Raleway" pitchFamily="34" charset="-122"/>
                <a:cs typeface="Times New Roman" panose="02020603050405020304" pitchFamily="18" charset="0"/>
              </a:rPr>
              <a:t>TỔNG QUAN VỀ DỮ LIỆU</a:t>
            </a:r>
            <a:endParaRPr lang="en-US" sz="2650" dirty="0"/>
          </a:p>
        </p:txBody>
      </p:sp>
      <p:sp>
        <p:nvSpPr>
          <p:cNvPr id="3" name="Text 1"/>
          <p:cNvSpPr/>
          <p:nvPr/>
        </p:nvSpPr>
        <p:spPr>
          <a:xfrm>
            <a:off x="793790" y="1428036"/>
            <a:ext cx="13042821" cy="539829"/>
          </a:xfrm>
          <a:prstGeom prst="rect">
            <a:avLst/>
          </a:prstGeom>
          <a:noFill/>
          <a:ln/>
        </p:spPr>
        <p:txBody>
          <a:bodyPr wrap="squar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Bộ dữ liệu gồm 768 mẫu với 8 đặc trưng lâm sàng và 1 nhãn mục tiêu (</a:t>
            </a: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Outcome</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Phân bố nhãn mục tiêu là </a:t>
            </a: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65% không mắc</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(500) và </a:t>
            </a: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35% mắc</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(268), cho thấy sự mất cân bằng nhẹ.</a:t>
            </a:r>
            <a:endParaRPr lang="en-US" sz="1300" dirty="0"/>
          </a:p>
        </p:txBody>
      </p:sp>
      <p:sp>
        <p:nvSpPr>
          <p:cNvPr id="4" name="Shape 2"/>
          <p:cNvSpPr/>
          <p:nvPr/>
        </p:nvSpPr>
        <p:spPr>
          <a:xfrm>
            <a:off x="793790" y="2157651"/>
            <a:ext cx="13042821" cy="4943118"/>
          </a:xfrm>
          <a:prstGeom prst="roundRect">
            <a:avLst>
              <a:gd name="adj" fmla="val 1433"/>
            </a:avLst>
          </a:prstGeom>
          <a:noFill/>
          <a:ln w="7620">
            <a:solidFill>
              <a:srgbClr val="000000">
                <a:alpha val="8000"/>
              </a:srgbClr>
            </a:solidFill>
            <a:prstDash val="solid"/>
          </a:ln>
        </p:spPr>
      </p:sp>
      <p:sp>
        <p:nvSpPr>
          <p:cNvPr id="5" name="Shape 3"/>
          <p:cNvSpPr/>
          <p:nvPr/>
        </p:nvSpPr>
        <p:spPr>
          <a:xfrm>
            <a:off x="801410" y="2165271"/>
            <a:ext cx="13027581" cy="487561"/>
          </a:xfrm>
          <a:prstGeom prst="rect">
            <a:avLst/>
          </a:prstGeom>
          <a:solidFill>
            <a:srgbClr val="FFFFFF">
              <a:alpha val="4000"/>
            </a:srgbClr>
          </a:solidFill>
          <a:ln/>
        </p:spPr>
      </p:sp>
      <p:sp>
        <p:nvSpPr>
          <p:cNvPr id="6" name="Text 4"/>
          <p:cNvSpPr/>
          <p:nvPr/>
        </p:nvSpPr>
        <p:spPr>
          <a:xfrm>
            <a:off x="970121" y="2274094"/>
            <a:ext cx="2264450" cy="269915"/>
          </a:xfrm>
          <a:prstGeom prst="rect">
            <a:avLst/>
          </a:prstGeom>
          <a:noFill/>
          <a:ln/>
        </p:spPr>
        <p:txBody>
          <a:bodyPr wrap="none" lIns="0" tIns="0" rIns="0" bIns="0" rtlCol="0" anchor="t"/>
          <a:lstStyle/>
          <a:p>
            <a:pPr marL="0" indent="0" algn="l">
              <a:lnSpc>
                <a:spcPts val="2100"/>
              </a:lnSpc>
              <a:buNone/>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Đặc trưng</a:t>
            </a:r>
            <a:endParaRPr lang="en-US" sz="1300" dirty="0"/>
          </a:p>
        </p:txBody>
      </p:sp>
      <p:sp>
        <p:nvSpPr>
          <p:cNvPr id="7" name="Text 5"/>
          <p:cNvSpPr/>
          <p:nvPr/>
        </p:nvSpPr>
        <p:spPr>
          <a:xfrm>
            <a:off x="3579376" y="2274094"/>
            <a:ext cx="4866203" cy="269915"/>
          </a:xfrm>
          <a:prstGeom prst="rect">
            <a:avLst/>
          </a:prstGeom>
          <a:noFill/>
          <a:ln/>
        </p:spPr>
        <p:txBody>
          <a:bodyPr wrap="none" lIns="0" tIns="0" rIns="0" bIns="0" rtlCol="0" anchor="t"/>
          <a:lstStyle/>
          <a:p>
            <a:pPr marL="0" indent="0" algn="l">
              <a:lnSpc>
                <a:spcPts val="2100"/>
              </a:lnSpc>
              <a:buNone/>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Mô tả</a:t>
            </a:r>
            <a:endParaRPr lang="en-US" sz="1300" dirty="0"/>
          </a:p>
        </p:txBody>
      </p:sp>
      <p:sp>
        <p:nvSpPr>
          <p:cNvPr id="8" name="Text 6"/>
          <p:cNvSpPr/>
          <p:nvPr/>
        </p:nvSpPr>
        <p:spPr>
          <a:xfrm>
            <a:off x="8790384" y="2274094"/>
            <a:ext cx="4870013" cy="269915"/>
          </a:xfrm>
          <a:prstGeom prst="rect">
            <a:avLst/>
          </a:prstGeom>
          <a:noFill/>
          <a:ln/>
        </p:spPr>
        <p:txBody>
          <a:bodyPr wrap="none" lIns="0" tIns="0" rIns="0" bIns="0" rtlCol="0" anchor="t"/>
          <a:lstStyle/>
          <a:p>
            <a:pPr marL="0" indent="0" algn="l">
              <a:lnSpc>
                <a:spcPts val="2100"/>
              </a:lnSpc>
              <a:buNone/>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Vai trò chuyên sâu</a:t>
            </a:r>
            <a:endParaRPr lang="en-US" sz="1300" dirty="0"/>
          </a:p>
        </p:txBody>
      </p:sp>
      <p:sp>
        <p:nvSpPr>
          <p:cNvPr id="9" name="Shape 7"/>
          <p:cNvSpPr/>
          <p:nvPr/>
        </p:nvSpPr>
        <p:spPr>
          <a:xfrm>
            <a:off x="801410" y="2652832"/>
            <a:ext cx="13027581" cy="487561"/>
          </a:xfrm>
          <a:prstGeom prst="rect">
            <a:avLst/>
          </a:prstGeom>
          <a:solidFill>
            <a:srgbClr val="000000">
              <a:alpha val="4000"/>
            </a:srgbClr>
          </a:solidFill>
          <a:ln/>
        </p:spPr>
      </p:sp>
      <p:sp>
        <p:nvSpPr>
          <p:cNvPr id="10" name="Text 8"/>
          <p:cNvSpPr/>
          <p:nvPr/>
        </p:nvSpPr>
        <p:spPr>
          <a:xfrm>
            <a:off x="970121" y="2761655"/>
            <a:ext cx="2264450"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Pregnancies</a:t>
            </a:r>
            <a:endParaRPr lang="en-US" sz="1300" dirty="0"/>
          </a:p>
        </p:txBody>
      </p:sp>
      <p:sp>
        <p:nvSpPr>
          <p:cNvPr id="11" name="Text 9"/>
          <p:cNvSpPr/>
          <p:nvPr/>
        </p:nvSpPr>
        <p:spPr>
          <a:xfrm>
            <a:off x="3579376" y="2761655"/>
            <a:ext cx="486620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Số lần mang thai</a:t>
            </a:r>
            <a:endParaRPr lang="en-US" sz="1300" dirty="0"/>
          </a:p>
        </p:txBody>
      </p:sp>
      <p:sp>
        <p:nvSpPr>
          <p:cNvPr id="12" name="Text 10"/>
          <p:cNvSpPr/>
          <p:nvPr/>
        </p:nvSpPr>
        <p:spPr>
          <a:xfrm>
            <a:off x="8790384" y="2761655"/>
            <a:ext cx="487001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&gt;0 lần mang thai có thể tăng rủi ro tiểu đường thai kỳ.</a:t>
            </a:r>
            <a:endParaRPr lang="en-US" sz="1300" dirty="0"/>
          </a:p>
        </p:txBody>
      </p:sp>
      <p:sp>
        <p:nvSpPr>
          <p:cNvPr id="13" name="Shape 11"/>
          <p:cNvSpPr/>
          <p:nvPr/>
        </p:nvSpPr>
        <p:spPr>
          <a:xfrm>
            <a:off x="801410" y="3140393"/>
            <a:ext cx="13027581" cy="487561"/>
          </a:xfrm>
          <a:prstGeom prst="rect">
            <a:avLst/>
          </a:prstGeom>
          <a:solidFill>
            <a:srgbClr val="FFFFFF">
              <a:alpha val="4000"/>
            </a:srgbClr>
          </a:solidFill>
          <a:ln/>
        </p:spPr>
      </p:sp>
      <p:sp>
        <p:nvSpPr>
          <p:cNvPr id="14" name="Text 12"/>
          <p:cNvSpPr/>
          <p:nvPr/>
        </p:nvSpPr>
        <p:spPr>
          <a:xfrm>
            <a:off x="970121" y="3249216"/>
            <a:ext cx="2264450"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Glucose</a:t>
            </a:r>
            <a:endParaRPr lang="en-US" sz="1300" dirty="0"/>
          </a:p>
        </p:txBody>
      </p:sp>
      <p:sp>
        <p:nvSpPr>
          <p:cNvPr id="15" name="Text 13"/>
          <p:cNvSpPr/>
          <p:nvPr/>
        </p:nvSpPr>
        <p:spPr>
          <a:xfrm>
            <a:off x="3579376" y="3249216"/>
            <a:ext cx="486620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Nồng độ glucose huyết tương</a:t>
            </a:r>
            <a:endParaRPr lang="en-US" sz="1300" dirty="0"/>
          </a:p>
        </p:txBody>
      </p:sp>
      <p:sp>
        <p:nvSpPr>
          <p:cNvPr id="16" name="Text 14"/>
          <p:cNvSpPr/>
          <p:nvPr/>
        </p:nvSpPr>
        <p:spPr>
          <a:xfrm>
            <a:off x="8790384" y="3249216"/>
            <a:ext cx="487001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Yếu tố cốt lõi (&gt;126 mg/dL chẩn đoán đái tháo đường, ADA).</a:t>
            </a:r>
            <a:endParaRPr lang="en-US" sz="1300" dirty="0"/>
          </a:p>
        </p:txBody>
      </p:sp>
      <p:sp>
        <p:nvSpPr>
          <p:cNvPr id="17" name="Shape 15"/>
          <p:cNvSpPr/>
          <p:nvPr/>
        </p:nvSpPr>
        <p:spPr>
          <a:xfrm>
            <a:off x="801410" y="3627953"/>
            <a:ext cx="13027581" cy="757476"/>
          </a:xfrm>
          <a:prstGeom prst="rect">
            <a:avLst/>
          </a:prstGeom>
          <a:solidFill>
            <a:srgbClr val="000000">
              <a:alpha val="4000"/>
            </a:srgbClr>
          </a:solidFill>
          <a:ln/>
        </p:spPr>
      </p:sp>
      <p:sp>
        <p:nvSpPr>
          <p:cNvPr id="18" name="Text 16"/>
          <p:cNvSpPr/>
          <p:nvPr/>
        </p:nvSpPr>
        <p:spPr>
          <a:xfrm>
            <a:off x="970121" y="3736777"/>
            <a:ext cx="2264450"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BloodPressure</a:t>
            </a:r>
            <a:endParaRPr lang="en-US" sz="1300" dirty="0"/>
          </a:p>
        </p:txBody>
      </p:sp>
      <p:sp>
        <p:nvSpPr>
          <p:cNvPr id="19" name="Text 17"/>
          <p:cNvSpPr/>
          <p:nvPr/>
        </p:nvSpPr>
        <p:spPr>
          <a:xfrm>
            <a:off x="3579376" y="3736777"/>
            <a:ext cx="486620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Huyết áp tâm trương (mm Hg)</a:t>
            </a:r>
            <a:endParaRPr lang="en-US" sz="1300" dirty="0"/>
          </a:p>
        </p:txBody>
      </p:sp>
      <p:sp>
        <p:nvSpPr>
          <p:cNvPr id="20" name="Text 18"/>
          <p:cNvSpPr/>
          <p:nvPr/>
        </p:nvSpPr>
        <p:spPr>
          <a:xfrm>
            <a:off x="8790384" y="3736777"/>
            <a:ext cx="4870013" cy="539829"/>
          </a:xfrm>
          <a:prstGeom prst="rect">
            <a:avLst/>
          </a:prstGeom>
          <a:noFill/>
          <a:ln/>
        </p:spPr>
        <p:txBody>
          <a:bodyPr wrap="squar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Cao (&gt;80 mmHg) tăng nguy cơ tim mạch và liên quan đến kháng insulin.</a:t>
            </a:r>
            <a:endParaRPr lang="en-US" sz="1300" dirty="0"/>
          </a:p>
        </p:txBody>
      </p:sp>
      <p:sp>
        <p:nvSpPr>
          <p:cNvPr id="21" name="Shape 19"/>
          <p:cNvSpPr/>
          <p:nvPr/>
        </p:nvSpPr>
        <p:spPr>
          <a:xfrm>
            <a:off x="801410" y="4385429"/>
            <a:ext cx="13027581" cy="757476"/>
          </a:xfrm>
          <a:prstGeom prst="rect">
            <a:avLst/>
          </a:prstGeom>
          <a:solidFill>
            <a:srgbClr val="FFFFFF">
              <a:alpha val="4000"/>
            </a:srgbClr>
          </a:solidFill>
          <a:ln/>
        </p:spPr>
      </p:sp>
      <p:sp>
        <p:nvSpPr>
          <p:cNvPr id="22" name="Text 20"/>
          <p:cNvSpPr/>
          <p:nvPr/>
        </p:nvSpPr>
        <p:spPr>
          <a:xfrm>
            <a:off x="970121" y="4494252"/>
            <a:ext cx="2264450"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SkinThickness</a:t>
            </a:r>
            <a:endParaRPr lang="en-US" sz="1300" dirty="0"/>
          </a:p>
        </p:txBody>
      </p:sp>
      <p:sp>
        <p:nvSpPr>
          <p:cNvPr id="23" name="Text 21"/>
          <p:cNvSpPr/>
          <p:nvPr/>
        </p:nvSpPr>
        <p:spPr>
          <a:xfrm>
            <a:off x="3579376" y="4494252"/>
            <a:ext cx="486620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Độ dày nếp gấp da cơ tam đầu (mm)</a:t>
            </a:r>
            <a:endParaRPr lang="en-US" sz="1300" dirty="0"/>
          </a:p>
        </p:txBody>
      </p:sp>
      <p:sp>
        <p:nvSpPr>
          <p:cNvPr id="24" name="Text 22"/>
          <p:cNvSpPr/>
          <p:nvPr/>
        </p:nvSpPr>
        <p:spPr>
          <a:xfrm>
            <a:off x="8790384" y="4494252"/>
            <a:ext cx="4870013" cy="539829"/>
          </a:xfrm>
          <a:prstGeom prst="rect">
            <a:avLst/>
          </a:prstGeom>
          <a:noFill/>
          <a:ln/>
        </p:spPr>
        <p:txBody>
          <a:bodyPr wrap="squar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Đo lường lượng mỡ dưới da, gián tiếp liên quan đến kháng insulin.</a:t>
            </a:r>
            <a:endParaRPr lang="en-US" sz="1300" dirty="0"/>
          </a:p>
        </p:txBody>
      </p:sp>
      <p:sp>
        <p:nvSpPr>
          <p:cNvPr id="25" name="Shape 23"/>
          <p:cNvSpPr/>
          <p:nvPr/>
        </p:nvSpPr>
        <p:spPr>
          <a:xfrm>
            <a:off x="801410" y="5142905"/>
            <a:ext cx="13027581" cy="487561"/>
          </a:xfrm>
          <a:prstGeom prst="rect">
            <a:avLst/>
          </a:prstGeom>
          <a:solidFill>
            <a:srgbClr val="000000">
              <a:alpha val="4000"/>
            </a:srgbClr>
          </a:solidFill>
          <a:ln/>
        </p:spPr>
      </p:sp>
      <p:sp>
        <p:nvSpPr>
          <p:cNvPr id="26" name="Text 24"/>
          <p:cNvSpPr/>
          <p:nvPr/>
        </p:nvSpPr>
        <p:spPr>
          <a:xfrm>
            <a:off x="970121" y="5251728"/>
            <a:ext cx="2264450"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Insulin</a:t>
            </a:r>
            <a:endParaRPr lang="en-US" sz="1300" dirty="0"/>
          </a:p>
        </p:txBody>
      </p:sp>
      <p:sp>
        <p:nvSpPr>
          <p:cNvPr id="27" name="Text 25"/>
          <p:cNvSpPr/>
          <p:nvPr/>
        </p:nvSpPr>
        <p:spPr>
          <a:xfrm>
            <a:off x="3579376" y="5251728"/>
            <a:ext cx="486620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Nồng độ insulin huyết thanh</a:t>
            </a:r>
            <a:endParaRPr lang="en-US" sz="1300" dirty="0"/>
          </a:p>
        </p:txBody>
      </p:sp>
      <p:sp>
        <p:nvSpPr>
          <p:cNvPr id="28" name="Text 26"/>
          <p:cNvSpPr/>
          <p:nvPr/>
        </p:nvSpPr>
        <p:spPr>
          <a:xfrm>
            <a:off x="8790384" y="5251728"/>
            <a:ext cx="487001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Chỉ báo kháng insulin (bình thường &lt;25 μU/mL).</a:t>
            </a:r>
            <a:endParaRPr lang="en-US" sz="1300" dirty="0"/>
          </a:p>
        </p:txBody>
      </p:sp>
      <p:sp>
        <p:nvSpPr>
          <p:cNvPr id="29" name="Shape 27"/>
          <p:cNvSpPr/>
          <p:nvPr/>
        </p:nvSpPr>
        <p:spPr>
          <a:xfrm>
            <a:off x="801410" y="5630466"/>
            <a:ext cx="13027581" cy="487561"/>
          </a:xfrm>
          <a:prstGeom prst="rect">
            <a:avLst/>
          </a:prstGeom>
          <a:solidFill>
            <a:srgbClr val="FFFFFF">
              <a:alpha val="4000"/>
            </a:srgbClr>
          </a:solidFill>
          <a:ln/>
        </p:spPr>
      </p:sp>
      <p:sp>
        <p:nvSpPr>
          <p:cNvPr id="30" name="Text 28"/>
          <p:cNvSpPr/>
          <p:nvPr/>
        </p:nvSpPr>
        <p:spPr>
          <a:xfrm>
            <a:off x="970121" y="5739289"/>
            <a:ext cx="2264450"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BMI</a:t>
            </a:r>
            <a:endParaRPr lang="en-US" sz="1300" dirty="0"/>
          </a:p>
        </p:txBody>
      </p:sp>
      <p:sp>
        <p:nvSpPr>
          <p:cNvPr id="31" name="Text 29"/>
          <p:cNvSpPr/>
          <p:nvPr/>
        </p:nvSpPr>
        <p:spPr>
          <a:xfrm>
            <a:off x="3579376" y="5739289"/>
            <a:ext cx="486620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Chỉ số khối cơ thể</a:t>
            </a:r>
            <a:endParaRPr lang="en-US" sz="1300" dirty="0"/>
          </a:p>
        </p:txBody>
      </p:sp>
      <p:sp>
        <p:nvSpPr>
          <p:cNvPr id="32" name="Text 30"/>
          <p:cNvSpPr/>
          <p:nvPr/>
        </p:nvSpPr>
        <p:spPr>
          <a:xfrm>
            <a:off x="8790384" y="5739289"/>
            <a:ext cx="487001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&gt;30 chỉ béo phì, tăng </a:t>
            </a: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7x</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rủi ro (WHO).</a:t>
            </a:r>
            <a:endParaRPr lang="en-US" sz="1300" dirty="0"/>
          </a:p>
        </p:txBody>
      </p:sp>
      <p:sp>
        <p:nvSpPr>
          <p:cNvPr id="33" name="Shape 31"/>
          <p:cNvSpPr/>
          <p:nvPr/>
        </p:nvSpPr>
        <p:spPr>
          <a:xfrm>
            <a:off x="801410" y="6118027"/>
            <a:ext cx="13027581" cy="487561"/>
          </a:xfrm>
          <a:prstGeom prst="rect">
            <a:avLst/>
          </a:prstGeom>
          <a:solidFill>
            <a:srgbClr val="000000">
              <a:alpha val="4000"/>
            </a:srgbClr>
          </a:solidFill>
          <a:ln/>
        </p:spPr>
      </p:sp>
      <p:sp>
        <p:nvSpPr>
          <p:cNvPr id="34" name="Text 32"/>
          <p:cNvSpPr/>
          <p:nvPr/>
        </p:nvSpPr>
        <p:spPr>
          <a:xfrm>
            <a:off x="970121" y="6226850"/>
            <a:ext cx="2264450"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DPF</a:t>
            </a:r>
            <a:endParaRPr lang="en-US" sz="1300" dirty="0"/>
          </a:p>
        </p:txBody>
      </p:sp>
      <p:sp>
        <p:nvSpPr>
          <p:cNvPr id="35" name="Text 33"/>
          <p:cNvSpPr/>
          <p:nvPr/>
        </p:nvSpPr>
        <p:spPr>
          <a:xfrm>
            <a:off x="3579376" y="6226850"/>
            <a:ext cx="486620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Chỉ số di truyền</a:t>
            </a:r>
            <a:endParaRPr lang="en-US" sz="1300" dirty="0"/>
          </a:p>
        </p:txBody>
      </p:sp>
      <p:sp>
        <p:nvSpPr>
          <p:cNvPr id="36" name="Text 34"/>
          <p:cNvSpPr/>
          <p:nvPr/>
        </p:nvSpPr>
        <p:spPr>
          <a:xfrm>
            <a:off x="8790384" y="6226850"/>
            <a:ext cx="487001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Đo lường lịch sử gia đình (cao &gt;0.5 tăng rủi ro </a:t>
            </a: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3x</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a:t>
            </a:r>
            <a:endParaRPr lang="en-US" sz="1300" dirty="0"/>
          </a:p>
        </p:txBody>
      </p:sp>
      <p:sp>
        <p:nvSpPr>
          <p:cNvPr id="37" name="Shape 35"/>
          <p:cNvSpPr/>
          <p:nvPr/>
        </p:nvSpPr>
        <p:spPr>
          <a:xfrm>
            <a:off x="801410" y="6605588"/>
            <a:ext cx="13027581" cy="487561"/>
          </a:xfrm>
          <a:prstGeom prst="rect">
            <a:avLst/>
          </a:prstGeom>
          <a:solidFill>
            <a:srgbClr val="FFFFFF">
              <a:alpha val="4000"/>
            </a:srgbClr>
          </a:solidFill>
          <a:ln/>
        </p:spPr>
      </p:sp>
      <p:sp>
        <p:nvSpPr>
          <p:cNvPr id="38" name="Text 36"/>
          <p:cNvSpPr/>
          <p:nvPr/>
        </p:nvSpPr>
        <p:spPr>
          <a:xfrm>
            <a:off x="970121" y="6714411"/>
            <a:ext cx="2264450"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Age</a:t>
            </a:r>
            <a:endParaRPr lang="en-US" sz="1300" dirty="0"/>
          </a:p>
        </p:txBody>
      </p:sp>
      <p:sp>
        <p:nvSpPr>
          <p:cNvPr id="39" name="Text 37"/>
          <p:cNvSpPr/>
          <p:nvPr/>
        </p:nvSpPr>
        <p:spPr>
          <a:xfrm>
            <a:off x="3579376" y="6714411"/>
            <a:ext cx="486620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Tuổi</a:t>
            </a:r>
            <a:endParaRPr lang="en-US" sz="1300" dirty="0"/>
          </a:p>
        </p:txBody>
      </p:sp>
      <p:sp>
        <p:nvSpPr>
          <p:cNvPr id="40" name="Text 38"/>
          <p:cNvSpPr/>
          <p:nvPr/>
        </p:nvSpPr>
        <p:spPr>
          <a:xfrm>
            <a:off x="8790384" y="6714411"/>
            <a:ext cx="4870013"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&gt;45 tuổi tăng rủi ro </a:t>
            </a: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2-3x</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(ADA).</a:t>
            </a:r>
            <a:endParaRPr lang="en-US" sz="1300" dirty="0"/>
          </a:p>
        </p:txBody>
      </p:sp>
      <p:sp>
        <p:nvSpPr>
          <p:cNvPr id="41" name="Text 39"/>
          <p:cNvSpPr/>
          <p:nvPr/>
        </p:nvSpPr>
        <p:spPr>
          <a:xfrm>
            <a:off x="793790" y="7290554"/>
            <a:ext cx="13042821"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Thống kê ban đầu cho thấy giá trị trung bình Glucose là </a:t>
            </a: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120.89 mg/dL</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và BMI là </a:t>
            </a: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31.99 kg/m²</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gần ngưỡng nguy cơ cao, phản ánh đặc điểm của quần thể Pima.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05671"/>
            <a:ext cx="3770948" cy="471249"/>
          </a:xfrm>
          <a:prstGeom prst="rect">
            <a:avLst/>
          </a:prstGeom>
          <a:noFill/>
          <a:ln/>
        </p:spPr>
        <p:txBody>
          <a:bodyPr wrap="none" lIns="0" tIns="0" rIns="0" bIns="0" rtlCol="0" anchor="t"/>
          <a:lstStyle/>
          <a:p>
            <a:pPr marL="0" indent="0" algn="l">
              <a:lnSpc>
                <a:spcPts val="3700"/>
              </a:lnSpc>
              <a:buNone/>
            </a:pPr>
            <a:r>
              <a:rPr lang="en-US" sz="2950" b="1" dirty="0">
                <a:solidFill>
                  <a:srgbClr val="1B1B27"/>
                </a:solidFill>
                <a:latin typeface="Times New Roman" panose="02020603050405020304" pitchFamily="18" charset="0"/>
                <a:ea typeface="Raleway" pitchFamily="34" charset="-122"/>
                <a:cs typeface="Times New Roman" panose="02020603050405020304" pitchFamily="18" charset="0"/>
              </a:rPr>
              <a:t>QUY TRÌNH XỬ LÝ</a:t>
            </a:r>
            <a:endParaRPr lang="en-US" sz="2950" dirty="0"/>
          </a:p>
        </p:txBody>
      </p:sp>
      <p:sp>
        <p:nvSpPr>
          <p:cNvPr id="3" name="Text 1"/>
          <p:cNvSpPr/>
          <p:nvPr/>
        </p:nvSpPr>
        <p:spPr>
          <a:xfrm>
            <a:off x="793790" y="1453991"/>
            <a:ext cx="13042821" cy="301704"/>
          </a:xfrm>
          <a:prstGeom prst="rect">
            <a:avLst/>
          </a:prstGeom>
          <a:noFill/>
          <a:ln/>
        </p:spPr>
        <p:txBody>
          <a:bodyPr wrap="none" lIns="0" tIns="0" rIns="0" bIns="0" rtlCol="0" anchor="t"/>
          <a:lstStyle/>
          <a:p>
            <a:pPr marL="0" indent="0" algn="l">
              <a:lnSpc>
                <a:spcPts val="2350"/>
              </a:lnSpc>
              <a:buNone/>
            </a:pPr>
            <a:r>
              <a:rPr lang="en-US" sz="1450" dirty="0">
                <a:solidFill>
                  <a:srgbClr val="3C3939"/>
                </a:solidFill>
                <a:latin typeface="Times New Roman" panose="02020603050405020304" pitchFamily="18" charset="0"/>
                <a:ea typeface="Roboto" pitchFamily="34" charset="-122"/>
                <a:cs typeface="Times New Roman" panose="02020603050405020304" pitchFamily="18" charset="0"/>
              </a:rPr>
              <a:t>Chúng tôi tuân thủ quy trình 5 bước để đảm bảo mô hình dự đoán mạnh mẽ và đáng tin cậy.</a:t>
            </a:r>
            <a:endParaRPr lang="en-US" sz="1450" dirty="0"/>
          </a:p>
        </p:txBody>
      </p:sp>
      <p:pic>
        <p:nvPicPr>
          <p:cNvPr id="4" name="Image 0" descr="preencoded.png"/>
          <p:cNvPicPr>
            <a:picLocks noChangeAspect="1"/>
          </p:cNvPicPr>
          <p:nvPr/>
        </p:nvPicPr>
        <p:blipFill>
          <a:blip r:embed="rId3"/>
          <a:stretch>
            <a:fillRect/>
          </a:stretch>
        </p:blipFill>
        <p:spPr>
          <a:xfrm>
            <a:off x="793790" y="1967746"/>
            <a:ext cx="942737" cy="1131213"/>
          </a:xfrm>
          <a:prstGeom prst="rect">
            <a:avLst/>
          </a:prstGeom>
        </p:spPr>
      </p:pic>
      <p:sp>
        <p:nvSpPr>
          <p:cNvPr id="5" name="Text 2"/>
          <p:cNvSpPr/>
          <p:nvPr/>
        </p:nvSpPr>
        <p:spPr>
          <a:xfrm>
            <a:off x="1925003" y="2156222"/>
            <a:ext cx="2859405"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Times New Roman" panose="02020603050405020304" pitchFamily="18" charset="0"/>
                <a:ea typeface="Raleway" pitchFamily="34" charset="-122"/>
                <a:cs typeface="Times New Roman" panose="02020603050405020304" pitchFamily="18" charset="0"/>
              </a:rPr>
              <a:t>1. Khám Phá Dữ Liệu (EDA)</a:t>
            </a:r>
            <a:endParaRPr lang="en-US" sz="1850" dirty="0"/>
          </a:p>
        </p:txBody>
      </p:sp>
      <p:sp>
        <p:nvSpPr>
          <p:cNvPr id="6" name="Text 3"/>
          <p:cNvSpPr/>
          <p:nvPr/>
        </p:nvSpPr>
        <p:spPr>
          <a:xfrm>
            <a:off x="1925003" y="2564011"/>
            <a:ext cx="11911608" cy="301704"/>
          </a:xfrm>
          <a:prstGeom prst="rect">
            <a:avLst/>
          </a:prstGeom>
          <a:noFill/>
          <a:ln/>
        </p:spPr>
        <p:txBody>
          <a:bodyPr wrap="none" lIns="0" tIns="0" rIns="0" bIns="0" rtlCol="0" anchor="t"/>
          <a:lstStyle/>
          <a:p>
            <a:pPr marL="0" indent="0" algn="l">
              <a:lnSpc>
                <a:spcPts val="2350"/>
              </a:lnSpc>
              <a:buNone/>
            </a:pPr>
            <a:r>
              <a:rPr lang="en-US" sz="1450" dirty="0">
                <a:solidFill>
                  <a:srgbClr val="3C3939"/>
                </a:solidFill>
                <a:latin typeface="Times New Roman" panose="02020603050405020304" pitchFamily="18" charset="0"/>
                <a:ea typeface="Roboto" pitchFamily="34" charset="-122"/>
                <a:cs typeface="Times New Roman" panose="02020603050405020304" pitchFamily="18" charset="0"/>
              </a:rPr>
              <a:t>Phát hiện missing values (zeros), outliers, và phân bố dữ liệu.</a:t>
            </a:r>
            <a:endParaRPr lang="en-US" sz="1450" dirty="0"/>
          </a:p>
        </p:txBody>
      </p:sp>
      <p:pic>
        <p:nvPicPr>
          <p:cNvPr id="7" name="Image 1" descr="preencoded.png"/>
          <p:cNvPicPr>
            <a:picLocks noChangeAspect="1"/>
          </p:cNvPicPr>
          <p:nvPr/>
        </p:nvPicPr>
        <p:blipFill>
          <a:blip r:embed="rId4"/>
          <a:stretch>
            <a:fillRect/>
          </a:stretch>
        </p:blipFill>
        <p:spPr>
          <a:xfrm>
            <a:off x="793790" y="3098959"/>
            <a:ext cx="942737" cy="1131213"/>
          </a:xfrm>
          <a:prstGeom prst="rect">
            <a:avLst/>
          </a:prstGeom>
        </p:spPr>
      </p:pic>
      <p:sp>
        <p:nvSpPr>
          <p:cNvPr id="8" name="Text 4"/>
          <p:cNvSpPr/>
          <p:nvPr/>
        </p:nvSpPr>
        <p:spPr>
          <a:xfrm>
            <a:off x="1925003" y="3287435"/>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Times New Roman" panose="02020603050405020304" pitchFamily="18" charset="0"/>
                <a:ea typeface="Raleway" pitchFamily="34" charset="-122"/>
                <a:cs typeface="Times New Roman" panose="02020603050405020304" pitchFamily="18" charset="0"/>
              </a:rPr>
              <a:t>2. Tiền Xử Lý</a:t>
            </a:r>
            <a:endParaRPr lang="en-US" sz="1850" dirty="0"/>
          </a:p>
        </p:txBody>
      </p:sp>
      <p:sp>
        <p:nvSpPr>
          <p:cNvPr id="9" name="Text 5"/>
          <p:cNvSpPr/>
          <p:nvPr/>
        </p:nvSpPr>
        <p:spPr>
          <a:xfrm>
            <a:off x="1925003" y="3695224"/>
            <a:ext cx="11911608" cy="301704"/>
          </a:xfrm>
          <a:prstGeom prst="rect">
            <a:avLst/>
          </a:prstGeom>
          <a:noFill/>
          <a:ln/>
        </p:spPr>
        <p:txBody>
          <a:bodyPr wrap="none" lIns="0" tIns="0" rIns="0" bIns="0" rtlCol="0" anchor="t"/>
          <a:lstStyle/>
          <a:p>
            <a:pPr marL="0" indent="0" algn="l">
              <a:lnSpc>
                <a:spcPts val="2350"/>
              </a:lnSpc>
              <a:buNone/>
            </a:pPr>
            <a:r>
              <a:rPr lang="en-US" sz="1450" dirty="0">
                <a:solidFill>
                  <a:srgbClr val="3C3939"/>
                </a:solidFill>
                <a:latin typeface="Times New Roman" panose="02020603050405020304" pitchFamily="18" charset="0"/>
                <a:ea typeface="Roboto" pitchFamily="34" charset="-122"/>
                <a:cs typeface="Times New Roman" panose="02020603050405020304" pitchFamily="18" charset="0"/>
              </a:rPr>
              <a:t>Thay thế 0 bằng median (Glucose, BMI, Insulin, v.v.), chuẩn hóa DPF, chia tập 80/20.</a:t>
            </a:r>
            <a:endParaRPr lang="en-US" sz="1450" dirty="0"/>
          </a:p>
        </p:txBody>
      </p:sp>
      <p:pic>
        <p:nvPicPr>
          <p:cNvPr id="10" name="Image 2" descr="preencoded.png"/>
          <p:cNvPicPr>
            <a:picLocks noChangeAspect="1"/>
          </p:cNvPicPr>
          <p:nvPr/>
        </p:nvPicPr>
        <p:blipFill>
          <a:blip r:embed="rId5"/>
          <a:stretch>
            <a:fillRect/>
          </a:stretch>
        </p:blipFill>
        <p:spPr>
          <a:xfrm>
            <a:off x="793790" y="4230172"/>
            <a:ext cx="942737" cy="1131213"/>
          </a:xfrm>
          <a:prstGeom prst="rect">
            <a:avLst/>
          </a:prstGeom>
        </p:spPr>
      </p:pic>
      <p:sp>
        <p:nvSpPr>
          <p:cNvPr id="11" name="Text 6"/>
          <p:cNvSpPr/>
          <p:nvPr/>
        </p:nvSpPr>
        <p:spPr>
          <a:xfrm>
            <a:off x="1925003" y="4418648"/>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Times New Roman" panose="02020603050405020304" pitchFamily="18" charset="0"/>
                <a:ea typeface="Raleway" pitchFamily="34" charset="-122"/>
                <a:cs typeface="Times New Roman" panose="02020603050405020304" pitchFamily="18" charset="0"/>
              </a:rPr>
              <a:t>3. Xây Dựng Mô Hình</a:t>
            </a:r>
            <a:endParaRPr lang="en-US" sz="1850" dirty="0"/>
          </a:p>
        </p:txBody>
      </p:sp>
      <p:sp>
        <p:nvSpPr>
          <p:cNvPr id="12" name="Text 7"/>
          <p:cNvSpPr/>
          <p:nvPr/>
        </p:nvSpPr>
        <p:spPr>
          <a:xfrm>
            <a:off x="1925003" y="4826437"/>
            <a:ext cx="11911608" cy="301704"/>
          </a:xfrm>
          <a:prstGeom prst="rect">
            <a:avLst/>
          </a:prstGeom>
          <a:noFill/>
          <a:ln/>
        </p:spPr>
        <p:txBody>
          <a:bodyPr wrap="none" lIns="0" tIns="0" rIns="0" bIns="0" rtlCol="0" anchor="t"/>
          <a:lstStyle/>
          <a:p>
            <a:pPr marL="0" indent="0" algn="l">
              <a:lnSpc>
                <a:spcPts val="2350"/>
              </a:lnSpc>
              <a:buNone/>
            </a:pPr>
            <a:r>
              <a:rPr lang="en-US" sz="1450" dirty="0">
                <a:solidFill>
                  <a:srgbClr val="3C3939"/>
                </a:solidFill>
                <a:latin typeface="Times New Roman" panose="02020603050405020304" pitchFamily="18" charset="0"/>
                <a:ea typeface="Roboto" pitchFamily="34" charset="-122"/>
                <a:cs typeface="Times New Roman" panose="02020603050405020304" pitchFamily="18" charset="0"/>
              </a:rPr>
              <a:t>Huấn luyện Logistic Regression, Random Forest, và XGBoost.</a:t>
            </a:r>
            <a:endParaRPr lang="en-US" sz="1450" dirty="0"/>
          </a:p>
        </p:txBody>
      </p:sp>
      <p:pic>
        <p:nvPicPr>
          <p:cNvPr id="13" name="Image 3" descr="preencoded.png"/>
          <p:cNvPicPr>
            <a:picLocks noChangeAspect="1"/>
          </p:cNvPicPr>
          <p:nvPr/>
        </p:nvPicPr>
        <p:blipFill>
          <a:blip r:embed="rId6"/>
          <a:stretch>
            <a:fillRect/>
          </a:stretch>
        </p:blipFill>
        <p:spPr>
          <a:xfrm>
            <a:off x="793790" y="5361384"/>
            <a:ext cx="942737" cy="1131213"/>
          </a:xfrm>
          <a:prstGeom prst="rect">
            <a:avLst/>
          </a:prstGeom>
        </p:spPr>
      </p:pic>
      <p:sp>
        <p:nvSpPr>
          <p:cNvPr id="14" name="Text 8"/>
          <p:cNvSpPr/>
          <p:nvPr/>
        </p:nvSpPr>
        <p:spPr>
          <a:xfrm>
            <a:off x="1925003" y="5549860"/>
            <a:ext cx="2356842"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Times New Roman" panose="02020603050405020304" pitchFamily="18" charset="0"/>
                <a:ea typeface="Raleway" pitchFamily="34" charset="-122"/>
                <a:cs typeface="Times New Roman" panose="02020603050405020304" pitchFamily="18" charset="0"/>
              </a:rPr>
              <a:t>4. Đánh Giá</a:t>
            </a:r>
            <a:endParaRPr lang="en-US" sz="1850" dirty="0"/>
          </a:p>
        </p:txBody>
      </p:sp>
      <p:sp>
        <p:nvSpPr>
          <p:cNvPr id="15" name="Text 9"/>
          <p:cNvSpPr/>
          <p:nvPr/>
        </p:nvSpPr>
        <p:spPr>
          <a:xfrm>
            <a:off x="1925003" y="5957649"/>
            <a:ext cx="11911608" cy="301704"/>
          </a:xfrm>
          <a:prstGeom prst="rect">
            <a:avLst/>
          </a:prstGeom>
          <a:noFill/>
          <a:ln/>
        </p:spPr>
        <p:txBody>
          <a:bodyPr wrap="none" lIns="0" tIns="0" rIns="0" bIns="0" rtlCol="0" anchor="t"/>
          <a:lstStyle/>
          <a:p>
            <a:pPr marL="0" indent="0" algn="l">
              <a:lnSpc>
                <a:spcPts val="2350"/>
              </a:lnSpc>
              <a:buNone/>
            </a:pPr>
            <a:r>
              <a:rPr lang="en-US" sz="1450" dirty="0">
                <a:solidFill>
                  <a:srgbClr val="3C3939"/>
                </a:solidFill>
                <a:latin typeface="Times New Roman" panose="02020603050405020304" pitchFamily="18" charset="0"/>
                <a:ea typeface="Roboto" pitchFamily="34" charset="-122"/>
                <a:cs typeface="Times New Roman" panose="02020603050405020304" pitchFamily="18" charset="0"/>
              </a:rPr>
              <a:t>Sử dụng Accuracy, F1, và ROC-AUC (với 5-fold cross-validation).</a:t>
            </a:r>
            <a:endParaRPr lang="en-US" sz="1450" dirty="0"/>
          </a:p>
        </p:txBody>
      </p:sp>
      <p:pic>
        <p:nvPicPr>
          <p:cNvPr id="16" name="Image 4" descr="preencoded.png"/>
          <p:cNvPicPr>
            <a:picLocks noChangeAspect="1"/>
          </p:cNvPicPr>
          <p:nvPr/>
        </p:nvPicPr>
        <p:blipFill>
          <a:blip r:embed="rId7"/>
          <a:stretch>
            <a:fillRect/>
          </a:stretch>
        </p:blipFill>
        <p:spPr>
          <a:xfrm>
            <a:off x="793790" y="6492597"/>
            <a:ext cx="942737" cy="1131213"/>
          </a:xfrm>
          <a:prstGeom prst="rect">
            <a:avLst/>
          </a:prstGeom>
        </p:spPr>
      </p:pic>
      <p:sp>
        <p:nvSpPr>
          <p:cNvPr id="17" name="Text 10"/>
          <p:cNvSpPr/>
          <p:nvPr/>
        </p:nvSpPr>
        <p:spPr>
          <a:xfrm>
            <a:off x="1925003" y="6681073"/>
            <a:ext cx="2777609" cy="294680"/>
          </a:xfrm>
          <a:prstGeom prst="rect">
            <a:avLst/>
          </a:prstGeom>
          <a:noFill/>
          <a:ln/>
        </p:spPr>
        <p:txBody>
          <a:bodyPr wrap="none" lIns="0" tIns="0" rIns="0" bIns="0" rtlCol="0" anchor="t"/>
          <a:lstStyle/>
          <a:p>
            <a:pPr marL="0" indent="0" algn="l">
              <a:lnSpc>
                <a:spcPts val="2300"/>
              </a:lnSpc>
              <a:buNone/>
            </a:pPr>
            <a:r>
              <a:rPr lang="en-US" sz="1850" dirty="0">
                <a:solidFill>
                  <a:srgbClr val="3C3939"/>
                </a:solidFill>
                <a:latin typeface="Times New Roman" panose="02020603050405020304" pitchFamily="18" charset="0"/>
                <a:ea typeface="Raleway" pitchFamily="34" charset="-122"/>
                <a:cs typeface="Times New Roman" panose="02020603050405020304" pitchFamily="18" charset="0"/>
              </a:rPr>
              <a:t>5. Chọn Mô Hình Tốt Nhất</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1647" y="545068"/>
            <a:ext cx="3216235" cy="401955"/>
          </a:xfrm>
          <a:prstGeom prst="rect">
            <a:avLst/>
          </a:prstGeom>
          <a:noFill/>
          <a:ln/>
        </p:spPr>
        <p:txBody>
          <a:bodyPr wrap="none" lIns="0" tIns="0" rIns="0" bIns="0" rtlCol="0" anchor="t"/>
          <a:lstStyle/>
          <a:p>
            <a:pPr marL="0" indent="0" algn="l">
              <a:lnSpc>
                <a:spcPts val="3150"/>
              </a:lnSpc>
              <a:buNone/>
            </a:pPr>
            <a:r>
              <a:rPr lang="en-US" sz="2500" b="1" dirty="0">
                <a:solidFill>
                  <a:srgbClr val="1B1B27"/>
                </a:solidFill>
                <a:latin typeface="Times New Roman" panose="02020603050405020304" pitchFamily="18" charset="0"/>
                <a:ea typeface="Raleway" pitchFamily="34" charset="-122"/>
                <a:cs typeface="Times New Roman" panose="02020603050405020304" pitchFamily="18" charset="0"/>
              </a:rPr>
              <a:t>XỬ LÝ GIÁ TRỊ THIẾU</a:t>
            </a:r>
            <a:endParaRPr lang="en-US" sz="2500" dirty="0"/>
          </a:p>
        </p:txBody>
      </p:sp>
      <p:sp>
        <p:nvSpPr>
          <p:cNvPr id="3" name="Text 1"/>
          <p:cNvSpPr/>
          <p:nvPr/>
        </p:nvSpPr>
        <p:spPr>
          <a:xfrm>
            <a:off x="791647" y="998458"/>
            <a:ext cx="2880479" cy="241221"/>
          </a:xfrm>
          <a:prstGeom prst="rect">
            <a:avLst/>
          </a:prstGeom>
          <a:noFill/>
          <a:ln/>
        </p:spPr>
        <p:txBody>
          <a:bodyPr wrap="none" lIns="0" tIns="0" rIns="0" bIns="0" rtlCol="0" anchor="t"/>
          <a:lstStyle/>
          <a:p>
            <a:pPr marL="0" indent="0" algn="l">
              <a:lnSpc>
                <a:spcPts val="1850"/>
              </a:lnSpc>
              <a:buNone/>
            </a:pPr>
            <a:r>
              <a:rPr lang="en-US" sz="1500" b="1" dirty="0">
                <a:solidFill>
                  <a:srgbClr val="1B1B27"/>
                </a:solidFill>
                <a:latin typeface="Times New Roman" panose="02020603050405020304" pitchFamily="18" charset="0"/>
                <a:ea typeface="Raleway" pitchFamily="34" charset="-122"/>
                <a:cs typeface="Times New Roman" panose="02020603050405020304" pitchFamily="18" charset="0"/>
              </a:rPr>
              <a:t>Thông tin tổng quan về dataset</a:t>
            </a:r>
            <a:endParaRPr lang="en-US" sz="1500" dirty="0"/>
          </a:p>
        </p:txBody>
      </p:sp>
      <p:sp>
        <p:nvSpPr>
          <p:cNvPr id="4" name="Text 2"/>
          <p:cNvSpPr/>
          <p:nvPr/>
        </p:nvSpPr>
        <p:spPr>
          <a:xfrm>
            <a:off x="791647" y="1291114"/>
            <a:ext cx="2134910" cy="200978"/>
          </a:xfrm>
          <a:prstGeom prst="rect">
            <a:avLst/>
          </a:prstGeom>
          <a:noFill/>
          <a:ln/>
        </p:spPr>
        <p:txBody>
          <a:bodyPr wrap="non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Dataset có 768 mẫu và 9 cột.</a:t>
            </a:r>
            <a:endParaRPr lang="en-US" sz="1250" dirty="0"/>
          </a:p>
        </p:txBody>
      </p:sp>
      <p:sp>
        <p:nvSpPr>
          <p:cNvPr id="5" name="Text 3"/>
          <p:cNvSpPr/>
          <p:nvPr/>
        </p:nvSpPr>
        <p:spPr>
          <a:xfrm>
            <a:off x="791647" y="1543526"/>
            <a:ext cx="2768918" cy="200978"/>
          </a:xfrm>
          <a:prstGeom prst="rect">
            <a:avLst/>
          </a:prstGeom>
          <a:noFill/>
          <a:ln/>
        </p:spPr>
        <p:txBody>
          <a:bodyPr wrap="non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Ban đầu không có giá trị NaN rõ ràng.</a:t>
            </a:r>
            <a:endParaRPr lang="en-US" sz="1250" dirty="0"/>
          </a:p>
        </p:txBody>
      </p:sp>
      <p:sp>
        <p:nvSpPr>
          <p:cNvPr id="6" name="Text 4"/>
          <p:cNvSpPr/>
          <p:nvPr/>
        </p:nvSpPr>
        <p:spPr>
          <a:xfrm>
            <a:off x="791647" y="1795939"/>
            <a:ext cx="3484602" cy="200978"/>
          </a:xfrm>
          <a:prstGeom prst="rect">
            <a:avLst/>
          </a:prstGeom>
          <a:noFill/>
          <a:ln/>
        </p:spPr>
        <p:txBody>
          <a:bodyPr wrap="non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Tất cả các cột đều hiển thị 768 non-null values.</a:t>
            </a:r>
            <a:endParaRPr lang="en-US" sz="1250" dirty="0"/>
          </a:p>
        </p:txBody>
      </p:sp>
      <p:sp>
        <p:nvSpPr>
          <p:cNvPr id="7" name="Text 5"/>
          <p:cNvSpPr/>
          <p:nvPr/>
        </p:nvSpPr>
        <p:spPr>
          <a:xfrm>
            <a:off x="791647" y="2048351"/>
            <a:ext cx="2661285" cy="241221"/>
          </a:xfrm>
          <a:prstGeom prst="rect">
            <a:avLst/>
          </a:prstGeom>
          <a:noFill/>
          <a:ln/>
        </p:spPr>
        <p:txBody>
          <a:bodyPr wrap="none" lIns="0" tIns="0" rIns="0" bIns="0" rtlCol="0" anchor="t"/>
          <a:lstStyle/>
          <a:p>
            <a:pPr marL="0" indent="0" algn="l">
              <a:lnSpc>
                <a:spcPts val="1850"/>
              </a:lnSpc>
              <a:buNone/>
            </a:pPr>
            <a:r>
              <a:rPr lang="en-US" sz="1500" b="1" dirty="0">
                <a:solidFill>
                  <a:srgbClr val="1B1B27"/>
                </a:solidFill>
                <a:latin typeface="Times New Roman" panose="02020603050405020304" pitchFamily="18" charset="0"/>
                <a:ea typeface="Raleway" pitchFamily="34" charset="-122"/>
                <a:cs typeface="Times New Roman" panose="02020603050405020304" pitchFamily="18" charset="0"/>
              </a:rPr>
              <a:t>Phân tích giá trị 0 bất thường</a:t>
            </a:r>
            <a:endParaRPr lang="en-US" sz="1500" dirty="0"/>
          </a:p>
        </p:txBody>
      </p:sp>
      <p:sp>
        <p:nvSpPr>
          <p:cNvPr id="8" name="Text 6"/>
          <p:cNvSpPr/>
          <p:nvPr/>
        </p:nvSpPr>
        <p:spPr>
          <a:xfrm>
            <a:off x="791647" y="2482453"/>
            <a:ext cx="13047107"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Nhiều cột chứa giá trị 0, nhưng về mặt y học, chúng không thể là 0 (ví dụ: huyết áp, insulin).</a:t>
            </a:r>
            <a:endParaRPr lang="en-US" sz="1000" dirty="0"/>
          </a:p>
        </p:txBody>
      </p:sp>
      <p:sp>
        <p:nvSpPr>
          <p:cNvPr id="9" name="Shape 7"/>
          <p:cNvSpPr/>
          <p:nvPr/>
        </p:nvSpPr>
        <p:spPr>
          <a:xfrm>
            <a:off x="791647" y="2832973"/>
            <a:ext cx="13047107" cy="2262783"/>
          </a:xfrm>
          <a:prstGeom prst="roundRect">
            <a:avLst>
              <a:gd name="adj" fmla="val 2388"/>
            </a:avLst>
          </a:prstGeom>
          <a:noFill/>
          <a:ln w="7620">
            <a:solidFill>
              <a:srgbClr val="000000">
                <a:alpha val="8000"/>
              </a:srgbClr>
            </a:solidFill>
            <a:prstDash val="solid"/>
          </a:ln>
        </p:spPr>
      </p:sp>
      <p:sp>
        <p:nvSpPr>
          <p:cNvPr id="10" name="Shape 8"/>
          <p:cNvSpPr/>
          <p:nvPr/>
        </p:nvSpPr>
        <p:spPr>
          <a:xfrm>
            <a:off x="799267" y="2840593"/>
            <a:ext cx="13030557" cy="375404"/>
          </a:xfrm>
          <a:prstGeom prst="rect">
            <a:avLst/>
          </a:prstGeom>
          <a:solidFill>
            <a:srgbClr val="FFFFFF">
              <a:alpha val="4000"/>
            </a:srgbClr>
          </a:solidFill>
          <a:ln/>
        </p:spPr>
      </p:sp>
      <p:sp>
        <p:nvSpPr>
          <p:cNvPr id="11" name="Text 9"/>
          <p:cNvSpPr/>
          <p:nvPr/>
        </p:nvSpPr>
        <p:spPr>
          <a:xfrm>
            <a:off x="929283" y="2925366"/>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Đặc Trưng</a:t>
            </a:r>
            <a:endParaRPr lang="en-US" sz="1000" dirty="0"/>
          </a:p>
        </p:txBody>
      </p:sp>
      <p:sp>
        <p:nvSpPr>
          <p:cNvPr id="12" name="Text 10"/>
          <p:cNvSpPr/>
          <p:nvPr/>
        </p:nvSpPr>
        <p:spPr>
          <a:xfrm>
            <a:off x="5276136" y="2925366"/>
            <a:ext cx="407824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Số giá trị 0</a:t>
            </a:r>
            <a:endParaRPr lang="en-US" sz="1000" dirty="0"/>
          </a:p>
        </p:txBody>
      </p:sp>
      <p:sp>
        <p:nvSpPr>
          <p:cNvPr id="13" name="Text 11"/>
          <p:cNvSpPr/>
          <p:nvPr/>
        </p:nvSpPr>
        <p:spPr>
          <a:xfrm>
            <a:off x="9619178" y="2925366"/>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Tỷ lệ (%)</a:t>
            </a:r>
            <a:endParaRPr lang="en-US" sz="1000" dirty="0"/>
          </a:p>
        </p:txBody>
      </p:sp>
      <p:sp>
        <p:nvSpPr>
          <p:cNvPr id="14" name="Shape 12"/>
          <p:cNvSpPr/>
          <p:nvPr/>
        </p:nvSpPr>
        <p:spPr>
          <a:xfrm>
            <a:off x="799267" y="3215997"/>
            <a:ext cx="13030557" cy="375404"/>
          </a:xfrm>
          <a:prstGeom prst="rect">
            <a:avLst/>
          </a:prstGeom>
          <a:solidFill>
            <a:srgbClr val="000000">
              <a:alpha val="4000"/>
            </a:srgbClr>
          </a:solidFill>
          <a:ln/>
        </p:spPr>
      </p:sp>
      <p:sp>
        <p:nvSpPr>
          <p:cNvPr id="15" name="Text 13"/>
          <p:cNvSpPr/>
          <p:nvPr/>
        </p:nvSpPr>
        <p:spPr>
          <a:xfrm>
            <a:off x="929283" y="3300770"/>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Glucose</a:t>
            </a:r>
            <a:endParaRPr lang="en-US" sz="1000" dirty="0"/>
          </a:p>
        </p:txBody>
      </p:sp>
      <p:sp>
        <p:nvSpPr>
          <p:cNvPr id="16" name="Text 14"/>
          <p:cNvSpPr/>
          <p:nvPr/>
        </p:nvSpPr>
        <p:spPr>
          <a:xfrm>
            <a:off x="5276136" y="3300770"/>
            <a:ext cx="407824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5</a:t>
            </a:r>
            <a:endParaRPr lang="en-US" sz="1000" dirty="0"/>
          </a:p>
        </p:txBody>
      </p:sp>
      <p:sp>
        <p:nvSpPr>
          <p:cNvPr id="17" name="Text 15"/>
          <p:cNvSpPr/>
          <p:nvPr/>
        </p:nvSpPr>
        <p:spPr>
          <a:xfrm>
            <a:off x="9619178" y="3300770"/>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0.65%</a:t>
            </a:r>
            <a:endParaRPr lang="en-US" sz="1000" dirty="0"/>
          </a:p>
        </p:txBody>
      </p:sp>
      <p:sp>
        <p:nvSpPr>
          <p:cNvPr id="18" name="Shape 16"/>
          <p:cNvSpPr/>
          <p:nvPr/>
        </p:nvSpPr>
        <p:spPr>
          <a:xfrm>
            <a:off x="799267" y="3591401"/>
            <a:ext cx="13030557" cy="375404"/>
          </a:xfrm>
          <a:prstGeom prst="rect">
            <a:avLst/>
          </a:prstGeom>
          <a:solidFill>
            <a:srgbClr val="FFFFFF">
              <a:alpha val="4000"/>
            </a:srgbClr>
          </a:solidFill>
          <a:ln/>
        </p:spPr>
      </p:sp>
      <p:sp>
        <p:nvSpPr>
          <p:cNvPr id="19" name="Text 17"/>
          <p:cNvSpPr/>
          <p:nvPr/>
        </p:nvSpPr>
        <p:spPr>
          <a:xfrm>
            <a:off x="929283" y="3676174"/>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BloodPressure</a:t>
            </a:r>
            <a:endParaRPr lang="en-US" sz="1000" dirty="0"/>
          </a:p>
        </p:txBody>
      </p:sp>
      <p:sp>
        <p:nvSpPr>
          <p:cNvPr id="20" name="Text 18"/>
          <p:cNvSpPr/>
          <p:nvPr/>
        </p:nvSpPr>
        <p:spPr>
          <a:xfrm>
            <a:off x="5276136" y="3676174"/>
            <a:ext cx="407824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35</a:t>
            </a:r>
            <a:endParaRPr lang="en-US" sz="1000" dirty="0"/>
          </a:p>
        </p:txBody>
      </p:sp>
      <p:sp>
        <p:nvSpPr>
          <p:cNvPr id="21" name="Text 19"/>
          <p:cNvSpPr/>
          <p:nvPr/>
        </p:nvSpPr>
        <p:spPr>
          <a:xfrm>
            <a:off x="9619178" y="3676174"/>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4.56%</a:t>
            </a:r>
            <a:endParaRPr lang="en-US" sz="1000" dirty="0"/>
          </a:p>
        </p:txBody>
      </p:sp>
      <p:sp>
        <p:nvSpPr>
          <p:cNvPr id="22" name="Shape 20"/>
          <p:cNvSpPr/>
          <p:nvPr/>
        </p:nvSpPr>
        <p:spPr>
          <a:xfrm>
            <a:off x="799267" y="3966805"/>
            <a:ext cx="13030557" cy="375404"/>
          </a:xfrm>
          <a:prstGeom prst="rect">
            <a:avLst/>
          </a:prstGeom>
          <a:solidFill>
            <a:srgbClr val="000000">
              <a:alpha val="4000"/>
            </a:srgbClr>
          </a:solidFill>
          <a:ln/>
        </p:spPr>
      </p:sp>
      <p:sp>
        <p:nvSpPr>
          <p:cNvPr id="23" name="Text 21"/>
          <p:cNvSpPr/>
          <p:nvPr/>
        </p:nvSpPr>
        <p:spPr>
          <a:xfrm>
            <a:off x="929283" y="4051578"/>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SkinThickness</a:t>
            </a:r>
            <a:endParaRPr lang="en-US" sz="1000" dirty="0"/>
          </a:p>
        </p:txBody>
      </p:sp>
      <p:sp>
        <p:nvSpPr>
          <p:cNvPr id="24" name="Text 22"/>
          <p:cNvSpPr/>
          <p:nvPr/>
        </p:nvSpPr>
        <p:spPr>
          <a:xfrm>
            <a:off x="5276136" y="4051578"/>
            <a:ext cx="407824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227</a:t>
            </a:r>
            <a:endParaRPr lang="en-US" sz="1000" dirty="0"/>
          </a:p>
        </p:txBody>
      </p:sp>
      <p:sp>
        <p:nvSpPr>
          <p:cNvPr id="25" name="Text 23"/>
          <p:cNvSpPr/>
          <p:nvPr/>
        </p:nvSpPr>
        <p:spPr>
          <a:xfrm>
            <a:off x="9619178" y="4051578"/>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29.56%</a:t>
            </a:r>
            <a:endParaRPr lang="en-US" sz="1000" dirty="0"/>
          </a:p>
        </p:txBody>
      </p:sp>
      <p:sp>
        <p:nvSpPr>
          <p:cNvPr id="26" name="Shape 24"/>
          <p:cNvSpPr/>
          <p:nvPr/>
        </p:nvSpPr>
        <p:spPr>
          <a:xfrm>
            <a:off x="799267" y="4342209"/>
            <a:ext cx="13030557" cy="375404"/>
          </a:xfrm>
          <a:prstGeom prst="rect">
            <a:avLst/>
          </a:prstGeom>
          <a:solidFill>
            <a:srgbClr val="FFFFFF">
              <a:alpha val="4000"/>
            </a:srgbClr>
          </a:solidFill>
          <a:ln/>
        </p:spPr>
      </p:sp>
      <p:sp>
        <p:nvSpPr>
          <p:cNvPr id="27" name="Text 25"/>
          <p:cNvSpPr/>
          <p:nvPr/>
        </p:nvSpPr>
        <p:spPr>
          <a:xfrm>
            <a:off x="929283" y="4426982"/>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Insulin</a:t>
            </a:r>
            <a:endParaRPr lang="en-US" sz="1000" dirty="0"/>
          </a:p>
        </p:txBody>
      </p:sp>
      <p:sp>
        <p:nvSpPr>
          <p:cNvPr id="28" name="Text 26"/>
          <p:cNvSpPr/>
          <p:nvPr/>
        </p:nvSpPr>
        <p:spPr>
          <a:xfrm>
            <a:off x="5276136" y="4426982"/>
            <a:ext cx="407824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374</a:t>
            </a:r>
            <a:endParaRPr lang="en-US" sz="1000" dirty="0"/>
          </a:p>
        </p:txBody>
      </p:sp>
      <p:sp>
        <p:nvSpPr>
          <p:cNvPr id="29" name="Text 27"/>
          <p:cNvSpPr/>
          <p:nvPr/>
        </p:nvSpPr>
        <p:spPr>
          <a:xfrm>
            <a:off x="9619178" y="4426982"/>
            <a:ext cx="4082058" cy="205859"/>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48.70%</a:t>
            </a:r>
            <a:endParaRPr lang="en-US" sz="1000" dirty="0"/>
          </a:p>
        </p:txBody>
      </p:sp>
      <p:sp>
        <p:nvSpPr>
          <p:cNvPr id="30" name="Shape 28"/>
          <p:cNvSpPr/>
          <p:nvPr/>
        </p:nvSpPr>
        <p:spPr>
          <a:xfrm>
            <a:off x="799267" y="4717613"/>
            <a:ext cx="13030557" cy="370523"/>
          </a:xfrm>
          <a:prstGeom prst="rect">
            <a:avLst/>
          </a:prstGeom>
          <a:solidFill>
            <a:srgbClr val="000000">
              <a:alpha val="4000"/>
            </a:srgbClr>
          </a:solidFill>
          <a:ln/>
        </p:spPr>
      </p:sp>
      <p:sp>
        <p:nvSpPr>
          <p:cNvPr id="31" name="Text 29"/>
          <p:cNvSpPr/>
          <p:nvPr/>
        </p:nvSpPr>
        <p:spPr>
          <a:xfrm>
            <a:off x="929283" y="4802386"/>
            <a:ext cx="1608058" cy="200978"/>
          </a:xfrm>
          <a:prstGeom prst="rect">
            <a:avLst/>
          </a:prstGeom>
          <a:noFill/>
          <a:ln/>
        </p:spPr>
        <p:txBody>
          <a:bodyPr wrap="non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BMI</a:t>
            </a:r>
            <a:endParaRPr lang="en-US" sz="1250" dirty="0"/>
          </a:p>
        </p:txBody>
      </p:sp>
      <p:sp>
        <p:nvSpPr>
          <p:cNvPr id="32" name="Text 30"/>
          <p:cNvSpPr/>
          <p:nvPr/>
        </p:nvSpPr>
        <p:spPr>
          <a:xfrm>
            <a:off x="5276136" y="4802386"/>
            <a:ext cx="1608058" cy="200978"/>
          </a:xfrm>
          <a:prstGeom prst="rect">
            <a:avLst/>
          </a:prstGeom>
          <a:noFill/>
          <a:ln/>
        </p:spPr>
        <p:txBody>
          <a:bodyPr wrap="non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11</a:t>
            </a:r>
            <a:endParaRPr lang="en-US" sz="1250" dirty="0"/>
          </a:p>
        </p:txBody>
      </p:sp>
      <p:sp>
        <p:nvSpPr>
          <p:cNvPr id="33" name="Text 31"/>
          <p:cNvSpPr/>
          <p:nvPr/>
        </p:nvSpPr>
        <p:spPr>
          <a:xfrm>
            <a:off x="9619178" y="4802386"/>
            <a:ext cx="1608058" cy="200978"/>
          </a:xfrm>
          <a:prstGeom prst="rect">
            <a:avLst/>
          </a:prstGeom>
          <a:noFill/>
          <a:ln/>
        </p:spPr>
        <p:txBody>
          <a:bodyPr wrap="non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1.43%</a:t>
            </a:r>
            <a:endParaRPr lang="en-US" sz="1250" dirty="0"/>
          </a:p>
        </p:txBody>
      </p:sp>
      <p:sp>
        <p:nvSpPr>
          <p:cNvPr id="34" name="Text 32"/>
          <p:cNvSpPr/>
          <p:nvPr/>
        </p:nvSpPr>
        <p:spPr>
          <a:xfrm>
            <a:off x="791647" y="5288637"/>
            <a:ext cx="1608058" cy="200978"/>
          </a:xfrm>
          <a:prstGeom prst="rect">
            <a:avLst/>
          </a:prstGeom>
          <a:noFill/>
          <a:ln/>
        </p:spPr>
        <p:txBody>
          <a:bodyPr wrap="none" lIns="0" tIns="0" rIns="0" bIns="0" rtlCol="0" anchor="t"/>
          <a:lstStyle/>
          <a:p>
            <a:pPr marL="0" indent="0" algn="l">
              <a:lnSpc>
                <a:spcPts val="1550"/>
              </a:lnSpc>
              <a:buNone/>
            </a:pPr>
            <a:r>
              <a:rPr lang="en-US" sz="1250" b="1" dirty="0">
                <a:solidFill>
                  <a:srgbClr val="1B1B27"/>
                </a:solidFill>
                <a:latin typeface="Times New Roman" panose="02020603050405020304" pitchFamily="18" charset="0"/>
                <a:ea typeface="Raleway" pitchFamily="34" charset="-122"/>
                <a:cs typeface="Times New Roman" panose="02020603050405020304" pitchFamily="18" charset="0"/>
              </a:rPr>
              <a:t>Giải thích y học</a:t>
            </a:r>
            <a:endParaRPr lang="en-US" sz="1250" dirty="0"/>
          </a:p>
        </p:txBody>
      </p:sp>
      <p:sp>
        <p:nvSpPr>
          <p:cNvPr id="35" name="Text 33"/>
          <p:cNvSpPr/>
          <p:nvPr/>
        </p:nvSpPr>
        <p:spPr>
          <a:xfrm>
            <a:off x="791647" y="5682496"/>
            <a:ext cx="1304710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Các giá trị 0 trong các cột trên thực chất là dữ liệu bị thiếu hoặc không được ghi lại, sau đó được mã hóa thành 0.</a:t>
            </a:r>
            <a:endParaRPr lang="en-US" sz="1000" dirty="0"/>
          </a:p>
        </p:txBody>
      </p:sp>
      <p:sp>
        <p:nvSpPr>
          <p:cNvPr id="36" name="Text 34"/>
          <p:cNvSpPr/>
          <p:nvPr/>
        </p:nvSpPr>
        <p:spPr>
          <a:xfrm>
            <a:off x="791647" y="5933361"/>
            <a:ext cx="1304710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Trong y học, các chỉ số như glucose, huyết áp, độ dày da, insulin và BMI không thể bằng 0 ở một người sống.</a:t>
            </a:r>
            <a:endParaRPr lang="en-US" sz="1000" dirty="0"/>
          </a:p>
        </p:txBody>
      </p:sp>
      <p:sp>
        <p:nvSpPr>
          <p:cNvPr id="37" name="Text 35"/>
          <p:cNvSpPr/>
          <p:nvPr/>
        </p:nvSpPr>
        <p:spPr>
          <a:xfrm>
            <a:off x="791647" y="6184225"/>
            <a:ext cx="1304710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Việc xử lý các "giá trị 0 ngụy trang" này bằng phương pháp thay thế (imputation) là rất quan trọng thay vì bỏ qua hoặc xóa bỏ, để bảo toàn thông tin và tính toàn vẹn của dataset.</a:t>
            </a:r>
            <a:endParaRPr lang="en-US" sz="1000" dirty="0"/>
          </a:p>
        </p:txBody>
      </p:sp>
      <p:sp>
        <p:nvSpPr>
          <p:cNvPr id="38" name="Text 36"/>
          <p:cNvSpPr/>
          <p:nvPr/>
        </p:nvSpPr>
        <p:spPr>
          <a:xfrm>
            <a:off x="791647" y="6582966"/>
            <a:ext cx="1608058" cy="200978"/>
          </a:xfrm>
          <a:prstGeom prst="rect">
            <a:avLst/>
          </a:prstGeom>
          <a:noFill/>
          <a:ln/>
        </p:spPr>
        <p:txBody>
          <a:bodyPr wrap="none" lIns="0" tIns="0" rIns="0" bIns="0" rtlCol="0" anchor="t"/>
          <a:lstStyle/>
          <a:p>
            <a:pPr marL="0" indent="0" algn="l">
              <a:lnSpc>
                <a:spcPts val="1550"/>
              </a:lnSpc>
              <a:buNone/>
            </a:pPr>
            <a:r>
              <a:rPr lang="en-US" sz="1250" b="1" dirty="0">
                <a:solidFill>
                  <a:srgbClr val="1B1B27"/>
                </a:solidFill>
                <a:latin typeface="Times New Roman" panose="02020603050405020304" pitchFamily="18" charset="0"/>
                <a:ea typeface="Raleway" pitchFamily="34" charset="-122"/>
                <a:cs typeface="Times New Roman" panose="02020603050405020304" pitchFamily="18" charset="0"/>
              </a:rPr>
              <a:t> Phương pháp xử lý</a:t>
            </a:r>
            <a:endParaRPr lang="en-US" sz="1250" dirty="0"/>
          </a:p>
        </p:txBody>
      </p:sp>
      <p:sp>
        <p:nvSpPr>
          <p:cNvPr id="39" name="Text 37"/>
          <p:cNvSpPr/>
          <p:nvPr/>
        </p:nvSpPr>
        <p:spPr>
          <a:xfrm>
            <a:off x="791647" y="6976824"/>
            <a:ext cx="1304710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Thay thế các giá trị 0 bất thường (trong Glucose, BloodPressure, SkinThickness, Insulin, BMI) bằng giá trị median của từng cột.</a:t>
            </a:r>
            <a:endParaRPr lang="en-US" sz="1000" dirty="0"/>
          </a:p>
        </p:txBody>
      </p:sp>
      <p:sp>
        <p:nvSpPr>
          <p:cNvPr id="40" name="Text 38"/>
          <p:cNvSpPr/>
          <p:nvPr/>
        </p:nvSpPr>
        <p:spPr>
          <a:xfrm>
            <a:off x="791647" y="7227689"/>
            <a:ext cx="1304710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Giữ nguyên các giá trị 0 hợp lý (ví dụ: cột Pregnancies - số lần mang thai).</a:t>
            </a:r>
            <a:endParaRPr lang="en-US" sz="1000" dirty="0"/>
          </a:p>
        </p:txBody>
      </p:sp>
      <p:sp>
        <p:nvSpPr>
          <p:cNvPr id="41" name="Text 39"/>
          <p:cNvSpPr/>
          <p:nvPr/>
        </p:nvSpPr>
        <p:spPr>
          <a:xfrm>
            <a:off x="791647" y="7478554"/>
            <a:ext cx="13047107" cy="205859"/>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Đảm bảo tính toàn vẹn của dữ liệu và cải thiện độ chính xác của mô hình dự đoán.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593050"/>
            <a:ext cx="4510802" cy="421719"/>
          </a:xfrm>
          <a:prstGeom prst="rect">
            <a:avLst/>
          </a:prstGeom>
          <a:noFill/>
          <a:ln/>
        </p:spPr>
        <p:txBody>
          <a:bodyPr wrap="none" lIns="0" tIns="0" rIns="0" bIns="0" rtlCol="0" anchor="t"/>
          <a:lstStyle/>
          <a:p>
            <a:pPr marL="0" indent="0" algn="l">
              <a:lnSpc>
                <a:spcPts val="3300"/>
              </a:lnSpc>
              <a:buNone/>
            </a:pPr>
            <a:r>
              <a:rPr lang="en-US" sz="2650" b="1" dirty="0">
                <a:solidFill>
                  <a:srgbClr val="1B1B27"/>
                </a:solidFill>
                <a:latin typeface="Times New Roman" panose="02020603050405020304" pitchFamily="18" charset="0"/>
                <a:ea typeface="Raleway" pitchFamily="34" charset="-122"/>
                <a:cs typeface="Times New Roman" panose="02020603050405020304" pitchFamily="18" charset="0"/>
              </a:rPr>
              <a:t>PHÁT HIỆN GIÁ TRỊ OUTLIER</a:t>
            </a:r>
            <a:endParaRPr lang="en-US" sz="2650" dirty="0"/>
          </a:p>
        </p:txBody>
      </p:sp>
      <p:sp>
        <p:nvSpPr>
          <p:cNvPr id="3" name="Text 1"/>
          <p:cNvSpPr/>
          <p:nvPr/>
        </p:nvSpPr>
        <p:spPr>
          <a:xfrm>
            <a:off x="793790" y="1352074"/>
            <a:ext cx="13042821"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Những 'dấu hiệu bất thường' trong dữ liệu Pima – từ sinh lý đến 'báo động đỏ' y tế</a:t>
            </a:r>
            <a:endParaRPr lang="en-US" sz="1300" dirty="0"/>
          </a:p>
        </p:txBody>
      </p:sp>
      <p:pic>
        <p:nvPicPr>
          <p:cNvPr id="4" name="Image 0" descr="preencoded.png"/>
          <p:cNvPicPr>
            <a:picLocks noChangeAspect="1"/>
          </p:cNvPicPr>
          <p:nvPr/>
        </p:nvPicPr>
        <p:blipFill>
          <a:blip r:embed="rId3"/>
          <a:stretch>
            <a:fillRect/>
          </a:stretch>
        </p:blipFill>
        <p:spPr>
          <a:xfrm>
            <a:off x="1015246" y="2001560"/>
            <a:ext cx="2509123" cy="1737479"/>
          </a:xfrm>
          <a:prstGeom prst="rect">
            <a:avLst/>
          </a:prstGeom>
        </p:spPr>
      </p:pic>
      <p:sp>
        <p:nvSpPr>
          <p:cNvPr id="5" name="Text 2"/>
          <p:cNvSpPr/>
          <p:nvPr/>
        </p:nvSpPr>
        <p:spPr>
          <a:xfrm>
            <a:off x="793790" y="3928824"/>
            <a:ext cx="2952036" cy="269915"/>
          </a:xfrm>
          <a:prstGeom prst="rect">
            <a:avLst/>
          </a:prstGeom>
          <a:noFill/>
          <a:ln/>
        </p:spPr>
        <p:txBody>
          <a:bodyPr wrap="none" lIns="0" tIns="0" rIns="0" bIns="0" rtlCol="0" anchor="t"/>
          <a:lstStyle/>
          <a:p>
            <a:pPr marL="0" indent="0" algn="l">
              <a:lnSpc>
                <a:spcPts val="2100"/>
              </a:lnSpc>
              <a:buNone/>
            </a:pPr>
            <a:endParaRPr lang="en-US" sz="1300" dirty="0"/>
          </a:p>
        </p:txBody>
      </p:sp>
      <p:pic>
        <p:nvPicPr>
          <p:cNvPr id="6" name="Image 1" descr="preencoded.png"/>
          <p:cNvPicPr>
            <a:picLocks noChangeAspect="1"/>
          </p:cNvPicPr>
          <p:nvPr/>
        </p:nvPicPr>
        <p:blipFill>
          <a:blip r:embed="rId4"/>
          <a:stretch>
            <a:fillRect/>
          </a:stretch>
        </p:blipFill>
        <p:spPr>
          <a:xfrm>
            <a:off x="4164925" y="2001560"/>
            <a:ext cx="2509123" cy="1881783"/>
          </a:xfrm>
          <a:prstGeom prst="rect">
            <a:avLst/>
          </a:prstGeom>
        </p:spPr>
      </p:pic>
      <p:sp>
        <p:nvSpPr>
          <p:cNvPr id="7" name="Text 3"/>
          <p:cNvSpPr/>
          <p:nvPr/>
        </p:nvSpPr>
        <p:spPr>
          <a:xfrm>
            <a:off x="4164925" y="4073128"/>
            <a:ext cx="2952036" cy="269915"/>
          </a:xfrm>
          <a:prstGeom prst="rect">
            <a:avLst/>
          </a:prstGeom>
          <a:noFill/>
          <a:ln/>
        </p:spPr>
        <p:txBody>
          <a:bodyPr wrap="none" lIns="0" tIns="0" rIns="0" bIns="0" rtlCol="0" anchor="t"/>
          <a:lstStyle/>
          <a:p>
            <a:pPr marL="0" indent="0" algn="l">
              <a:lnSpc>
                <a:spcPts val="2100"/>
              </a:lnSpc>
              <a:buNone/>
            </a:pPr>
            <a:endParaRPr lang="en-US" sz="1300" dirty="0"/>
          </a:p>
        </p:txBody>
      </p:sp>
      <p:pic>
        <p:nvPicPr>
          <p:cNvPr id="8" name="Image 2" descr="preencoded.png"/>
          <p:cNvPicPr>
            <a:picLocks noChangeAspect="1"/>
          </p:cNvPicPr>
          <p:nvPr/>
        </p:nvPicPr>
        <p:blipFill>
          <a:blip r:embed="rId5"/>
          <a:stretch>
            <a:fillRect/>
          </a:stretch>
        </p:blipFill>
        <p:spPr>
          <a:xfrm>
            <a:off x="7536061" y="2001560"/>
            <a:ext cx="2509123" cy="1938933"/>
          </a:xfrm>
          <a:prstGeom prst="rect">
            <a:avLst/>
          </a:prstGeom>
        </p:spPr>
      </p:pic>
      <p:sp>
        <p:nvSpPr>
          <p:cNvPr id="9" name="Text 4"/>
          <p:cNvSpPr/>
          <p:nvPr/>
        </p:nvSpPr>
        <p:spPr>
          <a:xfrm>
            <a:off x="7536061" y="4130278"/>
            <a:ext cx="2952036" cy="269915"/>
          </a:xfrm>
          <a:prstGeom prst="rect">
            <a:avLst/>
          </a:prstGeom>
          <a:noFill/>
          <a:ln/>
        </p:spPr>
        <p:txBody>
          <a:bodyPr wrap="none" lIns="0" tIns="0" rIns="0" bIns="0" rtlCol="0" anchor="t"/>
          <a:lstStyle/>
          <a:p>
            <a:pPr marL="0" indent="0" algn="l">
              <a:lnSpc>
                <a:spcPts val="2100"/>
              </a:lnSpc>
              <a:buNone/>
            </a:pPr>
            <a:endParaRPr lang="en-US" sz="1300" dirty="0"/>
          </a:p>
        </p:txBody>
      </p:sp>
      <p:pic>
        <p:nvPicPr>
          <p:cNvPr id="10" name="Image 3" descr="preencoded.png"/>
          <p:cNvPicPr>
            <a:picLocks noChangeAspect="1"/>
          </p:cNvPicPr>
          <p:nvPr/>
        </p:nvPicPr>
        <p:blipFill>
          <a:blip r:embed="rId6"/>
          <a:stretch>
            <a:fillRect/>
          </a:stretch>
        </p:blipFill>
        <p:spPr>
          <a:xfrm>
            <a:off x="10907197" y="2001560"/>
            <a:ext cx="2509123" cy="1860233"/>
          </a:xfrm>
          <a:prstGeom prst="rect">
            <a:avLst/>
          </a:prstGeom>
        </p:spPr>
      </p:pic>
      <p:sp>
        <p:nvSpPr>
          <p:cNvPr id="11" name="Text 5"/>
          <p:cNvSpPr/>
          <p:nvPr/>
        </p:nvSpPr>
        <p:spPr>
          <a:xfrm>
            <a:off x="10907197" y="4051578"/>
            <a:ext cx="2952036" cy="269915"/>
          </a:xfrm>
          <a:prstGeom prst="rect">
            <a:avLst/>
          </a:prstGeom>
          <a:noFill/>
          <a:ln/>
        </p:spPr>
        <p:txBody>
          <a:bodyPr wrap="none" lIns="0" tIns="0" rIns="0" bIns="0" rtlCol="0" anchor="t"/>
          <a:lstStyle/>
          <a:p>
            <a:pPr marL="0" indent="0" algn="l">
              <a:lnSpc>
                <a:spcPts val="2100"/>
              </a:lnSpc>
              <a:buNone/>
            </a:pPr>
            <a:endParaRPr lang="en-US" sz="1300" dirty="0"/>
          </a:p>
        </p:txBody>
      </p:sp>
      <p:sp>
        <p:nvSpPr>
          <p:cNvPr id="12" name="Text 6"/>
          <p:cNvSpPr/>
          <p:nvPr/>
        </p:nvSpPr>
        <p:spPr>
          <a:xfrm>
            <a:off x="793790" y="4805005"/>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1B1B27"/>
                </a:solidFill>
                <a:latin typeface="Times New Roman" panose="02020603050405020304" pitchFamily="18" charset="0"/>
                <a:ea typeface="Raleway" pitchFamily="34" charset="-122"/>
                <a:cs typeface="Times New Roman" panose="02020603050405020304" pitchFamily="18" charset="0"/>
              </a:rPr>
              <a:t>Insights Từ Boxplots:</a:t>
            </a:r>
            <a:endParaRPr lang="en-US" sz="1650" dirty="0"/>
          </a:p>
        </p:txBody>
      </p:sp>
      <p:sp>
        <p:nvSpPr>
          <p:cNvPr id="13" name="Text 7"/>
          <p:cNvSpPr/>
          <p:nvPr/>
        </p:nvSpPr>
        <p:spPr>
          <a:xfrm>
            <a:off x="793790" y="5321498"/>
            <a:ext cx="13042821" cy="269915"/>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Phát hiện chung về skewness (độ xiên) và zeros ẩn náu</a:t>
            </a:r>
            <a:endParaRPr lang="en-US" sz="1300" dirty="0"/>
          </a:p>
        </p:txBody>
      </p:sp>
      <p:sp>
        <p:nvSpPr>
          <p:cNvPr id="14" name="Text 8"/>
          <p:cNvSpPr/>
          <p:nvPr/>
        </p:nvSpPr>
        <p:spPr>
          <a:xfrm>
            <a:off x="793790" y="5650349"/>
            <a:ext cx="13042821"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Pregnancies</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Các giá trị ngoại lệ (&gt;13) là hợp lý trong dân số Pima do đặc điểm sinh lý.</a:t>
            </a:r>
            <a:endParaRPr lang="en-US" sz="1300" dirty="0"/>
          </a:p>
        </p:txBody>
      </p:sp>
      <p:sp>
        <p:nvSpPr>
          <p:cNvPr id="15" name="Text 9"/>
          <p:cNvSpPr/>
          <p:nvPr/>
        </p:nvSpPr>
        <p:spPr>
          <a:xfrm>
            <a:off x="793790" y="5979200"/>
            <a:ext cx="13042821"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Glucose</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5 giá trị 0 là bất khả thi về mặt sinh lý, cần xử lý như dữ liệu thiếu.</a:t>
            </a:r>
            <a:endParaRPr lang="en-US" sz="1300" dirty="0"/>
          </a:p>
        </p:txBody>
      </p:sp>
      <p:sp>
        <p:nvSpPr>
          <p:cNvPr id="16" name="Text 10"/>
          <p:cNvSpPr/>
          <p:nvPr/>
        </p:nvSpPr>
        <p:spPr>
          <a:xfrm>
            <a:off x="793790" y="6308050"/>
            <a:ext cx="13042821"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BloodPressure</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35 giá trị 0 cho thấy lỗi đo lường hoặc dữ liệu thiếu không sinh lý.</a:t>
            </a:r>
            <a:endParaRPr lang="en-US" sz="1300" dirty="0"/>
          </a:p>
        </p:txBody>
      </p:sp>
      <p:sp>
        <p:nvSpPr>
          <p:cNvPr id="17" name="Text 11"/>
          <p:cNvSpPr/>
          <p:nvPr/>
        </p:nvSpPr>
        <p:spPr>
          <a:xfrm>
            <a:off x="793790" y="6636901"/>
            <a:ext cx="13042821" cy="269915"/>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SkinThickness</a:t>
            </a: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 227 giá trị 0 và các giá trị cao bất thường cần được xem xét kỹ lưỡng.</a:t>
            </a:r>
            <a:endParaRPr lang="en-US" sz="1300" dirty="0"/>
          </a:p>
        </p:txBody>
      </p:sp>
      <p:sp>
        <p:nvSpPr>
          <p:cNvPr id="18" name="Text 12"/>
          <p:cNvSpPr/>
          <p:nvPr/>
        </p:nvSpPr>
        <p:spPr>
          <a:xfrm>
            <a:off x="793790" y="7096601"/>
            <a:ext cx="13042821" cy="539829"/>
          </a:xfrm>
          <a:prstGeom prst="rect">
            <a:avLst/>
          </a:prstGeom>
          <a:noFill/>
          <a:ln/>
        </p:spPr>
        <p:txBody>
          <a:bodyPr wrap="squar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Việc trực quan hóa dữ liệu qua Boxplots giúp chúng ta nhanh chóng nhận diện các giá trị bất thường, từ đó đưa ra quyết định xử lý dữ liệu hợp lý, đảm bảo tính toàn vẹn và độ tin cậy cho mô hình dự đoán tiểu đường.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98790"/>
            <a:ext cx="4644628" cy="434102"/>
          </a:xfrm>
          <a:prstGeom prst="rect">
            <a:avLst/>
          </a:prstGeom>
          <a:noFill/>
          <a:ln/>
        </p:spPr>
        <p:txBody>
          <a:bodyPr wrap="none" lIns="0" tIns="0" rIns="0" bIns="0" rtlCol="0" anchor="t"/>
          <a:lstStyle/>
          <a:p>
            <a:pPr marL="0" indent="0" algn="l">
              <a:lnSpc>
                <a:spcPts val="3400"/>
              </a:lnSpc>
              <a:buNone/>
            </a:pPr>
            <a:r>
              <a:rPr lang="en-US" sz="2700" b="1" dirty="0">
                <a:solidFill>
                  <a:srgbClr val="1B1B27"/>
                </a:solidFill>
                <a:latin typeface="Times New Roman" panose="02020603050405020304" pitchFamily="18" charset="0"/>
                <a:ea typeface="Raleway" pitchFamily="34" charset="-122"/>
                <a:cs typeface="Times New Roman" panose="02020603050405020304" pitchFamily="18" charset="0"/>
              </a:rPr>
              <a:t>PHÁT HIỆN GIÁ TRỊ OUTLIER</a:t>
            </a:r>
            <a:endParaRPr lang="en-US" sz="2700" dirty="0"/>
          </a:p>
        </p:txBody>
      </p:sp>
      <p:pic>
        <p:nvPicPr>
          <p:cNvPr id="3" name="Image 0" descr="preencoded.png"/>
          <p:cNvPicPr>
            <a:picLocks noChangeAspect="1"/>
          </p:cNvPicPr>
          <p:nvPr/>
        </p:nvPicPr>
        <p:blipFill>
          <a:blip r:embed="rId3"/>
          <a:stretch>
            <a:fillRect/>
          </a:stretch>
        </p:blipFill>
        <p:spPr>
          <a:xfrm>
            <a:off x="1244798" y="1597462"/>
            <a:ext cx="2104549" cy="1479947"/>
          </a:xfrm>
          <a:prstGeom prst="rect">
            <a:avLst/>
          </a:prstGeom>
        </p:spPr>
      </p:pic>
      <p:sp>
        <p:nvSpPr>
          <p:cNvPr id="4" name="Text 1"/>
          <p:cNvSpPr/>
          <p:nvPr/>
        </p:nvSpPr>
        <p:spPr>
          <a:xfrm>
            <a:off x="793790" y="3233618"/>
            <a:ext cx="3006566" cy="222290"/>
          </a:xfrm>
          <a:prstGeom prst="rect">
            <a:avLst/>
          </a:prstGeom>
          <a:noFill/>
          <a:ln/>
        </p:spPr>
        <p:txBody>
          <a:bodyPr wrap="none" lIns="0" tIns="0" rIns="0" bIns="0" rtlCol="0" anchor="t"/>
          <a:lstStyle/>
          <a:p>
            <a:pPr marL="0" indent="0" algn="ctr">
              <a:lnSpc>
                <a:spcPts val="1750"/>
              </a:lnSpc>
              <a:buNone/>
            </a:pPr>
            <a:r>
              <a:rPr lang="en-US" sz="1050" dirty="0">
                <a:solidFill>
                  <a:srgbClr val="3C3939"/>
                </a:solidFill>
                <a:latin typeface="Times New Roman" panose="02020603050405020304" pitchFamily="18" charset="0"/>
                <a:ea typeface="Roboto" pitchFamily="34" charset="-122"/>
                <a:cs typeface="Times New Roman" panose="02020603050405020304" pitchFamily="18" charset="0"/>
              </a:rPr>
              <a:t>Insulin</a:t>
            </a:r>
            <a:endParaRPr lang="en-US" sz="1050" dirty="0"/>
          </a:p>
        </p:txBody>
      </p:sp>
      <p:pic>
        <p:nvPicPr>
          <p:cNvPr id="5" name="Image 1" descr="preencoded.png"/>
          <p:cNvPicPr>
            <a:picLocks noChangeAspect="1"/>
          </p:cNvPicPr>
          <p:nvPr/>
        </p:nvPicPr>
        <p:blipFill>
          <a:blip r:embed="rId4"/>
          <a:stretch>
            <a:fillRect/>
          </a:stretch>
        </p:blipFill>
        <p:spPr>
          <a:xfrm>
            <a:off x="4597837" y="1597462"/>
            <a:ext cx="2104549" cy="1609011"/>
          </a:xfrm>
          <a:prstGeom prst="rect">
            <a:avLst/>
          </a:prstGeom>
        </p:spPr>
      </p:pic>
      <p:sp>
        <p:nvSpPr>
          <p:cNvPr id="6" name="Text 2"/>
          <p:cNvSpPr/>
          <p:nvPr/>
        </p:nvSpPr>
        <p:spPr>
          <a:xfrm>
            <a:off x="4146828" y="3362682"/>
            <a:ext cx="3006566" cy="222290"/>
          </a:xfrm>
          <a:prstGeom prst="rect">
            <a:avLst/>
          </a:prstGeom>
          <a:noFill/>
          <a:ln/>
        </p:spPr>
        <p:txBody>
          <a:bodyPr wrap="none" lIns="0" tIns="0" rIns="0" bIns="0" rtlCol="0" anchor="t"/>
          <a:lstStyle/>
          <a:p>
            <a:pPr marL="0" indent="0" algn="ctr">
              <a:lnSpc>
                <a:spcPts val="1750"/>
              </a:lnSpc>
              <a:buNone/>
            </a:pPr>
            <a:r>
              <a:rPr lang="en-US" sz="1050" dirty="0">
                <a:solidFill>
                  <a:srgbClr val="3C3939"/>
                </a:solidFill>
                <a:latin typeface="Times New Roman" panose="02020603050405020304" pitchFamily="18" charset="0"/>
                <a:ea typeface="Roboto" pitchFamily="34" charset="-122"/>
                <a:cs typeface="Times New Roman" panose="02020603050405020304" pitchFamily="18" charset="0"/>
              </a:rPr>
              <a:t>BMI</a:t>
            </a:r>
            <a:endParaRPr lang="en-US" sz="1050" dirty="0"/>
          </a:p>
        </p:txBody>
      </p:sp>
      <p:pic>
        <p:nvPicPr>
          <p:cNvPr id="7" name="Image 2" descr="preencoded.png"/>
          <p:cNvPicPr>
            <a:picLocks noChangeAspect="1"/>
          </p:cNvPicPr>
          <p:nvPr/>
        </p:nvPicPr>
        <p:blipFill>
          <a:blip r:embed="rId5"/>
          <a:stretch>
            <a:fillRect/>
          </a:stretch>
        </p:blipFill>
        <p:spPr>
          <a:xfrm>
            <a:off x="7950875" y="1597462"/>
            <a:ext cx="2104549" cy="1523643"/>
          </a:xfrm>
          <a:prstGeom prst="rect">
            <a:avLst/>
          </a:prstGeom>
        </p:spPr>
      </p:pic>
      <p:sp>
        <p:nvSpPr>
          <p:cNvPr id="8" name="Text 3"/>
          <p:cNvSpPr/>
          <p:nvPr/>
        </p:nvSpPr>
        <p:spPr>
          <a:xfrm>
            <a:off x="7499866" y="3277314"/>
            <a:ext cx="3006566" cy="222290"/>
          </a:xfrm>
          <a:prstGeom prst="rect">
            <a:avLst/>
          </a:prstGeom>
          <a:noFill/>
          <a:ln/>
        </p:spPr>
        <p:txBody>
          <a:bodyPr wrap="none" lIns="0" tIns="0" rIns="0" bIns="0" rtlCol="0" anchor="t"/>
          <a:lstStyle/>
          <a:p>
            <a:pPr marL="0" indent="0" algn="ctr">
              <a:lnSpc>
                <a:spcPts val="1750"/>
              </a:lnSpc>
              <a:buNone/>
            </a:pPr>
            <a:r>
              <a:rPr lang="en-US" sz="1050" dirty="0">
                <a:solidFill>
                  <a:srgbClr val="3C3939"/>
                </a:solidFill>
                <a:latin typeface="Times New Roman" panose="02020603050405020304" pitchFamily="18" charset="0"/>
                <a:ea typeface="Roboto" pitchFamily="34" charset="-122"/>
                <a:cs typeface="Times New Roman" panose="02020603050405020304" pitchFamily="18" charset="0"/>
              </a:rPr>
              <a:t>DPF</a:t>
            </a:r>
            <a:endParaRPr lang="en-US" sz="1050" dirty="0"/>
          </a:p>
        </p:txBody>
      </p:sp>
      <p:pic>
        <p:nvPicPr>
          <p:cNvPr id="9" name="Image 3" descr="preencoded.png"/>
          <p:cNvPicPr>
            <a:picLocks noChangeAspect="1"/>
          </p:cNvPicPr>
          <p:nvPr/>
        </p:nvPicPr>
        <p:blipFill>
          <a:blip r:embed="rId6"/>
          <a:stretch>
            <a:fillRect/>
          </a:stretch>
        </p:blipFill>
        <p:spPr>
          <a:xfrm>
            <a:off x="11303913" y="1597462"/>
            <a:ext cx="2104549" cy="1573887"/>
          </a:xfrm>
          <a:prstGeom prst="rect">
            <a:avLst/>
          </a:prstGeom>
        </p:spPr>
      </p:pic>
      <p:sp>
        <p:nvSpPr>
          <p:cNvPr id="10" name="Text 4"/>
          <p:cNvSpPr/>
          <p:nvPr/>
        </p:nvSpPr>
        <p:spPr>
          <a:xfrm>
            <a:off x="10852904" y="3327559"/>
            <a:ext cx="3006566" cy="222290"/>
          </a:xfrm>
          <a:prstGeom prst="rect">
            <a:avLst/>
          </a:prstGeom>
          <a:noFill/>
          <a:ln/>
        </p:spPr>
        <p:txBody>
          <a:bodyPr wrap="none" lIns="0" tIns="0" rIns="0" bIns="0" rtlCol="0" anchor="t"/>
          <a:lstStyle/>
          <a:p>
            <a:pPr marL="0" indent="0" algn="ctr">
              <a:lnSpc>
                <a:spcPts val="1750"/>
              </a:lnSpc>
              <a:buNone/>
            </a:pPr>
            <a:r>
              <a:rPr lang="en-US" sz="1050" dirty="0">
                <a:solidFill>
                  <a:srgbClr val="3C3939"/>
                </a:solidFill>
                <a:latin typeface="Times New Roman" panose="02020603050405020304" pitchFamily="18" charset="0"/>
                <a:ea typeface="Roboto" pitchFamily="34" charset="-122"/>
                <a:cs typeface="Times New Roman" panose="02020603050405020304" pitchFamily="18" charset="0"/>
              </a:rPr>
              <a:t>Age</a:t>
            </a:r>
            <a:endParaRPr lang="en-US" sz="1050" dirty="0"/>
          </a:p>
        </p:txBody>
      </p:sp>
      <p:sp>
        <p:nvSpPr>
          <p:cNvPr id="11" name="Shape 5"/>
          <p:cNvSpPr/>
          <p:nvPr/>
        </p:nvSpPr>
        <p:spPr>
          <a:xfrm>
            <a:off x="793790" y="3866198"/>
            <a:ext cx="13042821" cy="3564612"/>
          </a:xfrm>
          <a:prstGeom prst="roundRect">
            <a:avLst>
              <a:gd name="adj" fmla="val 1637"/>
            </a:avLst>
          </a:prstGeom>
          <a:noFill/>
          <a:ln w="7620">
            <a:solidFill>
              <a:srgbClr val="000000">
                <a:alpha val="8000"/>
              </a:srgbClr>
            </a:solidFill>
            <a:prstDash val="solid"/>
          </a:ln>
        </p:spPr>
      </p:sp>
      <p:sp>
        <p:nvSpPr>
          <p:cNvPr id="12" name="Shape 6"/>
          <p:cNvSpPr/>
          <p:nvPr/>
        </p:nvSpPr>
        <p:spPr>
          <a:xfrm>
            <a:off x="801410" y="3873818"/>
            <a:ext cx="13027581" cy="1050131"/>
          </a:xfrm>
          <a:prstGeom prst="rect">
            <a:avLst/>
          </a:prstGeom>
          <a:solidFill>
            <a:srgbClr val="FFFFFF">
              <a:alpha val="4000"/>
            </a:srgbClr>
          </a:solidFill>
          <a:ln/>
        </p:spPr>
      </p:sp>
      <p:sp>
        <p:nvSpPr>
          <p:cNvPr id="13" name="Text 7"/>
          <p:cNvSpPr/>
          <p:nvPr/>
        </p:nvSpPr>
        <p:spPr>
          <a:xfrm>
            <a:off x="940594" y="3964781"/>
            <a:ext cx="1672590" cy="217051"/>
          </a:xfrm>
          <a:prstGeom prst="rect">
            <a:avLst/>
          </a:prstGeom>
          <a:noFill/>
          <a:ln/>
        </p:spPr>
        <p:txBody>
          <a:bodyPr wrap="non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Insulin</a:t>
            </a:r>
            <a:endParaRPr lang="en-US" sz="1350" dirty="0"/>
          </a:p>
        </p:txBody>
      </p:sp>
      <p:sp>
        <p:nvSpPr>
          <p:cNvPr id="14" name="Text 8"/>
          <p:cNvSpPr/>
          <p:nvPr/>
        </p:nvSpPr>
        <p:spPr>
          <a:xfrm>
            <a:off x="2898458" y="3964781"/>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Rất nhiều giá trị cao</a:t>
            </a:r>
            <a:endParaRPr lang="en-US" sz="1350" dirty="0"/>
          </a:p>
        </p:txBody>
      </p:sp>
      <p:sp>
        <p:nvSpPr>
          <p:cNvPr id="15" name="Text 9"/>
          <p:cNvSpPr/>
          <p:nvPr/>
        </p:nvSpPr>
        <p:spPr>
          <a:xfrm>
            <a:off x="5503902" y="3964781"/>
            <a:ext cx="2971562" cy="434102"/>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Phản ánh đáp ứng insulin thực tế, có người rất nhạy cảm/kháng insulin.</a:t>
            </a:r>
            <a:endParaRPr lang="en-US" sz="1350" dirty="0"/>
          </a:p>
        </p:txBody>
      </p:sp>
      <p:sp>
        <p:nvSpPr>
          <p:cNvPr id="16" name="Text 10"/>
          <p:cNvSpPr/>
          <p:nvPr/>
        </p:nvSpPr>
        <p:spPr>
          <a:xfrm>
            <a:off x="8760738" y="3964781"/>
            <a:ext cx="2971562" cy="651153"/>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Impute median cho 0, IQR scaling. Phân phối cân bằng hơn, vẫn giữ thông tin.</a:t>
            </a:r>
            <a:endParaRPr lang="en-US" sz="1350" dirty="0"/>
          </a:p>
        </p:txBody>
      </p:sp>
      <p:sp>
        <p:nvSpPr>
          <p:cNvPr id="17" name="Text 11"/>
          <p:cNvSpPr/>
          <p:nvPr/>
        </p:nvSpPr>
        <p:spPr>
          <a:xfrm>
            <a:off x="12017573" y="3964781"/>
            <a:ext cx="1672590" cy="868204"/>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Chỉ số quan trọng trong bệnh lý tiểu đường, cần được giữ lại.</a:t>
            </a:r>
            <a:endParaRPr lang="en-US" sz="1350" dirty="0"/>
          </a:p>
        </p:txBody>
      </p:sp>
      <p:sp>
        <p:nvSpPr>
          <p:cNvPr id="18" name="Shape 12"/>
          <p:cNvSpPr/>
          <p:nvPr/>
        </p:nvSpPr>
        <p:spPr>
          <a:xfrm>
            <a:off x="801410" y="4923949"/>
            <a:ext cx="13027581" cy="833080"/>
          </a:xfrm>
          <a:prstGeom prst="rect">
            <a:avLst/>
          </a:prstGeom>
          <a:solidFill>
            <a:srgbClr val="000000">
              <a:alpha val="4000"/>
            </a:srgbClr>
          </a:solidFill>
          <a:ln/>
        </p:spPr>
      </p:sp>
      <p:sp>
        <p:nvSpPr>
          <p:cNvPr id="19" name="Text 13"/>
          <p:cNvSpPr/>
          <p:nvPr/>
        </p:nvSpPr>
        <p:spPr>
          <a:xfrm>
            <a:off x="940594" y="5014913"/>
            <a:ext cx="1672590" cy="217051"/>
          </a:xfrm>
          <a:prstGeom prst="rect">
            <a:avLst/>
          </a:prstGeom>
          <a:noFill/>
          <a:ln/>
        </p:spPr>
        <p:txBody>
          <a:bodyPr wrap="non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BMI</a:t>
            </a:r>
            <a:endParaRPr lang="en-US" sz="1350" dirty="0"/>
          </a:p>
        </p:txBody>
      </p:sp>
      <p:sp>
        <p:nvSpPr>
          <p:cNvPr id="20" name="Text 14"/>
          <p:cNvSpPr/>
          <p:nvPr/>
        </p:nvSpPr>
        <p:spPr>
          <a:xfrm>
            <a:off x="2898458" y="5014913"/>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&gt;50</a:t>
            </a:r>
            <a:endParaRPr lang="en-US" sz="1350" dirty="0"/>
          </a:p>
        </p:txBody>
      </p:sp>
      <p:sp>
        <p:nvSpPr>
          <p:cNvPr id="21" name="Text 15"/>
          <p:cNvSpPr/>
          <p:nvPr/>
        </p:nvSpPr>
        <p:spPr>
          <a:xfrm>
            <a:off x="5503902" y="5014913"/>
            <a:ext cx="2971562" cy="434102"/>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Béo phì cực độ, có thể xảy ra trong thực tế.</a:t>
            </a:r>
            <a:endParaRPr lang="en-US" sz="1350" dirty="0"/>
          </a:p>
        </p:txBody>
      </p:sp>
      <p:sp>
        <p:nvSpPr>
          <p:cNvPr id="22" name="Text 16"/>
          <p:cNvSpPr/>
          <p:nvPr/>
        </p:nvSpPr>
        <p:spPr>
          <a:xfrm>
            <a:off x="8760738" y="5014913"/>
            <a:ext cx="2971562" cy="651153"/>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Impute median cho 0, IQR scaling. Phân phối lệch phải nhẹ nhưng được kiểm soát.</a:t>
            </a:r>
            <a:endParaRPr lang="en-US" sz="1350" dirty="0"/>
          </a:p>
        </p:txBody>
      </p:sp>
      <p:sp>
        <p:nvSpPr>
          <p:cNvPr id="23" name="Text 17"/>
          <p:cNvSpPr/>
          <p:nvPr/>
        </p:nvSpPr>
        <p:spPr>
          <a:xfrm>
            <a:off x="12017573" y="5014913"/>
            <a:ext cx="1672590" cy="651153"/>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Nguy cơ cao mắc tiểu đường và các bệnh liên quan.</a:t>
            </a:r>
            <a:endParaRPr lang="en-US" sz="1350" dirty="0"/>
          </a:p>
        </p:txBody>
      </p:sp>
      <p:sp>
        <p:nvSpPr>
          <p:cNvPr id="24" name="Shape 18"/>
          <p:cNvSpPr/>
          <p:nvPr/>
        </p:nvSpPr>
        <p:spPr>
          <a:xfrm>
            <a:off x="801410" y="5757029"/>
            <a:ext cx="13027581" cy="833080"/>
          </a:xfrm>
          <a:prstGeom prst="rect">
            <a:avLst/>
          </a:prstGeom>
          <a:solidFill>
            <a:srgbClr val="FFFFFF">
              <a:alpha val="4000"/>
            </a:srgbClr>
          </a:solidFill>
          <a:ln/>
        </p:spPr>
      </p:sp>
      <p:sp>
        <p:nvSpPr>
          <p:cNvPr id="25" name="Text 19"/>
          <p:cNvSpPr/>
          <p:nvPr/>
        </p:nvSpPr>
        <p:spPr>
          <a:xfrm>
            <a:off x="940594" y="5847993"/>
            <a:ext cx="1672590" cy="217051"/>
          </a:xfrm>
          <a:prstGeom prst="rect">
            <a:avLst/>
          </a:prstGeom>
          <a:noFill/>
          <a:ln/>
        </p:spPr>
        <p:txBody>
          <a:bodyPr wrap="non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DPF</a:t>
            </a:r>
            <a:endParaRPr lang="en-US" sz="1350" dirty="0"/>
          </a:p>
        </p:txBody>
      </p:sp>
      <p:sp>
        <p:nvSpPr>
          <p:cNvPr id="26" name="Text 20"/>
          <p:cNvSpPr/>
          <p:nvPr/>
        </p:nvSpPr>
        <p:spPr>
          <a:xfrm>
            <a:off x="2898458" y="5847993"/>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&gt;1.5</a:t>
            </a:r>
            <a:endParaRPr lang="en-US" sz="1350" dirty="0"/>
          </a:p>
        </p:txBody>
      </p:sp>
      <p:sp>
        <p:nvSpPr>
          <p:cNvPr id="27" name="Text 21"/>
          <p:cNvSpPr/>
          <p:nvPr/>
        </p:nvSpPr>
        <p:spPr>
          <a:xfrm>
            <a:off x="5503902" y="5847993"/>
            <a:ext cx="2971562" cy="434102"/>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Yếu tố di truyền mạnh mẽ, phản ánh tiền sử gia đình.</a:t>
            </a:r>
            <a:endParaRPr lang="en-US" sz="1350" dirty="0"/>
          </a:p>
        </p:txBody>
      </p:sp>
      <p:sp>
        <p:nvSpPr>
          <p:cNvPr id="28" name="Text 22"/>
          <p:cNvSpPr/>
          <p:nvPr/>
        </p:nvSpPr>
        <p:spPr>
          <a:xfrm>
            <a:off x="8760738" y="5847993"/>
            <a:ext cx="2971562" cy="434102"/>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Không có giá trị 0, IQR scaling. Giảm skewness, duy trì tính tương quan.</a:t>
            </a:r>
            <a:endParaRPr lang="en-US" sz="1350" dirty="0"/>
          </a:p>
        </p:txBody>
      </p:sp>
      <p:sp>
        <p:nvSpPr>
          <p:cNvPr id="29" name="Text 23"/>
          <p:cNvSpPr/>
          <p:nvPr/>
        </p:nvSpPr>
        <p:spPr>
          <a:xfrm>
            <a:off x="12017573" y="5847993"/>
            <a:ext cx="1672590" cy="651153"/>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Yếu tố dự báo nguy cơ di truyền quan trọng.</a:t>
            </a:r>
            <a:endParaRPr lang="en-US" sz="1350" dirty="0"/>
          </a:p>
        </p:txBody>
      </p:sp>
      <p:sp>
        <p:nvSpPr>
          <p:cNvPr id="30" name="Shape 24"/>
          <p:cNvSpPr/>
          <p:nvPr/>
        </p:nvSpPr>
        <p:spPr>
          <a:xfrm>
            <a:off x="801410" y="6590109"/>
            <a:ext cx="13027581" cy="833080"/>
          </a:xfrm>
          <a:prstGeom prst="rect">
            <a:avLst/>
          </a:prstGeom>
          <a:solidFill>
            <a:srgbClr val="000000">
              <a:alpha val="4000"/>
            </a:srgbClr>
          </a:solidFill>
          <a:ln/>
        </p:spPr>
      </p:sp>
      <p:sp>
        <p:nvSpPr>
          <p:cNvPr id="31" name="Text 25"/>
          <p:cNvSpPr/>
          <p:nvPr/>
        </p:nvSpPr>
        <p:spPr>
          <a:xfrm>
            <a:off x="940594" y="6681073"/>
            <a:ext cx="1672590" cy="217051"/>
          </a:xfrm>
          <a:prstGeom prst="rect">
            <a:avLst/>
          </a:prstGeom>
          <a:noFill/>
          <a:ln/>
        </p:spPr>
        <p:txBody>
          <a:bodyPr wrap="non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Age</a:t>
            </a:r>
            <a:endParaRPr lang="en-US" sz="1350" dirty="0"/>
          </a:p>
        </p:txBody>
      </p:sp>
      <p:sp>
        <p:nvSpPr>
          <p:cNvPr id="32" name="Text 26"/>
          <p:cNvSpPr/>
          <p:nvPr/>
        </p:nvSpPr>
        <p:spPr>
          <a:xfrm>
            <a:off x="2898458" y="6681073"/>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&gt;60</a:t>
            </a:r>
            <a:endParaRPr lang="en-US" sz="1350" dirty="0"/>
          </a:p>
        </p:txBody>
      </p:sp>
      <p:sp>
        <p:nvSpPr>
          <p:cNvPr id="33" name="Text 27"/>
          <p:cNvSpPr/>
          <p:nvPr/>
        </p:nvSpPr>
        <p:spPr>
          <a:xfrm>
            <a:off x="5503902" y="6681073"/>
            <a:ext cx="2971562" cy="434102"/>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Tuổi thọ tự nhiên, có người Pima sống lâu hơn.</a:t>
            </a:r>
            <a:endParaRPr lang="en-US" sz="1350" dirty="0"/>
          </a:p>
        </p:txBody>
      </p:sp>
      <p:sp>
        <p:nvSpPr>
          <p:cNvPr id="34" name="Text 28"/>
          <p:cNvSpPr/>
          <p:nvPr/>
        </p:nvSpPr>
        <p:spPr>
          <a:xfrm>
            <a:off x="8760738" y="6681073"/>
            <a:ext cx="2971562" cy="434102"/>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Không có giá trị 0, IQR scaling. Giữ nguyên cấu trúc dữ liệu tuổi.</a:t>
            </a:r>
            <a:endParaRPr lang="en-US" sz="1350" dirty="0"/>
          </a:p>
        </p:txBody>
      </p:sp>
      <p:sp>
        <p:nvSpPr>
          <p:cNvPr id="35" name="Text 29"/>
          <p:cNvSpPr/>
          <p:nvPr/>
        </p:nvSpPr>
        <p:spPr>
          <a:xfrm>
            <a:off x="12017573" y="6681073"/>
            <a:ext cx="1672590" cy="651153"/>
          </a:xfrm>
          <a:prstGeom prst="rect">
            <a:avLst/>
          </a:prstGeom>
          <a:noFill/>
          <a:ln/>
        </p:spPr>
        <p:txBody>
          <a:bodyPr wrap="square" lIns="0" tIns="0" rIns="0" bIns="0" rtlCol="0" anchor="t"/>
          <a:lstStyle/>
          <a:p>
            <a:pPr marL="0" indent="0" algn="l">
              <a:lnSpc>
                <a:spcPts val="1700"/>
              </a:lnSpc>
              <a:buNone/>
            </a:pPr>
            <a:r>
              <a:rPr lang="en-US" sz="1350" dirty="0">
                <a:solidFill>
                  <a:srgbClr val="1B1B27"/>
                </a:solidFill>
                <a:latin typeface="Times New Roman" panose="02020603050405020304" pitchFamily="18" charset="0"/>
                <a:ea typeface="Raleway" pitchFamily="34" charset="-122"/>
                <a:cs typeface="Times New Roman" panose="02020603050405020304" pitchFamily="18" charset="0"/>
              </a:rPr>
              <a:t>Tuổi cao tăng nguy cơ mắc nhiều bệnh, bao gồm tiểu đường.</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91753"/>
            <a:ext cx="6352580" cy="446603"/>
          </a:xfrm>
          <a:prstGeom prst="rect">
            <a:avLst/>
          </a:prstGeom>
          <a:noFill/>
          <a:ln/>
        </p:spPr>
        <p:txBody>
          <a:bodyPr wrap="none" lIns="0" tIns="0" rIns="0" bIns="0" rtlCol="0" anchor="t"/>
          <a:lstStyle/>
          <a:p>
            <a:pPr marL="0" indent="0" algn="l">
              <a:lnSpc>
                <a:spcPts val="3500"/>
              </a:lnSpc>
              <a:buNone/>
            </a:pPr>
            <a:r>
              <a:rPr lang="en-US" sz="2800" b="1" dirty="0">
                <a:solidFill>
                  <a:srgbClr val="1B1B27"/>
                </a:solidFill>
                <a:latin typeface="Times New Roman" panose="02020603050405020304" pitchFamily="18" charset="0"/>
                <a:ea typeface="Raleway" pitchFamily="34" charset="-122"/>
                <a:cs typeface="Times New Roman" panose="02020603050405020304" pitchFamily="18" charset="0"/>
              </a:rPr>
              <a:t>PHÂN TÍCH DỮ LIỆU KHÁM PHÁ (EDA)</a:t>
            </a:r>
            <a:endParaRPr lang="en-US" sz="2800" dirty="0"/>
          </a:p>
        </p:txBody>
      </p:sp>
      <p:sp>
        <p:nvSpPr>
          <p:cNvPr id="3" name="Text 1"/>
          <p:cNvSpPr/>
          <p:nvPr/>
        </p:nvSpPr>
        <p:spPr>
          <a:xfrm>
            <a:off x="793790" y="1495544"/>
            <a:ext cx="13042821" cy="285750"/>
          </a:xfrm>
          <a:prstGeom prst="rect">
            <a:avLst/>
          </a:prstGeom>
          <a:noFill/>
          <a:ln/>
        </p:spPr>
        <p:txBody>
          <a:bodyPr wrap="none" lIns="0" tIns="0" rIns="0" bIns="0" rtlCol="0" anchor="t"/>
          <a:lstStyle/>
          <a:p>
            <a:pPr marL="0" indent="0" algn="l">
              <a:lnSpc>
                <a:spcPts val="2250"/>
              </a:lnSpc>
              <a:buNone/>
            </a:pPr>
            <a:r>
              <a:rPr lang="en-US" sz="1400" dirty="0">
                <a:solidFill>
                  <a:srgbClr val="3C3939"/>
                </a:solidFill>
                <a:latin typeface="Times New Roman" panose="02020603050405020304" pitchFamily="18" charset="0"/>
                <a:ea typeface="Roboto" pitchFamily="34" charset="-122"/>
                <a:cs typeface="Times New Roman" panose="02020603050405020304" pitchFamily="18" charset="0"/>
              </a:rPr>
              <a:t>Glucose và BMI là hai yếu tố dự đoán mạnh nhất. Phân tích theo bins cho thấy mối quan hệ rõ ràng giữa mức độ tăng của hai chỉ số này và nguy cơ mắc bệnh.</a:t>
            </a:r>
            <a:endParaRPr lang="en-US" sz="1400" dirty="0"/>
          </a:p>
        </p:txBody>
      </p:sp>
      <p:sp>
        <p:nvSpPr>
          <p:cNvPr id="4" name="Text 2"/>
          <p:cNvSpPr/>
          <p:nvPr/>
        </p:nvSpPr>
        <p:spPr>
          <a:xfrm>
            <a:off x="793790" y="2160746"/>
            <a:ext cx="3704034" cy="278963"/>
          </a:xfrm>
          <a:prstGeom prst="rect">
            <a:avLst/>
          </a:prstGeom>
          <a:noFill/>
          <a:ln/>
        </p:spPr>
        <p:txBody>
          <a:bodyPr wrap="none" lIns="0" tIns="0" rIns="0" bIns="0" rtlCol="0" anchor="t"/>
          <a:lstStyle/>
          <a:p>
            <a:pPr marL="0" indent="0" algn="l">
              <a:lnSpc>
                <a:spcPts val="2150"/>
              </a:lnSpc>
              <a:buNone/>
            </a:pPr>
            <a:r>
              <a:rPr lang="en-US" sz="1750" dirty="0">
                <a:solidFill>
                  <a:srgbClr val="1B1B27"/>
                </a:solidFill>
                <a:latin typeface="Times New Roman" panose="02020603050405020304" pitchFamily="18" charset="0"/>
                <a:ea typeface="Raleway" pitchFamily="34" charset="-122"/>
                <a:cs typeface="Times New Roman" panose="02020603050405020304" pitchFamily="18" charset="0"/>
              </a:rPr>
              <a:t>1. Glucose (Nồng độ Glucose Huyết)</a:t>
            </a:r>
            <a:endParaRPr lang="en-US" sz="1750" dirty="0"/>
          </a:p>
        </p:txBody>
      </p:sp>
      <p:sp>
        <p:nvSpPr>
          <p:cNvPr id="5" name="Text 3"/>
          <p:cNvSpPr/>
          <p:nvPr/>
        </p:nvSpPr>
        <p:spPr>
          <a:xfrm>
            <a:off x="793790" y="2618303"/>
            <a:ext cx="6303526" cy="571500"/>
          </a:xfrm>
          <a:prstGeom prst="rect">
            <a:avLst/>
          </a:prstGeom>
          <a:noFill/>
          <a:ln/>
        </p:spPr>
        <p:txBody>
          <a:bodyPr wrap="square" lIns="0" tIns="0" rIns="0" bIns="0" rtlCol="0" anchor="t"/>
          <a:lstStyle/>
          <a:p>
            <a:pPr marL="0" indent="0" algn="l">
              <a:lnSpc>
                <a:spcPts val="2250"/>
              </a:lnSpc>
              <a:buNone/>
            </a:pPr>
            <a:r>
              <a:rPr lang="en-US" sz="1400" dirty="0">
                <a:solidFill>
                  <a:srgbClr val="3C3939"/>
                </a:solidFill>
                <a:latin typeface="Times New Roman" panose="02020603050405020304" pitchFamily="18" charset="0"/>
                <a:ea typeface="Roboto" pitchFamily="34" charset="-122"/>
                <a:cs typeface="Times New Roman" panose="02020603050405020304" pitchFamily="18" charset="0"/>
              </a:rPr>
              <a:t>Tỷ lệ mắc bệnh tiểu đường tăng vọt khi nồng độ Glucose vượt ngưỡng </a:t>
            </a:r>
            <a:r>
              <a:rPr lang="en-US" sz="1400" b="1" dirty="0">
                <a:solidFill>
                  <a:srgbClr val="3C3939"/>
                </a:solidFill>
                <a:latin typeface="Times New Roman" panose="02020603050405020304" pitchFamily="18" charset="0"/>
                <a:ea typeface="Roboto" pitchFamily="34" charset="-122"/>
                <a:cs typeface="Times New Roman" panose="02020603050405020304" pitchFamily="18" charset="0"/>
              </a:rPr>
              <a:t>126 mg/dL</a:t>
            </a:r>
            <a:r>
              <a:rPr lang="en-US" sz="1400" dirty="0">
                <a:solidFill>
                  <a:srgbClr val="3C3939"/>
                </a:solidFill>
                <a:latin typeface="Times New Roman" panose="02020603050405020304" pitchFamily="18" charset="0"/>
                <a:ea typeface="Roboto" pitchFamily="34" charset="-122"/>
                <a:cs typeface="Times New Roman" panose="02020603050405020304" pitchFamily="18" charset="0"/>
              </a:rPr>
              <a:t>. Ở khoảng </a:t>
            </a:r>
            <a:r>
              <a:rPr lang="en-US" sz="1400" b="1" dirty="0">
                <a:solidFill>
                  <a:srgbClr val="3C3939"/>
                </a:solidFill>
                <a:latin typeface="Times New Roman" panose="02020603050405020304" pitchFamily="18" charset="0"/>
                <a:ea typeface="Roboto" pitchFamily="34" charset="-122"/>
                <a:cs typeface="Times New Roman" panose="02020603050405020304" pitchFamily="18" charset="0"/>
              </a:rPr>
              <a:t>&gt;150 mg/dL</a:t>
            </a:r>
            <a:r>
              <a:rPr lang="en-US" sz="1400" dirty="0">
                <a:solidFill>
                  <a:srgbClr val="3C3939"/>
                </a:solidFill>
                <a:latin typeface="Times New Roman" panose="02020603050405020304" pitchFamily="18" charset="0"/>
                <a:ea typeface="Roboto" pitchFamily="34" charset="-122"/>
                <a:cs typeface="Times New Roman" panose="02020603050405020304" pitchFamily="18" charset="0"/>
              </a:rPr>
              <a:t>, tỷ lệ mắc bệnh là 75% (105/140).</a:t>
            </a:r>
            <a:endParaRPr lang="en-US" sz="1400" dirty="0"/>
          </a:p>
        </p:txBody>
      </p:sp>
      <p:pic>
        <p:nvPicPr>
          <p:cNvPr id="6" name="Image 0" descr="preencoded.png"/>
          <p:cNvPicPr>
            <a:picLocks noChangeAspect="1"/>
          </p:cNvPicPr>
          <p:nvPr/>
        </p:nvPicPr>
        <p:blipFill>
          <a:blip r:embed="rId3"/>
          <a:stretch>
            <a:fillRect/>
          </a:stretch>
        </p:blipFill>
        <p:spPr>
          <a:xfrm>
            <a:off x="793790" y="3390662"/>
            <a:ext cx="5673090" cy="3200400"/>
          </a:xfrm>
          <a:prstGeom prst="rect">
            <a:avLst/>
          </a:prstGeom>
        </p:spPr>
      </p:pic>
      <p:sp>
        <p:nvSpPr>
          <p:cNvPr id="7" name="Text 4"/>
          <p:cNvSpPr/>
          <p:nvPr/>
        </p:nvSpPr>
        <p:spPr>
          <a:xfrm>
            <a:off x="7540704" y="2160746"/>
            <a:ext cx="2720221" cy="278963"/>
          </a:xfrm>
          <a:prstGeom prst="rect">
            <a:avLst/>
          </a:prstGeom>
          <a:noFill/>
          <a:ln/>
        </p:spPr>
        <p:txBody>
          <a:bodyPr wrap="none" lIns="0" tIns="0" rIns="0" bIns="0" rtlCol="0" anchor="t"/>
          <a:lstStyle/>
          <a:p>
            <a:pPr marL="0" indent="0" algn="l">
              <a:lnSpc>
                <a:spcPts val="2150"/>
              </a:lnSpc>
              <a:buNone/>
            </a:pPr>
            <a:r>
              <a:rPr lang="en-US" sz="1750" dirty="0">
                <a:solidFill>
                  <a:srgbClr val="1B1B27"/>
                </a:solidFill>
                <a:latin typeface="Times New Roman" panose="02020603050405020304" pitchFamily="18" charset="0"/>
                <a:ea typeface="Raleway" pitchFamily="34" charset="-122"/>
                <a:cs typeface="Times New Roman" panose="02020603050405020304" pitchFamily="18" charset="0"/>
              </a:rPr>
              <a:t>2. BMI (Chỉ số Khối Cơ Thể)</a:t>
            </a:r>
            <a:endParaRPr lang="en-US" sz="1750" dirty="0"/>
          </a:p>
        </p:txBody>
      </p:sp>
      <p:sp>
        <p:nvSpPr>
          <p:cNvPr id="8" name="Text 5"/>
          <p:cNvSpPr/>
          <p:nvPr/>
        </p:nvSpPr>
        <p:spPr>
          <a:xfrm>
            <a:off x="7540704" y="2618303"/>
            <a:ext cx="6303526" cy="857250"/>
          </a:xfrm>
          <a:prstGeom prst="rect">
            <a:avLst/>
          </a:prstGeom>
          <a:noFill/>
          <a:ln/>
        </p:spPr>
        <p:txBody>
          <a:bodyPr wrap="square" lIns="0" tIns="0" rIns="0" bIns="0" rtlCol="0" anchor="t"/>
          <a:lstStyle/>
          <a:p>
            <a:pPr marL="0" indent="0" algn="l">
              <a:lnSpc>
                <a:spcPts val="2250"/>
              </a:lnSpc>
              <a:buNone/>
            </a:pPr>
            <a:r>
              <a:rPr lang="en-US" sz="1400" dirty="0">
                <a:solidFill>
                  <a:srgbClr val="3C3939"/>
                </a:solidFill>
                <a:latin typeface="Times New Roman" panose="02020603050405020304" pitchFamily="18" charset="0"/>
                <a:ea typeface="Roboto" pitchFamily="34" charset="-122"/>
                <a:cs typeface="Times New Roman" panose="02020603050405020304" pitchFamily="18" charset="0"/>
              </a:rPr>
              <a:t>Béo phì là "sát thủ thầm lặng". Tỷ lệ mắc bệnh tăng rõ rệt ở khoảng </a:t>
            </a:r>
            <a:r>
              <a:rPr lang="en-US" sz="1400" b="1" dirty="0">
                <a:solidFill>
                  <a:srgbClr val="3C3939"/>
                </a:solidFill>
                <a:latin typeface="Times New Roman" panose="02020603050405020304" pitchFamily="18" charset="0"/>
                <a:ea typeface="Roboto" pitchFamily="34" charset="-122"/>
                <a:cs typeface="Times New Roman" panose="02020603050405020304" pitchFamily="18" charset="0"/>
              </a:rPr>
              <a:t>35-45 kg/m²</a:t>
            </a:r>
            <a:r>
              <a:rPr lang="en-US" sz="1400" dirty="0">
                <a:solidFill>
                  <a:srgbClr val="3C3939"/>
                </a:solidFill>
                <a:latin typeface="Times New Roman" panose="02020603050405020304" pitchFamily="18" charset="0"/>
                <a:ea typeface="Roboto" pitchFamily="34" charset="-122"/>
                <a:cs typeface="Times New Roman" panose="02020603050405020304" pitchFamily="18" charset="0"/>
              </a:rPr>
              <a:t> và đạt đỉnh </a:t>
            </a:r>
            <a:r>
              <a:rPr lang="en-US" sz="1400" b="1" dirty="0">
                <a:solidFill>
                  <a:srgbClr val="3C3939"/>
                </a:solidFill>
                <a:latin typeface="Times New Roman" panose="02020603050405020304" pitchFamily="18" charset="0"/>
                <a:ea typeface="Roboto" pitchFamily="34" charset="-122"/>
                <a:cs typeface="Times New Roman" panose="02020603050405020304" pitchFamily="18" charset="0"/>
              </a:rPr>
              <a:t>63%</a:t>
            </a:r>
            <a:r>
              <a:rPr lang="en-US" sz="1400" dirty="0">
                <a:solidFill>
                  <a:srgbClr val="3C3939"/>
                </a:solidFill>
                <a:latin typeface="Times New Roman" panose="02020603050405020304" pitchFamily="18" charset="0"/>
                <a:ea typeface="Roboto" pitchFamily="34" charset="-122"/>
                <a:cs typeface="Times New Roman" panose="02020603050405020304" pitchFamily="18" charset="0"/>
              </a:rPr>
              <a:t> ở nhóm </a:t>
            </a:r>
            <a:r>
              <a:rPr lang="en-US" sz="1400" b="1" dirty="0">
                <a:solidFill>
                  <a:srgbClr val="3C3939"/>
                </a:solidFill>
                <a:latin typeface="Times New Roman" panose="02020603050405020304" pitchFamily="18" charset="0"/>
                <a:ea typeface="Roboto" pitchFamily="34" charset="-122"/>
                <a:cs typeface="Times New Roman" panose="02020603050405020304" pitchFamily="18" charset="0"/>
              </a:rPr>
              <a:t>&gt;45 kg/m²</a:t>
            </a:r>
            <a:r>
              <a:rPr lang="en-US" sz="1400" dirty="0">
                <a:solidFill>
                  <a:srgbClr val="3C3939"/>
                </a:solidFill>
                <a:latin typeface="Times New Roman" panose="02020603050405020304" pitchFamily="18" charset="0"/>
                <a:ea typeface="Roboto" pitchFamily="34" charset="-122"/>
                <a:cs typeface="Times New Roman" panose="02020603050405020304" pitchFamily="18" charset="0"/>
              </a:rPr>
              <a:t>. Nhóm BMI bình thường (0-25) chỉ có 6% mắc bệnh.</a:t>
            </a:r>
            <a:endParaRPr lang="en-US" sz="1400" dirty="0"/>
          </a:p>
        </p:txBody>
      </p:sp>
      <p:pic>
        <p:nvPicPr>
          <p:cNvPr id="9" name="Image 1" descr="preencoded.png"/>
          <p:cNvPicPr>
            <a:picLocks noChangeAspect="1"/>
          </p:cNvPicPr>
          <p:nvPr/>
        </p:nvPicPr>
        <p:blipFill>
          <a:blip r:embed="rId4"/>
          <a:stretch>
            <a:fillRect/>
          </a:stretch>
        </p:blipFill>
        <p:spPr>
          <a:xfrm>
            <a:off x="7540704" y="3390662"/>
            <a:ext cx="5673090" cy="3173849"/>
          </a:xfrm>
          <a:prstGeom prst="rect">
            <a:avLst/>
          </a:prstGeom>
        </p:spPr>
      </p:pic>
      <p:sp>
        <p:nvSpPr>
          <p:cNvPr id="10" name="Text 6"/>
          <p:cNvSpPr/>
          <p:nvPr/>
        </p:nvSpPr>
        <p:spPr>
          <a:xfrm>
            <a:off x="793790" y="7251978"/>
            <a:ext cx="13042821" cy="285750"/>
          </a:xfrm>
          <a:prstGeom prst="rect">
            <a:avLst/>
          </a:prstGeom>
          <a:noFill/>
          <a:ln/>
        </p:spPr>
        <p:txBody>
          <a:bodyPr wrap="none" lIns="0" tIns="0" rIns="0" bIns="0" rtlCol="0" anchor="t"/>
          <a:lstStyle/>
          <a:p>
            <a:pPr marL="0" indent="0" algn="l">
              <a:lnSpc>
                <a:spcPts val="2250"/>
              </a:lnSpc>
              <a:buNone/>
            </a:pPr>
            <a:r>
              <a:rPr lang="en-US" sz="1400" dirty="0">
                <a:solidFill>
                  <a:srgbClr val="3C3939"/>
                </a:solidFill>
                <a:latin typeface="Times New Roman" panose="02020603050405020304" pitchFamily="18" charset="0"/>
                <a:ea typeface="Roboto" pitchFamily="34" charset="-122"/>
                <a:cs typeface="Times New Roman" panose="02020603050405020304" pitchFamily="18" charset="0"/>
              </a:rPr>
              <a:t>Những xu hướng này phù hợp với y học, khẳng định Glucose và BMI là các yếu tố chính của tiểu đường.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589717"/>
            <a:ext cx="7321510" cy="421719"/>
          </a:xfrm>
          <a:prstGeom prst="rect">
            <a:avLst/>
          </a:prstGeom>
          <a:noFill/>
          <a:ln/>
        </p:spPr>
        <p:txBody>
          <a:bodyPr wrap="none" lIns="0" tIns="0" rIns="0" bIns="0" rtlCol="0" anchor="t"/>
          <a:lstStyle/>
          <a:p>
            <a:pPr marL="0" indent="0" algn="l">
              <a:lnSpc>
                <a:spcPts val="3300"/>
              </a:lnSpc>
              <a:buNone/>
            </a:pPr>
            <a:r>
              <a:rPr lang="en-US" sz="2650" b="1" dirty="0">
                <a:solidFill>
                  <a:srgbClr val="1B1B27"/>
                </a:solidFill>
                <a:latin typeface="Times New Roman" panose="02020603050405020304" pitchFamily="18" charset="0"/>
                <a:ea typeface="Raleway" pitchFamily="34" charset="-122"/>
                <a:cs typeface="Times New Roman" panose="02020603050405020304" pitchFamily="18" charset="0"/>
              </a:rPr>
              <a:t>ẢNH HƯỞNG CỦA AGE, DPF VÀ PREGNANCIES</a:t>
            </a:r>
            <a:endParaRPr lang="en-US" sz="2650" dirty="0"/>
          </a:p>
        </p:txBody>
      </p:sp>
      <p:sp>
        <p:nvSpPr>
          <p:cNvPr id="3" name="Text 1"/>
          <p:cNvSpPr/>
          <p:nvPr/>
        </p:nvSpPr>
        <p:spPr>
          <a:xfrm>
            <a:off x="793790" y="1078825"/>
            <a:ext cx="11938278" cy="263485"/>
          </a:xfrm>
          <a:prstGeom prst="rect">
            <a:avLst/>
          </a:prstGeom>
          <a:noFill/>
          <a:ln/>
        </p:spPr>
        <p:txBody>
          <a:bodyPr wrap="none" lIns="0" tIns="0" rIns="0" bIns="0" rtlCol="0" anchor="t"/>
          <a:lstStyle/>
          <a:p>
            <a:pPr marL="0" indent="0" algn="l">
              <a:lnSpc>
                <a:spcPts val="2050"/>
              </a:lnSpc>
              <a:buNone/>
            </a:pPr>
            <a:r>
              <a:rPr lang="en-US" sz="1650" dirty="0">
                <a:solidFill>
                  <a:srgbClr val="1B1B27"/>
                </a:solidFill>
                <a:latin typeface="Times New Roman" panose="02020603050405020304" pitchFamily="18" charset="0"/>
                <a:ea typeface="Raleway" pitchFamily="34" charset="-122"/>
                <a:cs typeface="Times New Roman" panose="02020603050405020304" pitchFamily="18" charset="0"/>
              </a:rPr>
              <a:t>Các yếu tố không thể thay đổi như tuổi tác và di truyền cũng đóng vai trò quan trọng trong việc dự đoán nguy cơ mắc bệnh.</a:t>
            </a:r>
            <a:endParaRPr lang="en-US" sz="1650" dirty="0"/>
          </a:p>
        </p:txBody>
      </p:sp>
      <p:sp>
        <p:nvSpPr>
          <p:cNvPr id="4" name="Shape 2"/>
          <p:cNvSpPr/>
          <p:nvPr/>
        </p:nvSpPr>
        <p:spPr>
          <a:xfrm>
            <a:off x="793790" y="1848326"/>
            <a:ext cx="4235172" cy="2057519"/>
          </a:xfrm>
          <a:prstGeom prst="roundRect">
            <a:avLst>
              <a:gd name="adj" fmla="val 5333"/>
            </a:avLst>
          </a:prstGeom>
          <a:solidFill>
            <a:srgbClr val="FFFFFF">
              <a:alpha val="95000"/>
            </a:srgbClr>
          </a:solidFill>
          <a:ln/>
        </p:spPr>
      </p:sp>
      <p:sp>
        <p:nvSpPr>
          <p:cNvPr id="5" name="Shape 3"/>
          <p:cNvSpPr/>
          <p:nvPr/>
        </p:nvSpPr>
        <p:spPr>
          <a:xfrm>
            <a:off x="793790" y="1825466"/>
            <a:ext cx="4235172" cy="91440"/>
          </a:xfrm>
          <a:prstGeom prst="roundRect">
            <a:avLst>
              <a:gd name="adj" fmla="val 77488"/>
            </a:avLst>
          </a:prstGeom>
          <a:solidFill>
            <a:srgbClr val="1B1B27"/>
          </a:solidFill>
          <a:ln/>
        </p:spPr>
      </p:sp>
      <p:sp>
        <p:nvSpPr>
          <p:cNvPr id="6" name="Shape 4"/>
          <p:cNvSpPr/>
          <p:nvPr/>
        </p:nvSpPr>
        <p:spPr>
          <a:xfrm>
            <a:off x="2658308" y="1595318"/>
            <a:ext cx="506016" cy="506016"/>
          </a:xfrm>
          <a:prstGeom prst="roundRect">
            <a:avLst>
              <a:gd name="adj" fmla="val 180706"/>
            </a:avLst>
          </a:prstGeom>
          <a:solidFill>
            <a:srgbClr val="1B1B27"/>
          </a:solidFill>
          <a:ln/>
        </p:spPr>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10113" y="1747004"/>
            <a:ext cx="202406" cy="202406"/>
          </a:xfrm>
          <a:prstGeom prst="rect">
            <a:avLst/>
          </a:prstGeom>
        </p:spPr>
      </p:pic>
      <p:sp>
        <p:nvSpPr>
          <p:cNvPr id="8" name="Text 5"/>
          <p:cNvSpPr/>
          <p:nvPr/>
        </p:nvSpPr>
        <p:spPr>
          <a:xfrm>
            <a:off x="985242" y="2270046"/>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3C3939"/>
                </a:solidFill>
                <a:latin typeface="Times New Roman" panose="02020603050405020304" pitchFamily="18" charset="0"/>
                <a:ea typeface="Raleway" pitchFamily="34" charset="-122"/>
                <a:cs typeface="Times New Roman" panose="02020603050405020304" pitchFamily="18" charset="0"/>
              </a:rPr>
              <a:t>Age (Tuổi)</a:t>
            </a:r>
            <a:endParaRPr lang="en-US" sz="1650" dirty="0"/>
          </a:p>
        </p:txBody>
      </p:sp>
      <p:sp>
        <p:nvSpPr>
          <p:cNvPr id="9" name="Text 6"/>
          <p:cNvSpPr/>
          <p:nvPr/>
        </p:nvSpPr>
        <p:spPr>
          <a:xfrm>
            <a:off x="985242" y="2634734"/>
            <a:ext cx="3852267" cy="809744"/>
          </a:xfrm>
          <a:prstGeom prst="rect">
            <a:avLst/>
          </a:prstGeom>
          <a:noFill/>
          <a:ln/>
        </p:spPr>
        <p:txBody>
          <a:bodyPr wrap="square" lIns="0" tIns="0" rIns="0" bIns="0" rtlCol="0" anchor="t"/>
          <a:lstStyle/>
          <a:p>
            <a:pPr marL="0" indent="0" algn="l">
              <a:lnSpc>
                <a:spcPts val="2100"/>
              </a:lnSpc>
              <a:buNone/>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Tỷ lệ mắc bệnh tăng dần theo tuổi. Nhóm 40-50 tuổi có tỷ lệ mắc bệnh cao hơn không mắc (64/49), cho thấy tuổi cao là yếu tố nguy cơ rõ rệt.</a:t>
            </a:r>
            <a:endParaRPr lang="en-US" sz="1300" dirty="0"/>
          </a:p>
        </p:txBody>
      </p:sp>
      <p:sp>
        <p:nvSpPr>
          <p:cNvPr id="10" name="Shape 7"/>
          <p:cNvSpPr/>
          <p:nvPr/>
        </p:nvSpPr>
        <p:spPr>
          <a:xfrm>
            <a:off x="5197554" y="1848326"/>
            <a:ext cx="4235172" cy="2057519"/>
          </a:xfrm>
          <a:prstGeom prst="roundRect">
            <a:avLst>
              <a:gd name="adj" fmla="val 5333"/>
            </a:avLst>
          </a:prstGeom>
          <a:solidFill>
            <a:srgbClr val="FFFFFF">
              <a:alpha val="95000"/>
            </a:srgbClr>
          </a:solidFill>
          <a:ln/>
        </p:spPr>
      </p:sp>
      <p:sp>
        <p:nvSpPr>
          <p:cNvPr id="11" name="Shape 8"/>
          <p:cNvSpPr/>
          <p:nvPr/>
        </p:nvSpPr>
        <p:spPr>
          <a:xfrm>
            <a:off x="5197554" y="1825466"/>
            <a:ext cx="4235172" cy="91440"/>
          </a:xfrm>
          <a:prstGeom prst="roundRect">
            <a:avLst>
              <a:gd name="adj" fmla="val 77488"/>
            </a:avLst>
          </a:prstGeom>
          <a:solidFill>
            <a:srgbClr val="1B1B27"/>
          </a:solidFill>
          <a:ln/>
        </p:spPr>
      </p:sp>
      <p:sp>
        <p:nvSpPr>
          <p:cNvPr id="12" name="Shape 9"/>
          <p:cNvSpPr/>
          <p:nvPr/>
        </p:nvSpPr>
        <p:spPr>
          <a:xfrm>
            <a:off x="7062073" y="1595318"/>
            <a:ext cx="506016" cy="506016"/>
          </a:xfrm>
          <a:prstGeom prst="roundRect">
            <a:avLst>
              <a:gd name="adj" fmla="val 180706"/>
            </a:avLst>
          </a:prstGeom>
          <a:solidFill>
            <a:srgbClr val="1B1B27"/>
          </a:solidFill>
          <a:ln/>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13878" y="1747004"/>
            <a:ext cx="202406" cy="202406"/>
          </a:xfrm>
          <a:prstGeom prst="rect">
            <a:avLst/>
          </a:prstGeom>
        </p:spPr>
      </p:pic>
      <p:sp>
        <p:nvSpPr>
          <p:cNvPr id="14" name="Text 10"/>
          <p:cNvSpPr/>
          <p:nvPr/>
        </p:nvSpPr>
        <p:spPr>
          <a:xfrm>
            <a:off x="5389007" y="2270046"/>
            <a:ext cx="3269694" cy="263485"/>
          </a:xfrm>
          <a:prstGeom prst="rect">
            <a:avLst/>
          </a:prstGeom>
          <a:noFill/>
          <a:ln/>
        </p:spPr>
        <p:txBody>
          <a:bodyPr wrap="none" lIns="0" tIns="0" rIns="0" bIns="0" rtlCol="0" anchor="t"/>
          <a:lstStyle/>
          <a:p>
            <a:pPr marL="0" indent="0" algn="l">
              <a:lnSpc>
                <a:spcPts val="2050"/>
              </a:lnSpc>
              <a:buNone/>
            </a:pPr>
            <a:r>
              <a:rPr lang="en-US" sz="1650" b="1" dirty="0">
                <a:solidFill>
                  <a:srgbClr val="3C3939"/>
                </a:solidFill>
                <a:latin typeface="Times New Roman" panose="02020603050405020304" pitchFamily="18" charset="0"/>
                <a:ea typeface="Raleway" pitchFamily="34" charset="-122"/>
                <a:cs typeface="Times New Roman" panose="02020603050405020304" pitchFamily="18" charset="0"/>
              </a:rPr>
              <a:t>DiabetesPedigreeFunction (DPF)</a:t>
            </a:r>
            <a:endParaRPr lang="en-US" sz="1650" dirty="0"/>
          </a:p>
        </p:txBody>
      </p:sp>
      <p:sp>
        <p:nvSpPr>
          <p:cNvPr id="15" name="Text 11"/>
          <p:cNvSpPr/>
          <p:nvPr/>
        </p:nvSpPr>
        <p:spPr>
          <a:xfrm>
            <a:off x="5389007" y="2634734"/>
            <a:ext cx="3852267" cy="1079659"/>
          </a:xfrm>
          <a:prstGeom prst="rect">
            <a:avLst/>
          </a:prstGeom>
          <a:noFill/>
          <a:ln/>
        </p:spPr>
        <p:txBody>
          <a:bodyPr wrap="square" lIns="0" tIns="0" rIns="0" bIns="0" rtlCol="0" anchor="t"/>
          <a:lstStyle/>
          <a:p>
            <a:pPr marL="0" indent="0" algn="l">
              <a:lnSpc>
                <a:spcPts val="2100"/>
              </a:lnSpc>
              <a:buNone/>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Nguy cơ di truyền có ảnh hưởng đáng kể. Tỷ lệ mắc bệnh tăng khi DPF tăng, đặc biệt ở khoảng &gt;2.0, nơi tỷ lệ mắc bệnh (13) cao hơn không mắc (6).</a:t>
            </a:r>
            <a:endParaRPr lang="en-US" sz="1300" dirty="0"/>
          </a:p>
        </p:txBody>
      </p:sp>
      <p:sp>
        <p:nvSpPr>
          <p:cNvPr id="16" name="Shape 12"/>
          <p:cNvSpPr/>
          <p:nvPr/>
        </p:nvSpPr>
        <p:spPr>
          <a:xfrm>
            <a:off x="9601319" y="1848326"/>
            <a:ext cx="4235291" cy="2057519"/>
          </a:xfrm>
          <a:prstGeom prst="roundRect">
            <a:avLst>
              <a:gd name="adj" fmla="val 5333"/>
            </a:avLst>
          </a:prstGeom>
          <a:solidFill>
            <a:srgbClr val="FFFFFF">
              <a:alpha val="95000"/>
            </a:srgbClr>
          </a:solidFill>
          <a:ln/>
        </p:spPr>
      </p:sp>
      <p:sp>
        <p:nvSpPr>
          <p:cNvPr id="17" name="Shape 13"/>
          <p:cNvSpPr/>
          <p:nvPr/>
        </p:nvSpPr>
        <p:spPr>
          <a:xfrm>
            <a:off x="9601319" y="1825466"/>
            <a:ext cx="4235291" cy="91440"/>
          </a:xfrm>
          <a:prstGeom prst="roundRect">
            <a:avLst>
              <a:gd name="adj" fmla="val 77488"/>
            </a:avLst>
          </a:prstGeom>
          <a:solidFill>
            <a:srgbClr val="1B1B27"/>
          </a:solidFill>
          <a:ln/>
        </p:spPr>
      </p:sp>
      <p:sp>
        <p:nvSpPr>
          <p:cNvPr id="18" name="Shape 14"/>
          <p:cNvSpPr/>
          <p:nvPr/>
        </p:nvSpPr>
        <p:spPr>
          <a:xfrm>
            <a:off x="11465957" y="1595318"/>
            <a:ext cx="506016" cy="506016"/>
          </a:xfrm>
          <a:prstGeom prst="roundRect">
            <a:avLst>
              <a:gd name="adj" fmla="val 180706"/>
            </a:avLst>
          </a:prstGeom>
          <a:solidFill>
            <a:srgbClr val="1B1B27"/>
          </a:solidFill>
          <a:ln/>
        </p:spPr>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17762" y="1747004"/>
            <a:ext cx="202406" cy="202406"/>
          </a:xfrm>
          <a:prstGeom prst="rect">
            <a:avLst/>
          </a:prstGeom>
        </p:spPr>
      </p:pic>
      <p:sp>
        <p:nvSpPr>
          <p:cNvPr id="20" name="Text 15"/>
          <p:cNvSpPr/>
          <p:nvPr/>
        </p:nvSpPr>
        <p:spPr>
          <a:xfrm>
            <a:off x="9792772" y="2270046"/>
            <a:ext cx="3100268" cy="263485"/>
          </a:xfrm>
          <a:prstGeom prst="rect">
            <a:avLst/>
          </a:prstGeom>
          <a:noFill/>
          <a:ln/>
        </p:spPr>
        <p:txBody>
          <a:bodyPr wrap="none" lIns="0" tIns="0" rIns="0" bIns="0" rtlCol="0" anchor="t"/>
          <a:lstStyle/>
          <a:p>
            <a:pPr marL="0" indent="0" algn="l">
              <a:lnSpc>
                <a:spcPts val="2050"/>
              </a:lnSpc>
              <a:buNone/>
            </a:pPr>
            <a:r>
              <a:rPr lang="en-US" sz="1650" b="1" dirty="0">
                <a:solidFill>
                  <a:srgbClr val="3C3939"/>
                </a:solidFill>
                <a:latin typeface="Times New Roman" panose="02020603050405020304" pitchFamily="18" charset="0"/>
                <a:ea typeface="Raleway" pitchFamily="34" charset="-122"/>
                <a:cs typeface="Times New Roman" panose="02020603050405020304" pitchFamily="18" charset="0"/>
              </a:rPr>
              <a:t>Pregnancies (Số lần Mang thai)</a:t>
            </a:r>
            <a:endParaRPr lang="en-US" sz="1650" dirty="0"/>
          </a:p>
        </p:txBody>
      </p:sp>
      <p:sp>
        <p:nvSpPr>
          <p:cNvPr id="21" name="Text 16"/>
          <p:cNvSpPr/>
          <p:nvPr/>
        </p:nvSpPr>
        <p:spPr>
          <a:xfrm>
            <a:off x="9792772" y="2634734"/>
            <a:ext cx="3852386" cy="809744"/>
          </a:xfrm>
          <a:prstGeom prst="rect">
            <a:avLst/>
          </a:prstGeom>
          <a:noFill/>
          <a:ln/>
        </p:spPr>
        <p:txBody>
          <a:bodyPr wrap="square" lIns="0" tIns="0" rIns="0" bIns="0" rtlCol="0" anchor="t"/>
          <a:lstStyle/>
          <a:p>
            <a:pPr marL="0" indent="0" algn="l">
              <a:lnSpc>
                <a:spcPts val="2100"/>
              </a:lnSpc>
              <a:buNone/>
            </a:pPr>
            <a:r>
              <a:rPr lang="en-US" sz="1300" b="1" dirty="0">
                <a:solidFill>
                  <a:srgbClr val="3C3939"/>
                </a:solidFill>
                <a:latin typeface="Times New Roman" panose="02020603050405020304" pitchFamily="18" charset="0"/>
                <a:ea typeface="Roboto" pitchFamily="34" charset="-122"/>
                <a:cs typeface="Times New Roman" panose="02020603050405020304" pitchFamily="18" charset="0"/>
              </a:rPr>
              <a:t>Phụ nữ có nhiều lần mang thai có nguy cơ cao hơn. Tỷ lệ mắc bệnh đạt 64% ở nhóm &gt;12 lần mang thai, phản ánh stress nội tiết.</a:t>
            </a:r>
            <a:endParaRPr lang="en-US" sz="1300" dirty="0"/>
          </a:p>
        </p:txBody>
      </p:sp>
      <p:sp>
        <p:nvSpPr>
          <p:cNvPr id="22" name="Text 17"/>
          <p:cNvSpPr/>
          <p:nvPr/>
        </p:nvSpPr>
        <p:spPr>
          <a:xfrm>
            <a:off x="793790" y="4158853"/>
            <a:ext cx="6372701" cy="421719"/>
          </a:xfrm>
          <a:prstGeom prst="rect">
            <a:avLst/>
          </a:prstGeom>
          <a:noFill/>
          <a:ln/>
        </p:spPr>
        <p:txBody>
          <a:bodyPr wrap="none" lIns="0" tIns="0" rIns="0" bIns="0" rtlCol="0" anchor="t"/>
          <a:lstStyle/>
          <a:p>
            <a:pPr marL="0" indent="0" algn="l">
              <a:lnSpc>
                <a:spcPts val="3300"/>
              </a:lnSpc>
              <a:buNone/>
            </a:pPr>
            <a:r>
              <a:rPr lang="en-US" sz="2650" b="1" dirty="0">
                <a:solidFill>
                  <a:srgbClr val="1B1B27"/>
                </a:solidFill>
                <a:latin typeface="Times New Roman" panose="02020603050405020304" pitchFamily="18" charset="0"/>
                <a:ea typeface="Raleway" pitchFamily="34" charset="-122"/>
                <a:cs typeface="Times New Roman" panose="02020603050405020304" pitchFamily="18" charset="0"/>
              </a:rPr>
              <a:t>Đánh Giá Độ Quan Trọng Của Đặc Trưng</a:t>
            </a:r>
            <a:endParaRPr lang="en-US" sz="2650" dirty="0"/>
          </a:p>
        </p:txBody>
      </p:sp>
      <p:sp>
        <p:nvSpPr>
          <p:cNvPr id="23" name="Text 18"/>
          <p:cNvSpPr/>
          <p:nvPr/>
        </p:nvSpPr>
        <p:spPr>
          <a:xfrm>
            <a:off x="793790" y="4647962"/>
            <a:ext cx="9986843" cy="263485"/>
          </a:xfrm>
          <a:prstGeom prst="rect">
            <a:avLst/>
          </a:prstGeom>
          <a:noFill/>
          <a:ln/>
        </p:spPr>
        <p:txBody>
          <a:bodyPr wrap="none" lIns="0" tIns="0" rIns="0" bIns="0" rtlCol="0" anchor="t"/>
          <a:lstStyle/>
          <a:p>
            <a:pPr marL="0" indent="0" algn="l">
              <a:lnSpc>
                <a:spcPts val="2050"/>
              </a:lnSpc>
              <a:buNone/>
            </a:pPr>
            <a:r>
              <a:rPr lang="en-US" sz="1650" dirty="0">
                <a:solidFill>
                  <a:srgbClr val="1B1B27"/>
                </a:solidFill>
                <a:latin typeface="Times New Roman" panose="02020603050405020304" pitchFamily="18" charset="0"/>
                <a:ea typeface="Raleway" pitchFamily="34" charset="-122"/>
                <a:cs typeface="Times New Roman" panose="02020603050405020304" pitchFamily="18" charset="0"/>
              </a:rPr>
              <a:t>Sử dụng phương pháp ANOVA F-Statistic để chọn ra 5 đặc trưng quan trọng nhất cho mô hình dự đoán.</a:t>
            </a:r>
            <a:endParaRPr lang="en-US" sz="1650" dirty="0"/>
          </a:p>
        </p:txBody>
      </p:sp>
      <p:sp>
        <p:nvSpPr>
          <p:cNvPr id="24" name="Shape 19"/>
          <p:cNvSpPr/>
          <p:nvPr/>
        </p:nvSpPr>
        <p:spPr>
          <a:xfrm>
            <a:off x="793790" y="5164455"/>
            <a:ext cx="13042821" cy="1958816"/>
          </a:xfrm>
          <a:prstGeom prst="roundRect">
            <a:avLst>
              <a:gd name="adj" fmla="val 3617"/>
            </a:avLst>
          </a:prstGeom>
          <a:solidFill>
            <a:srgbClr val="E1E1EA"/>
          </a:solidFill>
          <a:ln w="7620">
            <a:solidFill>
              <a:srgbClr val="C7C7D0"/>
            </a:solidFill>
            <a:prstDash val="solid"/>
          </a:ln>
        </p:spPr>
      </p:sp>
      <p:sp>
        <p:nvSpPr>
          <p:cNvPr id="25" name="Shape 20"/>
          <p:cNvSpPr/>
          <p:nvPr/>
        </p:nvSpPr>
        <p:spPr>
          <a:xfrm>
            <a:off x="801410" y="5172075"/>
            <a:ext cx="4342448" cy="971788"/>
          </a:xfrm>
          <a:prstGeom prst="roundRect">
            <a:avLst>
              <a:gd name="adj" fmla="val 7291"/>
            </a:avLst>
          </a:prstGeom>
          <a:solidFill>
            <a:srgbClr val="E1E1EA"/>
          </a:solidFill>
          <a:ln/>
        </p:spPr>
      </p:sp>
      <p:sp>
        <p:nvSpPr>
          <p:cNvPr id="26" name="Text 21"/>
          <p:cNvSpPr/>
          <p:nvPr/>
        </p:nvSpPr>
        <p:spPr>
          <a:xfrm>
            <a:off x="970002" y="5340668"/>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Times New Roman" panose="02020603050405020304" pitchFamily="18" charset="0"/>
                <a:ea typeface="Raleway" pitchFamily="34" charset="-122"/>
                <a:cs typeface="Times New Roman" panose="02020603050405020304" pitchFamily="18" charset="0"/>
              </a:rPr>
              <a:t>1. Glucose</a:t>
            </a:r>
            <a:endParaRPr lang="en-US" sz="1650" dirty="0"/>
          </a:p>
        </p:txBody>
      </p:sp>
      <p:sp>
        <p:nvSpPr>
          <p:cNvPr id="27" name="Text 22"/>
          <p:cNvSpPr/>
          <p:nvPr/>
        </p:nvSpPr>
        <p:spPr>
          <a:xfrm>
            <a:off x="970002" y="5705356"/>
            <a:ext cx="4005262"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F-Score: 192.22</a:t>
            </a:r>
            <a:endParaRPr lang="en-US" sz="1300" dirty="0"/>
          </a:p>
        </p:txBody>
      </p:sp>
      <p:sp>
        <p:nvSpPr>
          <p:cNvPr id="28" name="Shape 23"/>
          <p:cNvSpPr/>
          <p:nvPr/>
        </p:nvSpPr>
        <p:spPr>
          <a:xfrm>
            <a:off x="5143857" y="5172075"/>
            <a:ext cx="4342567" cy="971788"/>
          </a:xfrm>
          <a:prstGeom prst="rect">
            <a:avLst/>
          </a:prstGeom>
          <a:solidFill>
            <a:srgbClr val="E1E1EA"/>
          </a:solidFill>
          <a:ln/>
        </p:spPr>
      </p:sp>
      <p:sp>
        <p:nvSpPr>
          <p:cNvPr id="29" name="Shape 24"/>
          <p:cNvSpPr/>
          <p:nvPr/>
        </p:nvSpPr>
        <p:spPr>
          <a:xfrm>
            <a:off x="5143857" y="5172075"/>
            <a:ext cx="22860" cy="971788"/>
          </a:xfrm>
          <a:prstGeom prst="roundRect">
            <a:avLst>
              <a:gd name="adj" fmla="val 309954"/>
            </a:avLst>
          </a:prstGeom>
          <a:solidFill>
            <a:srgbClr val="C7C7D0"/>
          </a:solidFill>
          <a:ln/>
        </p:spPr>
      </p:sp>
      <p:sp>
        <p:nvSpPr>
          <p:cNvPr id="30" name="Text 25"/>
          <p:cNvSpPr/>
          <p:nvPr/>
        </p:nvSpPr>
        <p:spPr>
          <a:xfrm>
            <a:off x="5312450" y="5340668"/>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Times New Roman" panose="02020603050405020304" pitchFamily="18" charset="0"/>
                <a:ea typeface="Raleway" pitchFamily="34" charset="-122"/>
                <a:cs typeface="Times New Roman" panose="02020603050405020304" pitchFamily="18" charset="0"/>
              </a:rPr>
              <a:t>2. BMI</a:t>
            </a:r>
            <a:endParaRPr lang="en-US" sz="1650" dirty="0"/>
          </a:p>
        </p:txBody>
      </p:sp>
      <p:sp>
        <p:nvSpPr>
          <p:cNvPr id="31" name="Text 26"/>
          <p:cNvSpPr/>
          <p:nvPr/>
        </p:nvSpPr>
        <p:spPr>
          <a:xfrm>
            <a:off x="5312450" y="5705356"/>
            <a:ext cx="4005382"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F-Score: 69.49</a:t>
            </a:r>
            <a:endParaRPr lang="en-US" sz="1300" dirty="0"/>
          </a:p>
        </p:txBody>
      </p:sp>
      <p:sp>
        <p:nvSpPr>
          <p:cNvPr id="32" name="Shape 27"/>
          <p:cNvSpPr/>
          <p:nvPr/>
        </p:nvSpPr>
        <p:spPr>
          <a:xfrm>
            <a:off x="9486424" y="5172075"/>
            <a:ext cx="4342567" cy="971788"/>
          </a:xfrm>
          <a:prstGeom prst="rect">
            <a:avLst/>
          </a:prstGeom>
          <a:solidFill>
            <a:srgbClr val="E1E1EA"/>
          </a:solidFill>
          <a:ln/>
        </p:spPr>
      </p:sp>
      <p:sp>
        <p:nvSpPr>
          <p:cNvPr id="33" name="Shape 28"/>
          <p:cNvSpPr/>
          <p:nvPr/>
        </p:nvSpPr>
        <p:spPr>
          <a:xfrm>
            <a:off x="9486424" y="5172075"/>
            <a:ext cx="22860" cy="971788"/>
          </a:xfrm>
          <a:prstGeom prst="roundRect">
            <a:avLst>
              <a:gd name="adj" fmla="val 309954"/>
            </a:avLst>
          </a:prstGeom>
          <a:solidFill>
            <a:srgbClr val="C7C7D0"/>
          </a:solidFill>
          <a:ln/>
        </p:spPr>
      </p:sp>
      <p:sp>
        <p:nvSpPr>
          <p:cNvPr id="34" name="Text 29"/>
          <p:cNvSpPr/>
          <p:nvPr/>
        </p:nvSpPr>
        <p:spPr>
          <a:xfrm>
            <a:off x="9655016" y="5340668"/>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Times New Roman" panose="02020603050405020304" pitchFamily="18" charset="0"/>
                <a:ea typeface="Raleway" pitchFamily="34" charset="-122"/>
                <a:cs typeface="Times New Roman" panose="02020603050405020304" pitchFamily="18" charset="0"/>
              </a:rPr>
              <a:t>3. Age</a:t>
            </a:r>
            <a:endParaRPr lang="en-US" sz="1650" dirty="0"/>
          </a:p>
        </p:txBody>
      </p:sp>
      <p:sp>
        <p:nvSpPr>
          <p:cNvPr id="35" name="Text 30"/>
          <p:cNvSpPr/>
          <p:nvPr/>
        </p:nvSpPr>
        <p:spPr>
          <a:xfrm>
            <a:off x="9655016" y="5705356"/>
            <a:ext cx="4005382"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F-Score: 52.33</a:t>
            </a:r>
            <a:endParaRPr lang="en-US" sz="1300" dirty="0"/>
          </a:p>
        </p:txBody>
      </p:sp>
      <p:sp>
        <p:nvSpPr>
          <p:cNvPr id="36" name="Shape 31"/>
          <p:cNvSpPr/>
          <p:nvPr/>
        </p:nvSpPr>
        <p:spPr>
          <a:xfrm>
            <a:off x="801410" y="6143863"/>
            <a:ext cx="6513790" cy="971788"/>
          </a:xfrm>
          <a:prstGeom prst="rect">
            <a:avLst/>
          </a:prstGeom>
          <a:solidFill>
            <a:srgbClr val="E1E1EA"/>
          </a:solidFill>
          <a:ln/>
        </p:spPr>
      </p:sp>
      <p:sp>
        <p:nvSpPr>
          <p:cNvPr id="37" name="Shape 32"/>
          <p:cNvSpPr/>
          <p:nvPr/>
        </p:nvSpPr>
        <p:spPr>
          <a:xfrm>
            <a:off x="801410" y="6143863"/>
            <a:ext cx="6513790" cy="22860"/>
          </a:xfrm>
          <a:prstGeom prst="roundRect">
            <a:avLst>
              <a:gd name="adj" fmla="val 309954"/>
            </a:avLst>
          </a:prstGeom>
          <a:solidFill>
            <a:srgbClr val="C7C7D0"/>
          </a:solidFill>
          <a:ln/>
        </p:spPr>
      </p:sp>
      <p:sp>
        <p:nvSpPr>
          <p:cNvPr id="38" name="Text 33"/>
          <p:cNvSpPr/>
          <p:nvPr/>
        </p:nvSpPr>
        <p:spPr>
          <a:xfrm>
            <a:off x="970002" y="6312456"/>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Times New Roman" panose="02020603050405020304" pitchFamily="18" charset="0"/>
                <a:ea typeface="Raleway" pitchFamily="34" charset="-122"/>
                <a:cs typeface="Times New Roman" panose="02020603050405020304" pitchFamily="18" charset="0"/>
              </a:rPr>
              <a:t>4. Pregnancies</a:t>
            </a:r>
            <a:endParaRPr lang="en-US" sz="1650" dirty="0"/>
          </a:p>
        </p:txBody>
      </p:sp>
      <p:sp>
        <p:nvSpPr>
          <p:cNvPr id="39" name="Text 34"/>
          <p:cNvSpPr/>
          <p:nvPr/>
        </p:nvSpPr>
        <p:spPr>
          <a:xfrm>
            <a:off x="970002" y="6677144"/>
            <a:ext cx="6176605"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F-Score: 27.55</a:t>
            </a:r>
            <a:endParaRPr lang="en-US" sz="1300" dirty="0"/>
          </a:p>
        </p:txBody>
      </p:sp>
      <p:sp>
        <p:nvSpPr>
          <p:cNvPr id="40" name="Shape 35"/>
          <p:cNvSpPr/>
          <p:nvPr/>
        </p:nvSpPr>
        <p:spPr>
          <a:xfrm>
            <a:off x="7315200" y="6143863"/>
            <a:ext cx="6513790" cy="971788"/>
          </a:xfrm>
          <a:prstGeom prst="rect">
            <a:avLst/>
          </a:prstGeom>
          <a:solidFill>
            <a:srgbClr val="E1E1EA"/>
          </a:solidFill>
          <a:ln/>
        </p:spPr>
      </p:sp>
      <p:sp>
        <p:nvSpPr>
          <p:cNvPr id="41" name="Shape 36"/>
          <p:cNvSpPr/>
          <p:nvPr/>
        </p:nvSpPr>
        <p:spPr>
          <a:xfrm>
            <a:off x="7315200" y="6143863"/>
            <a:ext cx="22860" cy="971788"/>
          </a:xfrm>
          <a:prstGeom prst="roundRect">
            <a:avLst>
              <a:gd name="adj" fmla="val 309954"/>
            </a:avLst>
          </a:prstGeom>
          <a:solidFill>
            <a:srgbClr val="C7C7D0"/>
          </a:solidFill>
          <a:ln/>
        </p:spPr>
      </p:sp>
      <p:sp>
        <p:nvSpPr>
          <p:cNvPr id="42" name="Shape 37"/>
          <p:cNvSpPr/>
          <p:nvPr/>
        </p:nvSpPr>
        <p:spPr>
          <a:xfrm>
            <a:off x="7315200" y="6143863"/>
            <a:ext cx="6513790" cy="22860"/>
          </a:xfrm>
          <a:prstGeom prst="roundRect">
            <a:avLst>
              <a:gd name="adj" fmla="val 309954"/>
            </a:avLst>
          </a:prstGeom>
          <a:solidFill>
            <a:srgbClr val="C7C7D0"/>
          </a:solidFill>
          <a:ln/>
        </p:spPr>
      </p:sp>
      <p:sp>
        <p:nvSpPr>
          <p:cNvPr id="43" name="Text 38"/>
          <p:cNvSpPr/>
          <p:nvPr/>
        </p:nvSpPr>
        <p:spPr>
          <a:xfrm>
            <a:off x="7483792" y="6312456"/>
            <a:ext cx="2108716" cy="263485"/>
          </a:xfrm>
          <a:prstGeom prst="rect">
            <a:avLst/>
          </a:prstGeom>
          <a:noFill/>
          <a:ln/>
        </p:spPr>
        <p:txBody>
          <a:bodyPr wrap="none" lIns="0" tIns="0" rIns="0" bIns="0" rtlCol="0" anchor="t"/>
          <a:lstStyle/>
          <a:p>
            <a:pPr marL="0" indent="0" algn="l">
              <a:lnSpc>
                <a:spcPts val="2050"/>
              </a:lnSpc>
              <a:buNone/>
            </a:pPr>
            <a:r>
              <a:rPr lang="en-US" sz="1650" dirty="0">
                <a:solidFill>
                  <a:srgbClr val="3C3939"/>
                </a:solidFill>
                <a:latin typeface="Times New Roman" panose="02020603050405020304" pitchFamily="18" charset="0"/>
                <a:ea typeface="Raleway" pitchFamily="34" charset="-122"/>
                <a:cs typeface="Times New Roman" panose="02020603050405020304" pitchFamily="18" charset="0"/>
              </a:rPr>
              <a:t>5. SkinThickness</a:t>
            </a:r>
            <a:endParaRPr lang="en-US" sz="1650" dirty="0"/>
          </a:p>
        </p:txBody>
      </p:sp>
      <p:sp>
        <p:nvSpPr>
          <p:cNvPr id="44" name="Text 39"/>
          <p:cNvSpPr/>
          <p:nvPr/>
        </p:nvSpPr>
        <p:spPr>
          <a:xfrm>
            <a:off x="7483792" y="6677144"/>
            <a:ext cx="6176605" cy="269915"/>
          </a:xfrm>
          <a:prstGeom prst="rect">
            <a:avLst/>
          </a:prstGeom>
          <a:noFill/>
          <a:ln/>
        </p:spPr>
        <p:txBody>
          <a:bodyPr wrap="none" lIns="0" tIns="0" rIns="0" bIns="0" rtlCol="0" anchor="t"/>
          <a:lstStyle/>
          <a:p>
            <a:pPr marL="0" indent="0" algn="l">
              <a:lnSpc>
                <a:spcPts val="2100"/>
              </a:lnSpc>
              <a:buNone/>
            </a:pPr>
            <a:r>
              <a:rPr lang="en-US" sz="1300" dirty="0">
                <a:solidFill>
                  <a:srgbClr val="3C3939"/>
                </a:solidFill>
                <a:latin typeface="Times New Roman" panose="02020603050405020304" pitchFamily="18" charset="0"/>
                <a:ea typeface="Roboto" pitchFamily="34" charset="-122"/>
                <a:cs typeface="Times New Roman" panose="02020603050405020304" pitchFamily="18" charset="0"/>
              </a:rPr>
              <a:t>F-Score: 20.96</a:t>
            </a:r>
            <a:endParaRPr lang="en-US" sz="1300" dirty="0"/>
          </a:p>
        </p:txBody>
      </p:sp>
      <p:sp>
        <p:nvSpPr>
          <p:cNvPr id="45" name="Text 40"/>
          <p:cNvSpPr/>
          <p:nvPr/>
        </p:nvSpPr>
        <p:spPr>
          <a:xfrm>
            <a:off x="793790" y="7376279"/>
            <a:ext cx="9773364" cy="263485"/>
          </a:xfrm>
          <a:prstGeom prst="rect">
            <a:avLst/>
          </a:prstGeom>
          <a:noFill/>
          <a:ln/>
        </p:spPr>
        <p:txBody>
          <a:bodyPr wrap="none" lIns="0" tIns="0" rIns="0" bIns="0" rtlCol="0" anchor="t"/>
          <a:lstStyle/>
          <a:p>
            <a:pPr marL="0" indent="0" algn="l">
              <a:lnSpc>
                <a:spcPts val="2050"/>
              </a:lnSpc>
              <a:buNone/>
            </a:pPr>
            <a:r>
              <a:rPr lang="en-US" sz="1650" dirty="0">
                <a:solidFill>
                  <a:srgbClr val="1B1B27"/>
                </a:solidFill>
                <a:latin typeface="Times New Roman" panose="02020603050405020304" pitchFamily="18" charset="0"/>
                <a:ea typeface="Raleway" pitchFamily="34" charset="-122"/>
                <a:cs typeface="Times New Roman" panose="02020603050405020304" pitchFamily="18" charset="0"/>
              </a:rPr>
              <a:t>Các đặc trưng được chọn để huấn luyện mô hình là: </a:t>
            </a:r>
            <a:r>
              <a:rPr lang="en-US" sz="1650" b="1" dirty="0">
                <a:solidFill>
                  <a:srgbClr val="1B1B27"/>
                </a:solidFill>
                <a:latin typeface="Times New Roman" panose="02020603050405020304" pitchFamily="18" charset="0"/>
                <a:ea typeface="Raleway" pitchFamily="34" charset="-122"/>
                <a:cs typeface="Times New Roman" panose="02020603050405020304" pitchFamily="18" charset="0"/>
              </a:rPr>
              <a:t>Pregnancies, Glucose, SkinThickness, BMI, Age</a:t>
            </a:r>
            <a:r>
              <a:rPr lang="en-US" sz="1650" dirty="0">
                <a:solidFill>
                  <a:srgbClr val="1B1B27"/>
                </a:solidFill>
                <a:latin typeface="Times New Roman" panose="02020603050405020304" pitchFamily="18" charset="0"/>
                <a:ea typeface="Raleway" pitchFamily="34" charset="-122"/>
                <a:cs typeface="Times New Roman" panose="02020603050405020304" pitchFamily="18" charset="0"/>
              </a:rPr>
              <a:t>.</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5925" y="883325"/>
            <a:ext cx="2989778" cy="373618"/>
          </a:xfrm>
          <a:prstGeom prst="rect">
            <a:avLst/>
          </a:prstGeom>
          <a:noFill/>
          <a:ln/>
        </p:spPr>
        <p:txBody>
          <a:bodyPr wrap="none" lIns="0" tIns="0" rIns="0" bIns="0" rtlCol="0" anchor="t"/>
          <a:lstStyle/>
          <a:p>
            <a:pPr marL="0" indent="0" algn="l">
              <a:lnSpc>
                <a:spcPts val="2900"/>
              </a:lnSpc>
              <a:buNone/>
            </a:pPr>
            <a:r>
              <a:rPr lang="en-US" sz="2350" b="1" dirty="0">
                <a:solidFill>
                  <a:srgbClr val="1B1B27"/>
                </a:solidFill>
                <a:latin typeface="Times New Roman" panose="02020603050405020304" pitchFamily="18" charset="0"/>
                <a:ea typeface="Raleway" pitchFamily="34" charset="-122"/>
                <a:cs typeface="Times New Roman" panose="02020603050405020304" pitchFamily="18" charset="0"/>
              </a:rPr>
              <a:t>MODEL</a:t>
            </a:r>
            <a:endParaRPr lang="en-US" sz="2350" dirty="0"/>
          </a:p>
        </p:txBody>
      </p:sp>
      <p:sp>
        <p:nvSpPr>
          <p:cNvPr id="3" name="Text 1"/>
          <p:cNvSpPr/>
          <p:nvPr/>
        </p:nvSpPr>
        <p:spPr>
          <a:xfrm>
            <a:off x="735925" y="1496020"/>
            <a:ext cx="13158549" cy="239197"/>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Từ baseline tuyến tính đến boosting mạnh mẽ – XGBoost dẫn đầu với hiệu suất cân bằng!</a:t>
            </a:r>
            <a:endParaRPr lang="en-US" sz="1150" dirty="0"/>
          </a:p>
        </p:txBody>
      </p:sp>
      <p:sp>
        <p:nvSpPr>
          <p:cNvPr id="4" name="Text 2"/>
          <p:cNvSpPr/>
          <p:nvPr/>
        </p:nvSpPr>
        <p:spPr>
          <a:xfrm>
            <a:off x="735925" y="1989296"/>
            <a:ext cx="1494830" cy="186928"/>
          </a:xfrm>
          <a:prstGeom prst="rect">
            <a:avLst/>
          </a:prstGeom>
          <a:noFill/>
          <a:ln/>
        </p:spPr>
        <p:txBody>
          <a:bodyPr wrap="none" lIns="0" tIns="0" rIns="0" bIns="0" rtlCol="0" anchor="t"/>
          <a:lstStyle/>
          <a:p>
            <a:pPr marL="0" indent="0" algn="l">
              <a:lnSpc>
                <a:spcPts val="1450"/>
              </a:lnSpc>
              <a:buNone/>
            </a:pPr>
            <a:r>
              <a:rPr lang="en-US" sz="1150" dirty="0">
                <a:solidFill>
                  <a:srgbClr val="1B1B27"/>
                </a:solidFill>
                <a:latin typeface="Times New Roman" panose="02020603050405020304" pitchFamily="18" charset="0"/>
                <a:ea typeface="Raleway" pitchFamily="34" charset="-122"/>
                <a:cs typeface="Times New Roman" panose="02020603050405020304" pitchFamily="18" charset="0"/>
              </a:rPr>
              <a:t>Bảng so sánh metrics</a:t>
            </a:r>
            <a:endParaRPr lang="en-US" sz="1150" dirty="0"/>
          </a:p>
        </p:txBody>
      </p:sp>
      <p:sp>
        <p:nvSpPr>
          <p:cNvPr id="5" name="Shape 3"/>
          <p:cNvSpPr/>
          <p:nvPr/>
        </p:nvSpPr>
        <p:spPr>
          <a:xfrm>
            <a:off x="735925" y="2310765"/>
            <a:ext cx="7105888" cy="3361373"/>
          </a:xfrm>
          <a:prstGeom prst="roundRect">
            <a:avLst>
              <a:gd name="adj" fmla="val 1494"/>
            </a:avLst>
          </a:prstGeom>
          <a:noFill/>
          <a:ln w="7620">
            <a:solidFill>
              <a:srgbClr val="000000">
                <a:alpha val="8000"/>
              </a:srgbClr>
            </a:solidFill>
            <a:prstDash val="solid"/>
          </a:ln>
        </p:spPr>
      </p:sp>
      <p:sp>
        <p:nvSpPr>
          <p:cNvPr id="6" name="Shape 4"/>
          <p:cNvSpPr/>
          <p:nvPr/>
        </p:nvSpPr>
        <p:spPr>
          <a:xfrm>
            <a:off x="743545" y="2318385"/>
            <a:ext cx="7090648" cy="1354574"/>
          </a:xfrm>
          <a:prstGeom prst="rect">
            <a:avLst/>
          </a:prstGeom>
          <a:solidFill>
            <a:srgbClr val="FFFFFF">
              <a:alpha val="4000"/>
            </a:srgbClr>
          </a:solidFill>
          <a:ln/>
        </p:spPr>
      </p:sp>
      <p:sp>
        <p:nvSpPr>
          <p:cNvPr id="7" name="Text 5"/>
          <p:cNvSpPr/>
          <p:nvPr/>
        </p:nvSpPr>
        <p:spPr>
          <a:xfrm>
            <a:off x="863560" y="2397681"/>
            <a:ext cx="1024176" cy="478393"/>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Logistic Regression</a:t>
            </a:r>
            <a:endParaRPr lang="en-US" sz="1150" dirty="0"/>
          </a:p>
        </p:txBody>
      </p:sp>
      <p:sp>
        <p:nvSpPr>
          <p:cNvPr id="8" name="Text 6"/>
          <p:cNvSpPr/>
          <p:nvPr/>
        </p:nvSpPr>
        <p:spPr>
          <a:xfrm>
            <a:off x="2134433" y="2397681"/>
            <a:ext cx="917496" cy="239197"/>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0.760</a:t>
            </a:r>
            <a:endParaRPr lang="en-US" sz="1150" dirty="0"/>
          </a:p>
        </p:txBody>
      </p:sp>
      <p:sp>
        <p:nvSpPr>
          <p:cNvPr id="9" name="Text 7"/>
          <p:cNvSpPr/>
          <p:nvPr/>
        </p:nvSpPr>
        <p:spPr>
          <a:xfrm>
            <a:off x="3298627" y="2397681"/>
            <a:ext cx="917496" cy="239197"/>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0.689</a:t>
            </a:r>
            <a:endParaRPr lang="en-US" sz="1150" dirty="0"/>
          </a:p>
        </p:txBody>
      </p:sp>
      <p:sp>
        <p:nvSpPr>
          <p:cNvPr id="10" name="Text 8"/>
          <p:cNvSpPr/>
          <p:nvPr/>
        </p:nvSpPr>
        <p:spPr>
          <a:xfrm>
            <a:off x="4462820" y="2397681"/>
            <a:ext cx="918210" cy="239197"/>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0.829</a:t>
            </a:r>
            <a:endParaRPr lang="en-US" sz="1150" dirty="0"/>
          </a:p>
        </p:txBody>
      </p:sp>
      <p:sp>
        <p:nvSpPr>
          <p:cNvPr id="11" name="Text 9"/>
          <p:cNvSpPr/>
          <p:nvPr/>
        </p:nvSpPr>
        <p:spPr>
          <a:xfrm>
            <a:off x="5627727" y="2397681"/>
            <a:ext cx="918210" cy="478393"/>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Đơn giản, dễ hiểu, nhanh</a:t>
            </a:r>
            <a:endParaRPr lang="en-US" sz="1150" dirty="0"/>
          </a:p>
        </p:txBody>
      </p:sp>
      <p:sp>
        <p:nvSpPr>
          <p:cNvPr id="12" name="Text 10"/>
          <p:cNvSpPr/>
          <p:nvPr/>
        </p:nvSpPr>
        <p:spPr>
          <a:xfrm>
            <a:off x="6792635" y="2397681"/>
            <a:ext cx="922020" cy="1195983"/>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Giả định tuyến tính, không hiệu quả với dữ liệu phức tạp</a:t>
            </a:r>
            <a:endParaRPr lang="en-US" sz="1150" dirty="0"/>
          </a:p>
        </p:txBody>
      </p:sp>
      <p:sp>
        <p:nvSpPr>
          <p:cNvPr id="13" name="Shape 11"/>
          <p:cNvSpPr/>
          <p:nvPr/>
        </p:nvSpPr>
        <p:spPr>
          <a:xfrm>
            <a:off x="743545" y="3672959"/>
            <a:ext cx="7090648" cy="876181"/>
          </a:xfrm>
          <a:prstGeom prst="rect">
            <a:avLst/>
          </a:prstGeom>
          <a:solidFill>
            <a:srgbClr val="000000">
              <a:alpha val="4000"/>
            </a:srgbClr>
          </a:solidFill>
          <a:ln/>
        </p:spPr>
      </p:sp>
      <p:sp>
        <p:nvSpPr>
          <p:cNvPr id="14" name="Text 12"/>
          <p:cNvSpPr/>
          <p:nvPr/>
        </p:nvSpPr>
        <p:spPr>
          <a:xfrm>
            <a:off x="863560" y="3752255"/>
            <a:ext cx="1024176" cy="239197"/>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Random Forest</a:t>
            </a:r>
            <a:endParaRPr lang="en-US" sz="1150" dirty="0"/>
          </a:p>
        </p:txBody>
      </p:sp>
      <p:sp>
        <p:nvSpPr>
          <p:cNvPr id="15" name="Text 13"/>
          <p:cNvSpPr/>
          <p:nvPr/>
        </p:nvSpPr>
        <p:spPr>
          <a:xfrm>
            <a:off x="2134433" y="3752255"/>
            <a:ext cx="917496" cy="239197"/>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0.740</a:t>
            </a:r>
            <a:endParaRPr lang="en-US" sz="1150" dirty="0"/>
          </a:p>
        </p:txBody>
      </p:sp>
      <p:sp>
        <p:nvSpPr>
          <p:cNvPr id="16" name="Text 14"/>
          <p:cNvSpPr/>
          <p:nvPr/>
        </p:nvSpPr>
        <p:spPr>
          <a:xfrm>
            <a:off x="3298627" y="3752255"/>
            <a:ext cx="917496" cy="239197"/>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0.689</a:t>
            </a:r>
            <a:endParaRPr lang="en-US" sz="1150" dirty="0"/>
          </a:p>
        </p:txBody>
      </p:sp>
      <p:sp>
        <p:nvSpPr>
          <p:cNvPr id="17" name="Text 15"/>
          <p:cNvSpPr/>
          <p:nvPr/>
        </p:nvSpPr>
        <p:spPr>
          <a:xfrm>
            <a:off x="4462820" y="3752255"/>
            <a:ext cx="918210" cy="239197"/>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0.808</a:t>
            </a:r>
            <a:endParaRPr lang="en-US" sz="1150" dirty="0"/>
          </a:p>
        </p:txBody>
      </p:sp>
      <p:sp>
        <p:nvSpPr>
          <p:cNvPr id="18" name="Text 16"/>
          <p:cNvSpPr/>
          <p:nvPr/>
        </p:nvSpPr>
        <p:spPr>
          <a:xfrm>
            <a:off x="5627727" y="3752255"/>
            <a:ext cx="918210" cy="717590"/>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Xử lý tốt dữ liệu phức tạp, ít overfitting</a:t>
            </a:r>
            <a:endParaRPr lang="en-US" sz="1150" dirty="0"/>
          </a:p>
        </p:txBody>
      </p:sp>
      <p:sp>
        <p:nvSpPr>
          <p:cNvPr id="19" name="Text 17"/>
          <p:cNvSpPr/>
          <p:nvPr/>
        </p:nvSpPr>
        <p:spPr>
          <a:xfrm>
            <a:off x="6792635" y="3752255"/>
            <a:ext cx="922020" cy="717590"/>
          </a:xfrm>
          <a:prstGeom prst="rect">
            <a:avLst/>
          </a:prstGeom>
          <a:noFill/>
          <a:ln/>
        </p:spPr>
        <p:txBody>
          <a:bodyPr wrap="squar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Tốn tài nguyên, khó giải thích</a:t>
            </a:r>
            <a:endParaRPr lang="en-US" sz="1150" dirty="0"/>
          </a:p>
        </p:txBody>
      </p:sp>
      <p:sp>
        <p:nvSpPr>
          <p:cNvPr id="20" name="Shape 18"/>
          <p:cNvSpPr/>
          <p:nvPr/>
        </p:nvSpPr>
        <p:spPr>
          <a:xfrm>
            <a:off x="743545" y="4549140"/>
            <a:ext cx="7090648" cy="1115378"/>
          </a:xfrm>
          <a:prstGeom prst="rect">
            <a:avLst/>
          </a:prstGeom>
          <a:solidFill>
            <a:srgbClr val="FFFFFF">
              <a:alpha val="4000"/>
            </a:srgbClr>
          </a:solidFill>
          <a:ln/>
        </p:spPr>
      </p:sp>
      <p:sp>
        <p:nvSpPr>
          <p:cNvPr id="21" name="Text 19"/>
          <p:cNvSpPr/>
          <p:nvPr/>
        </p:nvSpPr>
        <p:spPr>
          <a:xfrm>
            <a:off x="863560" y="4628436"/>
            <a:ext cx="1024176" cy="239197"/>
          </a:xfrm>
          <a:prstGeom prst="rect">
            <a:avLst/>
          </a:prstGeom>
          <a:noFill/>
          <a:ln/>
        </p:spPr>
        <p:txBody>
          <a:bodyPr wrap="none" lIns="0" tIns="0" rIns="0" bIns="0" rtlCol="0" anchor="t"/>
          <a:lstStyle/>
          <a:p>
            <a:pPr marL="0" indent="0" algn="l">
              <a:lnSpc>
                <a:spcPts val="1850"/>
              </a:lnSpc>
              <a:buNone/>
            </a:pPr>
            <a:r>
              <a:rPr lang="en-US" sz="1150" b="1" dirty="0">
                <a:solidFill>
                  <a:srgbClr val="3C3939"/>
                </a:solidFill>
                <a:latin typeface="Times New Roman" panose="02020603050405020304" pitchFamily="18" charset="0"/>
                <a:ea typeface="Roboto" pitchFamily="34" charset="-122"/>
                <a:cs typeface="Times New Roman" panose="02020603050405020304" pitchFamily="18" charset="0"/>
              </a:rPr>
              <a:t>XGBoost</a:t>
            </a:r>
            <a:endParaRPr lang="en-US" sz="1150" dirty="0"/>
          </a:p>
        </p:txBody>
      </p:sp>
      <p:sp>
        <p:nvSpPr>
          <p:cNvPr id="22" name="Text 20"/>
          <p:cNvSpPr/>
          <p:nvPr/>
        </p:nvSpPr>
        <p:spPr>
          <a:xfrm>
            <a:off x="2134433" y="4628436"/>
            <a:ext cx="917496" cy="239197"/>
          </a:xfrm>
          <a:prstGeom prst="rect">
            <a:avLst/>
          </a:prstGeom>
          <a:noFill/>
          <a:ln/>
        </p:spPr>
        <p:txBody>
          <a:bodyPr wrap="none" lIns="0" tIns="0" rIns="0" bIns="0" rtlCol="0" anchor="t"/>
          <a:lstStyle/>
          <a:p>
            <a:pPr marL="0" indent="0" algn="l">
              <a:lnSpc>
                <a:spcPts val="1850"/>
              </a:lnSpc>
              <a:buNone/>
            </a:pPr>
            <a:r>
              <a:rPr lang="en-US" sz="1150" dirty="0">
                <a:solidFill>
                  <a:srgbClr val="3C3939"/>
                </a:solidFill>
                <a:latin typeface="Times New Roman" panose="02020603050405020304" pitchFamily="18" charset="0"/>
                <a:ea typeface="Roboto" pitchFamily="34" charset="-122"/>
                <a:cs typeface="Times New Roman" panose="02020603050405020304" pitchFamily="18" charset="0"/>
              </a:rPr>
              <a:t>0.747</a:t>
            </a:r>
            <a:endParaRPr lang="en-US" sz="1150" dirty="0"/>
          </a:p>
        </p:txBody>
      </p:sp>
      <p:sp>
        <p:nvSpPr>
          <p:cNvPr id="23" name="Text 21"/>
          <p:cNvSpPr/>
          <p:nvPr/>
        </p:nvSpPr>
        <p:spPr>
          <a:xfrm>
            <a:off x="3298627" y="4628436"/>
            <a:ext cx="917496" cy="239197"/>
          </a:xfrm>
          <a:prstGeom prst="rect">
            <a:avLst/>
          </a:prstGeom>
          <a:noFill/>
          <a:ln/>
        </p:spPr>
        <p:txBody>
          <a:bodyPr wrap="none" lIns="0" tIns="0" rIns="0" bIns="0" rtlCol="0" anchor="t"/>
          <a:lstStyle/>
          <a:p>
            <a:pPr marL="0" indent="0" algn="l">
              <a:lnSpc>
                <a:spcPts val="1850"/>
              </a:lnSpc>
              <a:buNone/>
            </a:pPr>
            <a:r>
              <a:rPr lang="en-US" sz="1150" b="1" dirty="0">
                <a:solidFill>
                  <a:srgbClr val="3C3939"/>
                </a:solidFill>
                <a:latin typeface="Times New Roman" panose="02020603050405020304" pitchFamily="18" charset="0"/>
                <a:ea typeface="Roboto" pitchFamily="34" charset="-122"/>
                <a:cs typeface="Times New Roman" panose="02020603050405020304" pitchFamily="18" charset="0"/>
              </a:rPr>
              <a:t>0.697</a:t>
            </a:r>
            <a:endParaRPr lang="en-US" sz="1150" dirty="0"/>
          </a:p>
        </p:txBody>
      </p:sp>
      <p:sp>
        <p:nvSpPr>
          <p:cNvPr id="24" name="Text 22"/>
          <p:cNvSpPr/>
          <p:nvPr/>
        </p:nvSpPr>
        <p:spPr>
          <a:xfrm>
            <a:off x="4462820" y="4628436"/>
            <a:ext cx="918210" cy="239197"/>
          </a:xfrm>
          <a:prstGeom prst="rect">
            <a:avLst/>
          </a:prstGeom>
          <a:noFill/>
          <a:ln/>
        </p:spPr>
        <p:txBody>
          <a:bodyPr wrap="none" lIns="0" tIns="0" rIns="0" bIns="0" rtlCol="0" anchor="t"/>
          <a:lstStyle/>
          <a:p>
            <a:pPr marL="0" indent="0" algn="l">
              <a:lnSpc>
                <a:spcPts val="1850"/>
              </a:lnSpc>
              <a:buNone/>
            </a:pPr>
            <a:r>
              <a:rPr lang="en-US" sz="1150" b="1" dirty="0">
                <a:solidFill>
                  <a:srgbClr val="3C3939"/>
                </a:solidFill>
                <a:latin typeface="Times New Roman" panose="02020603050405020304" pitchFamily="18" charset="0"/>
                <a:ea typeface="Roboto" pitchFamily="34" charset="-122"/>
                <a:cs typeface="Times New Roman" panose="02020603050405020304" pitchFamily="18" charset="0"/>
              </a:rPr>
              <a:t>0.820</a:t>
            </a:r>
            <a:endParaRPr lang="en-US" sz="1150" dirty="0"/>
          </a:p>
        </p:txBody>
      </p:sp>
      <p:sp>
        <p:nvSpPr>
          <p:cNvPr id="25" name="Text 23"/>
          <p:cNvSpPr/>
          <p:nvPr/>
        </p:nvSpPr>
        <p:spPr>
          <a:xfrm>
            <a:off x="5627727" y="4628436"/>
            <a:ext cx="918210" cy="956786"/>
          </a:xfrm>
          <a:prstGeom prst="rect">
            <a:avLst/>
          </a:prstGeom>
          <a:noFill/>
          <a:ln/>
        </p:spPr>
        <p:txBody>
          <a:bodyPr wrap="square" lIns="0" tIns="0" rIns="0" bIns="0" rtlCol="0" anchor="t"/>
          <a:lstStyle/>
          <a:p>
            <a:pPr marL="0" indent="0" algn="l">
              <a:lnSpc>
                <a:spcPts val="1850"/>
              </a:lnSpc>
              <a:buNone/>
            </a:pPr>
            <a:r>
              <a:rPr lang="en-US" sz="1150" b="1" dirty="0">
                <a:solidFill>
                  <a:srgbClr val="3C3939"/>
                </a:solidFill>
                <a:latin typeface="Times New Roman" panose="02020603050405020304" pitchFamily="18" charset="0"/>
                <a:ea typeface="Roboto" pitchFamily="34" charset="-122"/>
                <a:cs typeface="Times New Roman" panose="02020603050405020304" pitchFamily="18" charset="0"/>
              </a:rPr>
              <a:t>Hiệu suất cao, mạnh mẽ, xử lý dữ liệu nhiễu tốt</a:t>
            </a:r>
            <a:endParaRPr lang="en-US" sz="1150" dirty="0"/>
          </a:p>
        </p:txBody>
      </p:sp>
      <p:sp>
        <p:nvSpPr>
          <p:cNvPr id="26" name="Text 24"/>
          <p:cNvSpPr/>
          <p:nvPr/>
        </p:nvSpPr>
        <p:spPr>
          <a:xfrm>
            <a:off x="6792635" y="4628436"/>
            <a:ext cx="922020" cy="717590"/>
          </a:xfrm>
          <a:prstGeom prst="rect">
            <a:avLst/>
          </a:prstGeom>
          <a:noFill/>
          <a:ln/>
        </p:spPr>
        <p:txBody>
          <a:bodyPr wrap="square" lIns="0" tIns="0" rIns="0" bIns="0" rtlCol="0" anchor="t"/>
          <a:lstStyle/>
          <a:p>
            <a:pPr marL="0" indent="0" algn="l">
              <a:lnSpc>
                <a:spcPts val="1850"/>
              </a:lnSpc>
              <a:buNone/>
            </a:pPr>
            <a:r>
              <a:rPr lang="en-US" sz="1150" b="1" dirty="0">
                <a:solidFill>
                  <a:srgbClr val="3C3939"/>
                </a:solidFill>
                <a:latin typeface="Times New Roman" panose="02020603050405020304" pitchFamily="18" charset="0"/>
                <a:ea typeface="Roboto" pitchFamily="34" charset="-122"/>
                <a:cs typeface="Times New Roman" panose="02020603050405020304" pitchFamily="18" charset="0"/>
              </a:rPr>
              <a:t>Tốn tài nguyên, phức tạp tinh chỉnh</a:t>
            </a:r>
            <a:endParaRPr lang="en-US" sz="1150" dirty="0"/>
          </a:p>
        </p:txBody>
      </p:sp>
      <p:sp>
        <p:nvSpPr>
          <p:cNvPr id="27" name="Text 25"/>
          <p:cNvSpPr/>
          <p:nvPr/>
        </p:nvSpPr>
        <p:spPr>
          <a:xfrm>
            <a:off x="8141137" y="1989296"/>
            <a:ext cx="1494830" cy="186928"/>
          </a:xfrm>
          <a:prstGeom prst="rect">
            <a:avLst/>
          </a:prstGeom>
          <a:noFill/>
          <a:ln/>
        </p:spPr>
        <p:txBody>
          <a:bodyPr wrap="none" lIns="0" tIns="0" rIns="0" bIns="0" rtlCol="0" anchor="t"/>
          <a:lstStyle/>
          <a:p>
            <a:pPr marL="0" indent="0" algn="l">
              <a:lnSpc>
                <a:spcPts val="1450"/>
              </a:lnSpc>
              <a:buNone/>
            </a:pPr>
            <a:r>
              <a:rPr lang="en-US" sz="1150" dirty="0">
                <a:solidFill>
                  <a:srgbClr val="1B1B27"/>
                </a:solidFill>
                <a:latin typeface="Times New Roman" panose="02020603050405020304" pitchFamily="18" charset="0"/>
                <a:ea typeface="Raleway" pitchFamily="34" charset="-122"/>
                <a:cs typeface="Times New Roman" panose="02020603050405020304" pitchFamily="18" charset="0"/>
              </a:rPr>
              <a:t>Hiệu suất mô hình</a:t>
            </a:r>
            <a:endParaRPr lang="en-US" sz="1150" dirty="0"/>
          </a:p>
        </p:txBody>
      </p:sp>
      <p:pic>
        <p:nvPicPr>
          <p:cNvPr id="28" name="Image 0" descr="preencoded.png"/>
          <p:cNvPicPr>
            <a:picLocks noChangeAspect="1"/>
          </p:cNvPicPr>
          <p:nvPr/>
        </p:nvPicPr>
        <p:blipFill>
          <a:blip r:embed="rId3"/>
          <a:stretch>
            <a:fillRect/>
          </a:stretch>
        </p:blipFill>
        <p:spPr>
          <a:xfrm>
            <a:off x="8397002" y="2310765"/>
            <a:ext cx="5249108" cy="3145631"/>
          </a:xfrm>
          <a:prstGeom prst="rect">
            <a:avLst/>
          </a:prstGeom>
        </p:spPr>
      </p:pic>
      <p:sp>
        <p:nvSpPr>
          <p:cNvPr id="29" name="Shape 26"/>
          <p:cNvSpPr/>
          <p:nvPr/>
        </p:nvSpPr>
        <p:spPr>
          <a:xfrm>
            <a:off x="9373195" y="5456396"/>
            <a:ext cx="119539" cy="119539"/>
          </a:xfrm>
          <a:prstGeom prst="roundRect">
            <a:avLst>
              <a:gd name="adj" fmla="val 15299"/>
            </a:avLst>
          </a:prstGeom>
          <a:solidFill>
            <a:srgbClr val="1F1F2D"/>
          </a:solidFill>
          <a:ln/>
        </p:spPr>
      </p:sp>
      <p:sp>
        <p:nvSpPr>
          <p:cNvPr id="30" name="Text 27"/>
          <p:cNvSpPr/>
          <p:nvPr/>
        </p:nvSpPr>
        <p:spPr>
          <a:xfrm>
            <a:off x="9553694" y="5456396"/>
            <a:ext cx="491371" cy="119539"/>
          </a:xfrm>
          <a:prstGeom prst="rect">
            <a:avLst/>
          </a:prstGeom>
          <a:noFill/>
          <a:ln/>
        </p:spPr>
        <p:txBody>
          <a:bodyPr wrap="none" lIns="0" tIns="0" rIns="0" bIns="0" rtlCol="0" anchor="t"/>
          <a:lstStyle/>
          <a:p>
            <a:pPr marL="0" indent="0" algn="l">
              <a:lnSpc>
                <a:spcPts val="900"/>
              </a:lnSpc>
              <a:buNone/>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Accuracy</a:t>
            </a:r>
            <a:endParaRPr lang="en-US" sz="900" dirty="0"/>
          </a:p>
        </p:txBody>
      </p:sp>
      <p:sp>
        <p:nvSpPr>
          <p:cNvPr id="31" name="Shape 28"/>
          <p:cNvSpPr/>
          <p:nvPr/>
        </p:nvSpPr>
        <p:spPr>
          <a:xfrm>
            <a:off x="10695742" y="5456396"/>
            <a:ext cx="119539" cy="119539"/>
          </a:xfrm>
          <a:prstGeom prst="roundRect">
            <a:avLst>
              <a:gd name="adj" fmla="val 15299"/>
            </a:avLst>
          </a:prstGeom>
          <a:solidFill>
            <a:srgbClr val="40405C"/>
          </a:solidFill>
          <a:ln/>
        </p:spPr>
      </p:sp>
      <p:sp>
        <p:nvSpPr>
          <p:cNvPr id="32" name="Text 29"/>
          <p:cNvSpPr/>
          <p:nvPr/>
        </p:nvSpPr>
        <p:spPr>
          <a:xfrm>
            <a:off x="10876240" y="5456396"/>
            <a:ext cx="470892" cy="119539"/>
          </a:xfrm>
          <a:prstGeom prst="rect">
            <a:avLst/>
          </a:prstGeom>
          <a:noFill/>
          <a:ln/>
        </p:spPr>
        <p:txBody>
          <a:bodyPr wrap="none" lIns="0" tIns="0" rIns="0" bIns="0" rtlCol="0" anchor="t"/>
          <a:lstStyle/>
          <a:p>
            <a:pPr marL="0" indent="0" algn="l">
              <a:lnSpc>
                <a:spcPts val="900"/>
              </a:lnSpc>
              <a:buNone/>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F1-Score</a:t>
            </a:r>
            <a:endParaRPr lang="en-US" sz="900" dirty="0"/>
          </a:p>
        </p:txBody>
      </p:sp>
      <p:sp>
        <p:nvSpPr>
          <p:cNvPr id="33" name="Shape 30"/>
          <p:cNvSpPr/>
          <p:nvPr/>
        </p:nvSpPr>
        <p:spPr>
          <a:xfrm>
            <a:off x="11997928" y="5456396"/>
            <a:ext cx="119539" cy="119539"/>
          </a:xfrm>
          <a:prstGeom prst="roundRect">
            <a:avLst>
              <a:gd name="adj" fmla="val 15299"/>
            </a:avLst>
          </a:prstGeom>
          <a:solidFill>
            <a:srgbClr val="61618C"/>
          </a:solidFill>
          <a:ln/>
        </p:spPr>
      </p:sp>
      <p:sp>
        <p:nvSpPr>
          <p:cNvPr id="34" name="Text 31"/>
          <p:cNvSpPr/>
          <p:nvPr/>
        </p:nvSpPr>
        <p:spPr>
          <a:xfrm>
            <a:off x="12178427" y="5456396"/>
            <a:ext cx="499110" cy="119539"/>
          </a:xfrm>
          <a:prstGeom prst="rect">
            <a:avLst/>
          </a:prstGeom>
          <a:noFill/>
          <a:ln/>
        </p:spPr>
        <p:txBody>
          <a:bodyPr wrap="none" lIns="0" tIns="0" rIns="0" bIns="0" rtlCol="0" anchor="t"/>
          <a:lstStyle/>
          <a:p>
            <a:pPr marL="0" indent="0" algn="l">
              <a:lnSpc>
                <a:spcPts val="900"/>
              </a:lnSpc>
              <a:buNone/>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ROC-AUC</a:t>
            </a:r>
            <a:endParaRPr lang="en-US" sz="900" dirty="0"/>
          </a:p>
        </p:txBody>
      </p:sp>
      <p:sp>
        <p:nvSpPr>
          <p:cNvPr id="35" name="Text 32"/>
          <p:cNvSpPr/>
          <p:nvPr/>
        </p:nvSpPr>
        <p:spPr>
          <a:xfrm>
            <a:off x="735925" y="6129099"/>
            <a:ext cx="13158549" cy="373856"/>
          </a:xfrm>
          <a:prstGeom prst="rect">
            <a:avLst/>
          </a:prstGeom>
          <a:noFill/>
          <a:ln/>
        </p:spPr>
        <p:txBody>
          <a:bodyPr wrap="square" lIns="0" tIns="0" rIns="0" bIns="0" rtlCol="0" anchor="t"/>
          <a:lstStyle/>
          <a:p>
            <a:pPr marL="0" indent="0" algn="l">
              <a:lnSpc>
                <a:spcPts val="1450"/>
              </a:lnSpc>
              <a:buNone/>
            </a:pPr>
            <a:r>
              <a:rPr lang="en-US" sz="1150" b="1" dirty="0">
                <a:solidFill>
                  <a:srgbClr val="1B1B27"/>
                </a:solidFill>
                <a:latin typeface="Times New Roman" panose="02020603050405020304" pitchFamily="18" charset="0"/>
                <a:ea typeface="Raleway" pitchFamily="34" charset="-122"/>
                <a:cs typeface="Times New Roman" panose="02020603050405020304" pitchFamily="18" charset="0"/>
              </a:rPr>
              <a:t>Tổng quan so sánh:</a:t>
            </a:r>
            <a:r>
              <a:rPr lang="en-US" sz="1150" dirty="0">
                <a:solidFill>
                  <a:srgbClr val="1B1B27"/>
                </a:solidFill>
                <a:latin typeface="Times New Roman" panose="02020603050405020304" pitchFamily="18" charset="0"/>
                <a:ea typeface="Raleway" pitchFamily="34" charset="-122"/>
                <a:cs typeface="Times New Roman" panose="02020603050405020304" pitchFamily="18" charset="0"/>
              </a:rPr>
              <a:t> Các mô hình đều cho thấy khả năng dự đoán bệnh tiểu đường. Logistic Regression có Accuracy cao nhất nhưng F1-Score và ROC-AUC của XGBoost vượt trội hơn, cho thấy sự cân bằng tốt hơn giữa Precision và Recall.</a:t>
            </a:r>
            <a:endParaRPr lang="en-US" sz="1150" dirty="0"/>
          </a:p>
        </p:txBody>
      </p:sp>
      <p:sp>
        <p:nvSpPr>
          <p:cNvPr id="36" name="Text 33"/>
          <p:cNvSpPr/>
          <p:nvPr/>
        </p:nvSpPr>
        <p:spPr>
          <a:xfrm>
            <a:off x="735925" y="6550700"/>
            <a:ext cx="13158549" cy="373856"/>
          </a:xfrm>
          <a:prstGeom prst="rect">
            <a:avLst/>
          </a:prstGeom>
          <a:noFill/>
          <a:ln/>
        </p:spPr>
        <p:txBody>
          <a:bodyPr wrap="square" lIns="0" tIns="0" rIns="0" bIns="0" rtlCol="0" anchor="t"/>
          <a:lstStyle/>
          <a:p>
            <a:pPr marL="0" indent="0" algn="l">
              <a:lnSpc>
                <a:spcPts val="1450"/>
              </a:lnSpc>
              <a:buNone/>
            </a:pPr>
            <a:r>
              <a:rPr lang="en-US" sz="1150" b="1" dirty="0">
                <a:solidFill>
                  <a:srgbClr val="1B1B27"/>
                </a:solidFill>
                <a:latin typeface="Times New Roman" panose="02020603050405020304" pitchFamily="18" charset="0"/>
                <a:ea typeface="Raleway" pitchFamily="34" charset="-122"/>
                <a:cs typeface="Times New Roman" panose="02020603050405020304" pitchFamily="18" charset="0"/>
              </a:rPr>
              <a:t>Tại sao XGBoost tốt nhất:</a:t>
            </a:r>
            <a:r>
              <a:rPr lang="en-US" sz="1150" dirty="0">
                <a:solidFill>
                  <a:srgbClr val="1B1B27"/>
                </a:solidFill>
                <a:latin typeface="Times New Roman" panose="02020603050405020304" pitchFamily="18" charset="0"/>
                <a:ea typeface="Raleway" pitchFamily="34" charset="-122"/>
                <a:cs typeface="Times New Roman" panose="02020603050405020304" pitchFamily="18" charset="0"/>
              </a:rPr>
              <a:t> Mặc dù Logistic Regression có vẻ tốt hơn về Accuracy, nhưng XGBoost đạt được F1-Score và ROC-AUC cao nhất, đây là các metrics quan trọng hơn trong các bài toán chẩn đoán y tế, nơi chi phí của False Negative (bỏ sót bệnh) là rất lớn. XGBoost nổi bật nhờ khả năng xử lý các mối quan hệ phi tuyến tính và khả năng tổng quát hóa tốt.</a:t>
            </a:r>
            <a:endParaRPr lang="en-US" sz="1150" dirty="0"/>
          </a:p>
        </p:txBody>
      </p:sp>
      <p:sp>
        <p:nvSpPr>
          <p:cNvPr id="37" name="Text 34"/>
          <p:cNvSpPr/>
          <p:nvPr/>
        </p:nvSpPr>
        <p:spPr>
          <a:xfrm>
            <a:off x="735925" y="6972300"/>
            <a:ext cx="13158549" cy="373856"/>
          </a:xfrm>
          <a:prstGeom prst="rect">
            <a:avLst/>
          </a:prstGeom>
          <a:noFill/>
          <a:ln/>
        </p:spPr>
        <p:txBody>
          <a:bodyPr wrap="square" lIns="0" tIns="0" rIns="0" bIns="0" rtlCol="0" anchor="t"/>
          <a:lstStyle/>
          <a:p>
            <a:pPr marL="0" indent="0" algn="l">
              <a:lnSpc>
                <a:spcPts val="1450"/>
              </a:lnSpc>
              <a:buNone/>
            </a:pPr>
            <a:r>
              <a:rPr lang="en-US" sz="1150" b="1" dirty="0">
                <a:solidFill>
                  <a:srgbClr val="1B1B27"/>
                </a:solidFill>
                <a:latin typeface="Times New Roman" panose="02020603050405020304" pitchFamily="18" charset="0"/>
                <a:ea typeface="Raleway" pitchFamily="34" charset="-122"/>
                <a:cs typeface="Times New Roman" panose="02020603050405020304" pitchFamily="18" charset="0"/>
              </a:rPr>
              <a:t>Kết luận:</a:t>
            </a:r>
            <a:r>
              <a:rPr lang="en-US" sz="1150" dirty="0">
                <a:solidFill>
                  <a:srgbClr val="1B1B27"/>
                </a:solidFill>
                <a:latin typeface="Times New Roman" panose="02020603050405020304" pitchFamily="18" charset="0"/>
                <a:ea typeface="Raleway" pitchFamily="34" charset="-122"/>
                <a:cs typeface="Times New Roman" panose="02020603050405020304" pitchFamily="18" charset="0"/>
              </a:rPr>
              <a:t> Sức mạnh của thuật toán boosting như </a:t>
            </a:r>
            <a:r>
              <a:rPr lang="en-US" sz="1150" b="1" dirty="0">
                <a:solidFill>
                  <a:srgbClr val="1B1B27"/>
                </a:solidFill>
                <a:latin typeface="Times New Roman" panose="02020603050405020304" pitchFamily="18" charset="0"/>
                <a:ea typeface="Raleway" pitchFamily="34" charset="-122"/>
                <a:cs typeface="Times New Roman" panose="02020603050405020304" pitchFamily="18" charset="0"/>
              </a:rPr>
              <a:t>XGBoost </a:t>
            </a:r>
            <a:r>
              <a:rPr lang="en-US" sz="1150" dirty="0">
                <a:solidFill>
                  <a:srgbClr val="1B1B27"/>
                </a:solidFill>
                <a:latin typeface="Times New Roman" panose="02020603050405020304" pitchFamily="18" charset="0"/>
                <a:ea typeface="Raleway" pitchFamily="34" charset="-122"/>
                <a:cs typeface="Times New Roman" panose="02020603050405020304" pitchFamily="18" charset="0"/>
              </a:rPr>
              <a:t>nằm ở khả năng kết hợp nhiều "học viên yếu" để tạo thành một "học viên mạnh", mang lại hiệu suất vượt trội và sự cân bằng trong các metrics quan trọng.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568166"/>
            <a:ext cx="3225165" cy="403146"/>
          </a:xfrm>
          <a:prstGeom prst="rect">
            <a:avLst/>
          </a:prstGeom>
          <a:noFill/>
          <a:ln/>
        </p:spPr>
        <p:txBody>
          <a:bodyPr wrap="none" lIns="0" tIns="0" rIns="0" bIns="0" rtlCol="0" anchor="t"/>
          <a:lstStyle/>
          <a:p>
            <a:pPr marL="0" indent="0" algn="l">
              <a:lnSpc>
                <a:spcPts val="3150"/>
              </a:lnSpc>
              <a:buNone/>
            </a:pPr>
            <a:r>
              <a:rPr lang="en-US" sz="2500" b="1" dirty="0">
                <a:solidFill>
                  <a:srgbClr val="1B1B27"/>
                </a:solidFill>
                <a:latin typeface="Times New Roman" panose="02020603050405020304" pitchFamily="18" charset="0"/>
                <a:ea typeface="Raleway" pitchFamily="34" charset="-122"/>
                <a:cs typeface="Times New Roman" panose="02020603050405020304" pitchFamily="18" charset="0"/>
              </a:rPr>
              <a:t>MÔ HÌNH XGBOOST</a:t>
            </a:r>
            <a:endParaRPr lang="en-US" sz="2500" dirty="0"/>
          </a:p>
        </p:txBody>
      </p:sp>
      <p:sp>
        <p:nvSpPr>
          <p:cNvPr id="3" name="Text 1"/>
          <p:cNvSpPr/>
          <p:nvPr/>
        </p:nvSpPr>
        <p:spPr>
          <a:xfrm>
            <a:off x="793790" y="1022866"/>
            <a:ext cx="13042821" cy="402908"/>
          </a:xfrm>
          <a:prstGeom prst="rect">
            <a:avLst/>
          </a:prstGeom>
          <a:noFill/>
          <a:ln/>
        </p:spPr>
        <p:txBody>
          <a:bodyPr wrap="squar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Trong ba mô hình được so sánh (Logistic Regression, Random Forest, XGBoost), mô hình XGBoost cho kết quả đánh giá cao nhất nhờ khả năng học sâu từ sai số của các cây trước.</a:t>
            </a:r>
            <a:endParaRPr lang="en-US" sz="1250" dirty="0"/>
          </a:p>
        </p:txBody>
      </p:sp>
      <p:sp>
        <p:nvSpPr>
          <p:cNvPr id="4" name="Text 2"/>
          <p:cNvSpPr/>
          <p:nvPr/>
        </p:nvSpPr>
        <p:spPr>
          <a:xfrm>
            <a:off x="793790" y="1748195"/>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Metrics Chính</a:t>
            </a:r>
            <a:endParaRPr lang="en-US" sz="1250" dirty="0"/>
          </a:p>
        </p:txBody>
      </p:sp>
      <p:sp>
        <p:nvSpPr>
          <p:cNvPr id="5" name="Text 3"/>
          <p:cNvSpPr/>
          <p:nvPr/>
        </p:nvSpPr>
        <p:spPr>
          <a:xfrm>
            <a:off x="793790" y="2159079"/>
            <a:ext cx="3101459" cy="425648"/>
          </a:xfrm>
          <a:prstGeom prst="rect">
            <a:avLst/>
          </a:prstGeom>
          <a:noFill/>
          <a:ln/>
        </p:spPr>
        <p:txBody>
          <a:bodyPr wrap="none" lIns="0" tIns="0" rIns="0" bIns="0" rtlCol="0" anchor="t"/>
          <a:lstStyle/>
          <a:p>
            <a:pPr marL="0" indent="0" algn="ctr">
              <a:lnSpc>
                <a:spcPts val="3350"/>
              </a:lnSpc>
              <a:buNone/>
            </a:pPr>
            <a:r>
              <a:rPr lang="en-US" sz="3350" dirty="0">
                <a:solidFill>
                  <a:srgbClr val="3C3939"/>
                </a:solidFill>
                <a:latin typeface="Times New Roman" panose="02020603050405020304" pitchFamily="18" charset="0"/>
                <a:ea typeface="Raleway" pitchFamily="34" charset="-122"/>
                <a:cs typeface="Times New Roman" panose="02020603050405020304" pitchFamily="18" charset="0"/>
              </a:rPr>
              <a:t>0.7468</a:t>
            </a:r>
            <a:endParaRPr lang="en-US" sz="3350" dirty="0"/>
          </a:p>
        </p:txBody>
      </p:sp>
      <p:sp>
        <p:nvSpPr>
          <p:cNvPr id="6" name="Text 4"/>
          <p:cNvSpPr/>
          <p:nvPr/>
        </p:nvSpPr>
        <p:spPr>
          <a:xfrm>
            <a:off x="793790" y="2745819"/>
            <a:ext cx="3101459" cy="206454"/>
          </a:xfrm>
          <a:prstGeom prst="rect">
            <a:avLst/>
          </a:prstGeom>
          <a:noFill/>
          <a:ln/>
        </p:spPr>
        <p:txBody>
          <a:bodyPr wrap="none" lIns="0" tIns="0" rIns="0" bIns="0" rtlCol="0" anchor="t"/>
          <a:lstStyle/>
          <a:p>
            <a:pPr marL="0" indent="0" algn="ctr">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Accuracy</a:t>
            </a:r>
            <a:endParaRPr lang="en-US" sz="1000" dirty="0"/>
          </a:p>
        </p:txBody>
      </p:sp>
      <p:sp>
        <p:nvSpPr>
          <p:cNvPr id="7" name="Text 5"/>
          <p:cNvSpPr/>
          <p:nvPr/>
        </p:nvSpPr>
        <p:spPr>
          <a:xfrm>
            <a:off x="4056459" y="2159079"/>
            <a:ext cx="3101459" cy="425648"/>
          </a:xfrm>
          <a:prstGeom prst="rect">
            <a:avLst/>
          </a:prstGeom>
          <a:noFill/>
          <a:ln/>
        </p:spPr>
        <p:txBody>
          <a:bodyPr wrap="none" lIns="0" tIns="0" rIns="0" bIns="0" rtlCol="0" anchor="t"/>
          <a:lstStyle/>
          <a:p>
            <a:pPr marL="0" indent="0" algn="ctr">
              <a:lnSpc>
                <a:spcPts val="3350"/>
              </a:lnSpc>
              <a:buNone/>
            </a:pPr>
            <a:r>
              <a:rPr lang="en-US" sz="3350" dirty="0">
                <a:solidFill>
                  <a:srgbClr val="3C3939"/>
                </a:solidFill>
                <a:latin typeface="Times New Roman" panose="02020603050405020304" pitchFamily="18" charset="0"/>
                <a:ea typeface="Raleway" pitchFamily="34" charset="-122"/>
                <a:cs typeface="Times New Roman" panose="02020603050405020304" pitchFamily="18" charset="0"/>
              </a:rPr>
              <a:t>0.8204</a:t>
            </a:r>
            <a:endParaRPr lang="en-US" sz="3350" dirty="0"/>
          </a:p>
        </p:txBody>
      </p:sp>
      <p:sp>
        <p:nvSpPr>
          <p:cNvPr id="8" name="Text 6"/>
          <p:cNvSpPr/>
          <p:nvPr/>
        </p:nvSpPr>
        <p:spPr>
          <a:xfrm>
            <a:off x="4056459" y="2745819"/>
            <a:ext cx="3101459" cy="206454"/>
          </a:xfrm>
          <a:prstGeom prst="rect">
            <a:avLst/>
          </a:prstGeom>
          <a:noFill/>
          <a:ln/>
        </p:spPr>
        <p:txBody>
          <a:bodyPr wrap="none" lIns="0" tIns="0" rIns="0" bIns="0" rtlCol="0" anchor="t"/>
          <a:lstStyle/>
          <a:p>
            <a:pPr marL="0" indent="0" algn="ctr">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ROC-AUC</a:t>
            </a:r>
            <a:endParaRPr lang="en-US" sz="1000" dirty="0"/>
          </a:p>
        </p:txBody>
      </p:sp>
      <p:sp>
        <p:nvSpPr>
          <p:cNvPr id="9" name="Text 7"/>
          <p:cNvSpPr/>
          <p:nvPr/>
        </p:nvSpPr>
        <p:spPr>
          <a:xfrm>
            <a:off x="793790" y="3097292"/>
            <a:ext cx="6364129" cy="515779"/>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Times New Roman" panose="02020603050405020304" pitchFamily="18" charset="0"/>
                <a:ea typeface="Roboto" pitchFamily="34" charset="-122"/>
                <a:cs typeface="Times New Roman" panose="02020603050405020304" pitchFamily="18" charset="0"/>
              </a:rPr>
              <a:t>Mức ROC-AUC </a:t>
            </a:r>
            <a:r>
              <a:rPr lang="en-US" sz="1250" b="1" dirty="0">
                <a:solidFill>
                  <a:srgbClr val="3C3939"/>
                </a:solidFill>
                <a:latin typeface="Times New Roman" panose="02020603050405020304" pitchFamily="18" charset="0"/>
                <a:ea typeface="Roboto" pitchFamily="34" charset="-122"/>
                <a:cs typeface="Times New Roman" panose="02020603050405020304" pitchFamily="18" charset="0"/>
              </a:rPr>
              <a:t>vượt 0.8</a:t>
            </a:r>
            <a:r>
              <a:rPr lang="en-US" sz="1250" dirty="0">
                <a:solidFill>
                  <a:srgbClr val="3C3939"/>
                </a:solidFill>
                <a:latin typeface="Times New Roman" panose="02020603050405020304" pitchFamily="18" charset="0"/>
                <a:ea typeface="Roboto" pitchFamily="34" charset="-122"/>
                <a:cs typeface="Times New Roman" panose="02020603050405020304" pitchFamily="18" charset="0"/>
              </a:rPr>
              <a:t> cho thấy mô hình đạt chất lượng rất tốt trong việc phân biệt hai lớp (mắc/không mắc bệnh).</a:t>
            </a:r>
            <a:endParaRPr lang="en-US" sz="1250" dirty="0"/>
          </a:p>
        </p:txBody>
      </p:sp>
      <p:sp>
        <p:nvSpPr>
          <p:cNvPr id="10" name="Text 8"/>
          <p:cNvSpPr/>
          <p:nvPr/>
        </p:nvSpPr>
        <p:spPr>
          <a:xfrm>
            <a:off x="793790" y="3742015"/>
            <a:ext cx="1612583" cy="201454"/>
          </a:xfrm>
          <a:prstGeom prst="rect">
            <a:avLst/>
          </a:prstGeom>
          <a:noFill/>
          <a:ln/>
        </p:spPr>
        <p:txBody>
          <a:bodyPr wrap="non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Confusion Matrix</a:t>
            </a:r>
            <a:endParaRPr lang="en-US" sz="1250" dirty="0"/>
          </a:p>
        </p:txBody>
      </p:sp>
      <p:pic>
        <p:nvPicPr>
          <p:cNvPr id="11" name="Image 0" descr="preencoded.png"/>
          <p:cNvPicPr>
            <a:picLocks noChangeAspect="1"/>
          </p:cNvPicPr>
          <p:nvPr/>
        </p:nvPicPr>
        <p:blipFill>
          <a:blip r:embed="rId3"/>
          <a:stretch>
            <a:fillRect/>
          </a:stretch>
        </p:blipFill>
        <p:spPr>
          <a:xfrm>
            <a:off x="1907500" y="4088487"/>
            <a:ext cx="4136588" cy="3427928"/>
          </a:xfrm>
          <a:prstGeom prst="rect">
            <a:avLst/>
          </a:prstGeom>
        </p:spPr>
      </p:pic>
      <p:sp>
        <p:nvSpPr>
          <p:cNvPr id="12" name="Text 9"/>
          <p:cNvSpPr/>
          <p:nvPr/>
        </p:nvSpPr>
        <p:spPr>
          <a:xfrm>
            <a:off x="7480102" y="1748195"/>
            <a:ext cx="2264569" cy="201454"/>
          </a:xfrm>
          <a:prstGeom prst="rect">
            <a:avLst/>
          </a:prstGeom>
          <a:noFill/>
          <a:ln/>
        </p:spPr>
        <p:txBody>
          <a:bodyPr wrap="none" lIns="0" tIns="0" rIns="0" bIns="0" rtlCol="0" anchor="t"/>
          <a:lstStyle/>
          <a:p>
            <a:pPr marL="0" indent="0" algn="l">
              <a:lnSpc>
                <a:spcPts val="1550"/>
              </a:lnSpc>
              <a:buNone/>
            </a:pPr>
            <a:r>
              <a:rPr lang="en-US" sz="1250" dirty="0">
                <a:solidFill>
                  <a:srgbClr val="1B1B27"/>
                </a:solidFill>
                <a:latin typeface="Times New Roman" panose="02020603050405020304" pitchFamily="18" charset="0"/>
                <a:ea typeface="Raleway" pitchFamily="34" charset="-122"/>
                <a:cs typeface="Times New Roman" panose="02020603050405020304" pitchFamily="18" charset="0"/>
              </a:rPr>
              <a:t>Đường Cong ROC (ROC Curve)</a:t>
            </a:r>
            <a:endParaRPr lang="en-US" sz="1250" dirty="0"/>
          </a:p>
        </p:txBody>
      </p:sp>
      <p:pic>
        <p:nvPicPr>
          <p:cNvPr id="13" name="Image 1" descr="preencoded.png"/>
          <p:cNvPicPr>
            <a:picLocks noChangeAspect="1"/>
          </p:cNvPicPr>
          <p:nvPr/>
        </p:nvPicPr>
        <p:blipFill>
          <a:blip r:embed="rId4"/>
          <a:stretch>
            <a:fillRect/>
          </a:stretch>
        </p:blipFill>
        <p:spPr>
          <a:xfrm>
            <a:off x="8603933" y="2094667"/>
            <a:ext cx="4116467" cy="2880836"/>
          </a:xfrm>
          <a:prstGeom prst="rect">
            <a:avLst/>
          </a:prstGeom>
        </p:spPr>
      </p:pic>
      <p:sp>
        <p:nvSpPr>
          <p:cNvPr id="14" name="Text 10"/>
          <p:cNvSpPr/>
          <p:nvPr/>
        </p:nvSpPr>
        <p:spPr>
          <a:xfrm>
            <a:off x="7480102" y="5120521"/>
            <a:ext cx="6364129" cy="206454"/>
          </a:xfrm>
          <a:prstGeom prst="rect">
            <a:avLst/>
          </a:prstGeom>
          <a:noFill/>
          <a:ln/>
        </p:spPr>
        <p:txBody>
          <a:bodyPr wrap="none" lIns="0" tIns="0" rIns="0" bIns="0" rtlCol="0" anchor="t"/>
          <a:lstStyle/>
          <a:p>
            <a:pPr marL="0" indent="0" algn="l">
              <a:lnSpc>
                <a:spcPts val="1600"/>
              </a:lnSpc>
              <a:buNone/>
            </a:pPr>
            <a:endParaRPr lang="en-US" sz="1000" dirty="0"/>
          </a:p>
        </p:txBody>
      </p:sp>
      <p:sp>
        <p:nvSpPr>
          <p:cNvPr id="15" name="Text 11"/>
          <p:cNvSpPr/>
          <p:nvPr/>
        </p:nvSpPr>
        <p:spPr>
          <a:xfrm>
            <a:off x="7480102" y="5443061"/>
            <a:ext cx="6364129" cy="206454"/>
          </a:xfrm>
          <a:prstGeom prst="rect">
            <a:avLst/>
          </a:prstGeom>
          <a:noFill/>
          <a:ln/>
        </p:spPr>
        <p:txBody>
          <a:bodyPr wrap="none" lIns="0" tIns="0" rIns="0" bIns="0" rtlCol="0" anchor="t"/>
          <a:lstStyle/>
          <a:p>
            <a:pPr marL="0" indent="0" algn="l">
              <a:lnSpc>
                <a:spcPts val="1600"/>
              </a:lnSpc>
              <a:buNone/>
            </a:pPr>
            <a:endParaRPr lang="en-US" sz="1000" dirty="0"/>
          </a:p>
        </p:txBody>
      </p:sp>
      <p:sp>
        <p:nvSpPr>
          <p:cNvPr id="16" name="Text 12"/>
          <p:cNvSpPr/>
          <p:nvPr/>
        </p:nvSpPr>
        <p:spPr>
          <a:xfrm>
            <a:off x="7480102" y="5765602"/>
            <a:ext cx="6364129" cy="515779"/>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Times New Roman" panose="02020603050405020304" pitchFamily="18" charset="0"/>
                <a:ea typeface="Roboto" pitchFamily="34" charset="-122"/>
                <a:cs typeface="Times New Roman" panose="02020603050405020304" pitchFamily="18" charset="0"/>
              </a:rPr>
              <a:t>Đường ROC của XGBoost nằm cao hơn so với các mô hình khác, chứng tỏ khả năng phân loại tổng thể tốt hơn và hiệu quả cao hơn trong việc dự đoán sớm.</a:t>
            </a:r>
            <a:endParaRPr lang="en-US" sz="1250" dirty="0"/>
          </a:p>
        </p:txBody>
      </p:sp>
      <p:sp>
        <p:nvSpPr>
          <p:cNvPr id="17" name="Text 13"/>
          <p:cNvSpPr/>
          <p:nvPr/>
        </p:nvSpPr>
        <p:spPr>
          <a:xfrm>
            <a:off x="7480102" y="6397466"/>
            <a:ext cx="6364129" cy="515779"/>
          </a:xfrm>
          <a:prstGeom prst="rect">
            <a:avLst/>
          </a:prstGeom>
          <a:noFill/>
          <a:ln/>
        </p:spPr>
        <p:txBody>
          <a:bodyPr wrap="square" lIns="0" tIns="0" rIns="0" bIns="0" rtlCol="0" anchor="t"/>
          <a:lstStyle/>
          <a:p>
            <a:pPr marL="0" indent="0" algn="l">
              <a:lnSpc>
                <a:spcPts val="2000"/>
              </a:lnSpc>
              <a:buNone/>
            </a:pPr>
            <a:r>
              <a:rPr lang="en-US" sz="1250" dirty="0">
                <a:solidFill>
                  <a:srgbClr val="3C3939"/>
                </a:solidFill>
                <a:latin typeface="Times New Roman" panose="02020603050405020304" pitchFamily="18" charset="0"/>
                <a:ea typeface="Roboto" pitchFamily="34" charset="-122"/>
                <a:cs typeface="Times New Roman" panose="02020603050405020304" pitchFamily="18" charset="0"/>
              </a:rPr>
              <a:t>Mô hình XGBoost xử lý tốt các quan hệ phi tuyến và nhiễu dữ liệu, làm cho nó trở thành lựa chọn mạnh mẽ nhất.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075" y="545187"/>
            <a:ext cx="5231368" cy="402669"/>
          </a:xfrm>
          <a:prstGeom prst="rect">
            <a:avLst/>
          </a:prstGeom>
          <a:noFill/>
          <a:ln/>
        </p:spPr>
        <p:txBody>
          <a:bodyPr wrap="none" lIns="0" tIns="0" rIns="0" bIns="0" rtlCol="0" anchor="t"/>
          <a:lstStyle/>
          <a:p>
            <a:pPr marL="0" indent="0" algn="l">
              <a:lnSpc>
                <a:spcPts val="3150"/>
              </a:lnSpc>
              <a:buNone/>
            </a:pPr>
            <a:r>
              <a:rPr lang="en-US" sz="2500" b="1" dirty="0">
                <a:solidFill>
                  <a:srgbClr val="1B1B27"/>
                </a:solidFill>
                <a:latin typeface="Times New Roman" panose="02020603050405020304" pitchFamily="18" charset="0"/>
                <a:ea typeface="Raleway" pitchFamily="34" charset="-122"/>
                <a:cs typeface="Times New Roman" panose="02020603050405020304" pitchFamily="18" charset="0"/>
              </a:rPr>
              <a:t>KẾT LUẬN VÀ HƯỚNG PHÁT TRIỂN</a:t>
            </a:r>
            <a:endParaRPr lang="en-US" sz="2500" dirty="0"/>
          </a:p>
        </p:txBody>
      </p:sp>
      <p:sp>
        <p:nvSpPr>
          <p:cNvPr id="3" name="Text 1"/>
          <p:cNvSpPr/>
          <p:nvPr/>
        </p:nvSpPr>
        <p:spPr>
          <a:xfrm>
            <a:off x="793075" y="1205627"/>
            <a:ext cx="13044249" cy="206216"/>
          </a:xfrm>
          <a:prstGeom prst="rect">
            <a:avLst/>
          </a:prstGeom>
          <a:noFill/>
          <a:ln/>
        </p:spPr>
        <p:txBody>
          <a:bodyPr wrap="non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Mô hình XGBoost là lựa chọn tối ưu nhất cho bài toán dự đoán bệnh đái tháo đường trên bộ dữ liệu Pima Indians.</a:t>
            </a:r>
            <a:endParaRPr lang="en-US" sz="1000" dirty="0"/>
          </a:p>
        </p:txBody>
      </p:sp>
      <p:sp>
        <p:nvSpPr>
          <p:cNvPr id="4" name="Shape 2"/>
          <p:cNvSpPr/>
          <p:nvPr/>
        </p:nvSpPr>
        <p:spPr>
          <a:xfrm>
            <a:off x="793075" y="1556742"/>
            <a:ext cx="4262199" cy="386596"/>
          </a:xfrm>
          <a:prstGeom prst="roundRect">
            <a:avLst>
              <a:gd name="adj" fmla="val 480089"/>
            </a:avLst>
          </a:prstGeom>
          <a:solidFill>
            <a:srgbClr val="E1E1EA"/>
          </a:solidFill>
          <a:ln w="7620">
            <a:solidFill>
              <a:srgbClr val="C7C7D0"/>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27496" y="1653421"/>
            <a:ext cx="193238" cy="193238"/>
          </a:xfrm>
          <a:prstGeom prst="rect">
            <a:avLst/>
          </a:prstGeom>
        </p:spPr>
      </p:pic>
      <p:sp>
        <p:nvSpPr>
          <p:cNvPr id="6" name="Text 3"/>
          <p:cNvSpPr/>
          <p:nvPr/>
        </p:nvSpPr>
        <p:spPr>
          <a:xfrm>
            <a:off x="921901" y="2072164"/>
            <a:ext cx="1611035" cy="201335"/>
          </a:xfrm>
          <a:prstGeom prst="rect">
            <a:avLst/>
          </a:prstGeom>
          <a:noFill/>
          <a:ln/>
        </p:spPr>
        <p:txBody>
          <a:bodyPr wrap="none" lIns="0" tIns="0" rIns="0" bIns="0" rtlCol="0" anchor="t"/>
          <a:lstStyle/>
          <a:p>
            <a:pPr marL="0" indent="0" algn="l">
              <a:lnSpc>
                <a:spcPts val="1550"/>
              </a:lnSpc>
              <a:buNone/>
            </a:pPr>
            <a:r>
              <a:rPr lang="en-US" sz="1250" dirty="0">
                <a:solidFill>
                  <a:srgbClr val="3C3939"/>
                </a:solidFill>
                <a:latin typeface="Times New Roman" panose="02020603050405020304" pitchFamily="18" charset="0"/>
                <a:ea typeface="Raleway" pitchFamily="34" charset="-122"/>
                <a:cs typeface="Times New Roman" panose="02020603050405020304" pitchFamily="18" charset="0"/>
              </a:rPr>
              <a:t>Mô Hình Mạnh Nhất</a:t>
            </a:r>
            <a:endParaRPr lang="en-US" sz="1250" dirty="0"/>
          </a:p>
        </p:txBody>
      </p:sp>
      <p:sp>
        <p:nvSpPr>
          <p:cNvPr id="7" name="Text 4"/>
          <p:cNvSpPr/>
          <p:nvPr/>
        </p:nvSpPr>
        <p:spPr>
          <a:xfrm>
            <a:off x="921901" y="2350770"/>
            <a:ext cx="4004548" cy="412433"/>
          </a:xfrm>
          <a:prstGeom prst="rect">
            <a:avLst/>
          </a:prstGeom>
          <a:noFill/>
          <a:ln/>
        </p:spPr>
        <p:txBody>
          <a:bodyPr wrap="squar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XGBoost cho kết quả cao nhất (AUC 0.8204), tận dụng gradient boosting để học sâu từ sai số.</a:t>
            </a:r>
            <a:endParaRPr lang="en-US" sz="1000" dirty="0"/>
          </a:p>
        </p:txBody>
      </p:sp>
      <p:sp>
        <p:nvSpPr>
          <p:cNvPr id="8" name="Shape 5"/>
          <p:cNvSpPr/>
          <p:nvPr/>
        </p:nvSpPr>
        <p:spPr>
          <a:xfrm>
            <a:off x="5184100" y="1556742"/>
            <a:ext cx="4262199" cy="386596"/>
          </a:xfrm>
          <a:prstGeom prst="roundRect">
            <a:avLst>
              <a:gd name="adj" fmla="val 480089"/>
            </a:avLst>
          </a:prstGeom>
          <a:solidFill>
            <a:srgbClr val="E1E1EA"/>
          </a:solidFill>
          <a:ln w="7620">
            <a:solidFill>
              <a:srgbClr val="C7C7D0"/>
            </a:solidFill>
            <a:prstDash val="solid"/>
          </a:ln>
        </p:spPr>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18521" y="1653421"/>
            <a:ext cx="193238" cy="193238"/>
          </a:xfrm>
          <a:prstGeom prst="rect">
            <a:avLst/>
          </a:prstGeom>
        </p:spPr>
      </p:pic>
      <p:sp>
        <p:nvSpPr>
          <p:cNvPr id="10" name="Text 6"/>
          <p:cNvSpPr/>
          <p:nvPr/>
        </p:nvSpPr>
        <p:spPr>
          <a:xfrm>
            <a:off x="5312926" y="2072164"/>
            <a:ext cx="1659612" cy="201335"/>
          </a:xfrm>
          <a:prstGeom prst="rect">
            <a:avLst/>
          </a:prstGeom>
          <a:noFill/>
          <a:ln/>
        </p:spPr>
        <p:txBody>
          <a:bodyPr wrap="none" lIns="0" tIns="0" rIns="0" bIns="0" rtlCol="0" anchor="t"/>
          <a:lstStyle/>
          <a:p>
            <a:pPr marL="0" indent="0" algn="l">
              <a:lnSpc>
                <a:spcPts val="1550"/>
              </a:lnSpc>
              <a:buNone/>
            </a:pPr>
            <a:r>
              <a:rPr lang="en-US" sz="1250" dirty="0">
                <a:solidFill>
                  <a:srgbClr val="3C3939"/>
                </a:solidFill>
                <a:latin typeface="Times New Roman" panose="02020603050405020304" pitchFamily="18" charset="0"/>
                <a:ea typeface="Raleway" pitchFamily="34" charset="-122"/>
                <a:cs typeface="Times New Roman" panose="02020603050405020304" pitchFamily="18" charset="0"/>
              </a:rPr>
              <a:t>Đặc Trưng Quan Trọng</a:t>
            </a:r>
            <a:endParaRPr lang="en-US" sz="1250" dirty="0"/>
          </a:p>
        </p:txBody>
      </p:sp>
      <p:sp>
        <p:nvSpPr>
          <p:cNvPr id="11" name="Text 7"/>
          <p:cNvSpPr/>
          <p:nvPr/>
        </p:nvSpPr>
        <p:spPr>
          <a:xfrm>
            <a:off x="5312926" y="2350770"/>
            <a:ext cx="4004548" cy="412433"/>
          </a:xfrm>
          <a:prstGeom prst="rect">
            <a:avLst/>
          </a:prstGeom>
          <a:noFill/>
          <a:ln/>
        </p:spPr>
        <p:txBody>
          <a:bodyPr wrap="squar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Glucose, BMI, Age và DPF là các yếu tố dự đoán mạnh nhất, phù hợp với kiến thức y học.</a:t>
            </a:r>
            <a:endParaRPr lang="en-US" sz="1000" dirty="0"/>
          </a:p>
        </p:txBody>
      </p:sp>
      <p:sp>
        <p:nvSpPr>
          <p:cNvPr id="12" name="Shape 8"/>
          <p:cNvSpPr/>
          <p:nvPr/>
        </p:nvSpPr>
        <p:spPr>
          <a:xfrm>
            <a:off x="9575125" y="1556742"/>
            <a:ext cx="4262199" cy="386596"/>
          </a:xfrm>
          <a:prstGeom prst="roundRect">
            <a:avLst>
              <a:gd name="adj" fmla="val 480089"/>
            </a:avLst>
          </a:prstGeom>
          <a:solidFill>
            <a:srgbClr val="E1E1EA"/>
          </a:solidFill>
          <a:ln w="7620">
            <a:solidFill>
              <a:srgbClr val="C7C7D0"/>
            </a:solidFill>
            <a:prstDash val="solid"/>
          </a:ln>
        </p:spPr>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09546" y="1653421"/>
            <a:ext cx="193238" cy="193238"/>
          </a:xfrm>
          <a:prstGeom prst="rect">
            <a:avLst/>
          </a:prstGeom>
        </p:spPr>
      </p:pic>
      <p:sp>
        <p:nvSpPr>
          <p:cNvPr id="14" name="Text 9"/>
          <p:cNvSpPr/>
          <p:nvPr/>
        </p:nvSpPr>
        <p:spPr>
          <a:xfrm>
            <a:off x="9703951" y="2072164"/>
            <a:ext cx="1611035" cy="201335"/>
          </a:xfrm>
          <a:prstGeom prst="rect">
            <a:avLst/>
          </a:prstGeom>
          <a:noFill/>
          <a:ln/>
        </p:spPr>
        <p:txBody>
          <a:bodyPr wrap="none" lIns="0" tIns="0" rIns="0" bIns="0" rtlCol="0" anchor="t"/>
          <a:lstStyle/>
          <a:p>
            <a:pPr marL="0" indent="0" algn="l">
              <a:lnSpc>
                <a:spcPts val="1550"/>
              </a:lnSpc>
              <a:buNone/>
            </a:pPr>
            <a:r>
              <a:rPr lang="en-US" sz="1250" dirty="0">
                <a:solidFill>
                  <a:srgbClr val="3C3939"/>
                </a:solidFill>
                <a:latin typeface="Times New Roman" panose="02020603050405020304" pitchFamily="18" charset="0"/>
                <a:ea typeface="Raleway" pitchFamily="34" charset="-122"/>
                <a:cs typeface="Times New Roman" panose="02020603050405020304" pitchFamily="18" charset="0"/>
              </a:rPr>
              <a:t>Khả Năng Ứng Dụng</a:t>
            </a:r>
            <a:endParaRPr lang="en-US" sz="1250" dirty="0"/>
          </a:p>
        </p:txBody>
      </p:sp>
      <p:sp>
        <p:nvSpPr>
          <p:cNvPr id="15" name="Text 10"/>
          <p:cNvSpPr/>
          <p:nvPr/>
        </p:nvSpPr>
        <p:spPr>
          <a:xfrm>
            <a:off x="9703951" y="2350770"/>
            <a:ext cx="4004548" cy="412433"/>
          </a:xfrm>
          <a:prstGeom prst="rect">
            <a:avLst/>
          </a:prstGeom>
          <a:noFill/>
          <a:ln/>
        </p:spPr>
        <p:txBody>
          <a:bodyPr wrap="square" lIns="0" tIns="0" rIns="0" bIns="0" rtlCol="0" anchor="t"/>
          <a:lstStyle/>
          <a:p>
            <a:pPr marL="0" indent="0" algn="l">
              <a:lnSpc>
                <a:spcPts val="1600"/>
              </a:lnSpc>
              <a:buNone/>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Mô hình có khả năng dự đoán mạnh, phù hợp để ứng dụng trong các hệ thống dự đoán bệnh tiểu đường thực tế cần độ chính xác cao.</a:t>
            </a:r>
            <a:endParaRPr lang="en-US" sz="1000" dirty="0"/>
          </a:p>
        </p:txBody>
      </p:sp>
      <p:sp>
        <p:nvSpPr>
          <p:cNvPr id="16" name="Text 11"/>
          <p:cNvSpPr/>
          <p:nvPr/>
        </p:nvSpPr>
        <p:spPr>
          <a:xfrm>
            <a:off x="793075" y="3085267"/>
            <a:ext cx="2577703" cy="322183"/>
          </a:xfrm>
          <a:prstGeom prst="rect">
            <a:avLst/>
          </a:prstGeom>
          <a:noFill/>
          <a:ln/>
        </p:spPr>
        <p:txBody>
          <a:bodyPr wrap="none" lIns="0" tIns="0" rIns="0" bIns="0" rtlCol="0" anchor="t"/>
          <a:lstStyle/>
          <a:p>
            <a:pPr marL="0" indent="0" algn="l">
              <a:lnSpc>
                <a:spcPts val="2500"/>
              </a:lnSpc>
              <a:buNone/>
            </a:pPr>
            <a:r>
              <a:rPr lang="en-US" sz="2000" b="1" dirty="0">
                <a:solidFill>
                  <a:srgbClr val="1B1B27"/>
                </a:solidFill>
                <a:latin typeface="Times New Roman" panose="02020603050405020304" pitchFamily="18" charset="0"/>
                <a:ea typeface="Raleway" pitchFamily="34" charset="-122"/>
                <a:cs typeface="Times New Roman" panose="02020603050405020304" pitchFamily="18" charset="0"/>
              </a:rPr>
              <a:t>Hướng Phát Triển</a:t>
            </a:r>
            <a:endParaRPr lang="en-US" sz="2000" dirty="0"/>
          </a:p>
        </p:txBody>
      </p:sp>
      <p:sp>
        <p:nvSpPr>
          <p:cNvPr id="17" name="Shape 12"/>
          <p:cNvSpPr/>
          <p:nvPr/>
        </p:nvSpPr>
        <p:spPr>
          <a:xfrm>
            <a:off x="793075" y="3600688"/>
            <a:ext cx="13044249" cy="1275398"/>
          </a:xfrm>
          <a:prstGeom prst="roundRect">
            <a:avLst>
              <a:gd name="adj" fmla="val 4244"/>
            </a:avLst>
          </a:prstGeom>
          <a:solidFill>
            <a:srgbClr val="FFFFFF">
              <a:alpha val="95000"/>
            </a:srgbClr>
          </a:solidFill>
          <a:ln w="15240">
            <a:solidFill>
              <a:srgbClr val="C7C7D0"/>
            </a:solidFill>
            <a:prstDash val="solid"/>
          </a:ln>
        </p:spPr>
      </p:sp>
      <p:sp>
        <p:nvSpPr>
          <p:cNvPr id="18" name="Shape 13"/>
          <p:cNvSpPr/>
          <p:nvPr/>
        </p:nvSpPr>
        <p:spPr>
          <a:xfrm>
            <a:off x="808315" y="3615928"/>
            <a:ext cx="515541" cy="1244918"/>
          </a:xfrm>
          <a:prstGeom prst="roundRect">
            <a:avLst>
              <a:gd name="adj" fmla="val 6953"/>
            </a:avLst>
          </a:prstGeom>
          <a:solidFill>
            <a:srgbClr val="E1E1EA"/>
          </a:solidFill>
          <a:ln/>
        </p:spPr>
      </p:sp>
      <p:pic>
        <p:nvPicPr>
          <p:cNvPr id="19"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65597" y="4141708"/>
            <a:ext cx="193238" cy="193238"/>
          </a:xfrm>
          <a:prstGeom prst="rect">
            <a:avLst/>
          </a:prstGeom>
        </p:spPr>
      </p:pic>
      <p:sp>
        <p:nvSpPr>
          <p:cNvPr id="20" name="Text 14"/>
          <p:cNvSpPr/>
          <p:nvPr/>
        </p:nvSpPr>
        <p:spPr>
          <a:xfrm>
            <a:off x="1452682" y="3744754"/>
            <a:ext cx="1908096" cy="201335"/>
          </a:xfrm>
          <a:prstGeom prst="rect">
            <a:avLst/>
          </a:prstGeom>
          <a:noFill/>
          <a:ln/>
        </p:spPr>
        <p:txBody>
          <a:bodyPr wrap="none" lIns="0" tIns="0" rIns="0" bIns="0" rtlCol="0" anchor="t"/>
          <a:lstStyle/>
          <a:p>
            <a:pPr marL="0" indent="0" algn="l">
              <a:lnSpc>
                <a:spcPts val="1550"/>
              </a:lnSpc>
              <a:buNone/>
            </a:pPr>
            <a:r>
              <a:rPr lang="en-US" sz="1250" dirty="0">
                <a:solidFill>
                  <a:srgbClr val="3C3939"/>
                </a:solidFill>
                <a:latin typeface="Times New Roman" panose="02020603050405020304" pitchFamily="18" charset="0"/>
                <a:ea typeface="Raleway" pitchFamily="34" charset="-122"/>
                <a:cs typeface="Times New Roman" panose="02020603050405020304" pitchFamily="18" charset="0"/>
              </a:rPr>
              <a:t>1. Hyperparameter Tuning</a:t>
            </a:r>
            <a:endParaRPr lang="en-US" sz="1250" dirty="0"/>
          </a:p>
        </p:txBody>
      </p:sp>
      <p:sp>
        <p:nvSpPr>
          <p:cNvPr id="21" name="Text 15"/>
          <p:cNvSpPr/>
          <p:nvPr/>
        </p:nvSpPr>
        <p:spPr>
          <a:xfrm>
            <a:off x="1452682" y="4023360"/>
            <a:ext cx="12369403" cy="206216"/>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Grid Search/Random Search cho learning_rate, max_depth, n_estimators.</a:t>
            </a:r>
            <a:endParaRPr lang="en-US" sz="1000" dirty="0"/>
          </a:p>
        </p:txBody>
      </p:sp>
      <p:sp>
        <p:nvSpPr>
          <p:cNvPr id="22" name="Text 16"/>
          <p:cNvSpPr/>
          <p:nvPr/>
        </p:nvSpPr>
        <p:spPr>
          <a:xfrm>
            <a:off x="1452682" y="4274582"/>
            <a:ext cx="12369403" cy="206216"/>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Bayesian Optimization để tối ưu hiệu suất.</a:t>
            </a:r>
            <a:endParaRPr lang="en-US" sz="1000" dirty="0"/>
          </a:p>
        </p:txBody>
      </p:sp>
      <p:sp>
        <p:nvSpPr>
          <p:cNvPr id="23" name="Text 17"/>
          <p:cNvSpPr/>
          <p:nvPr/>
        </p:nvSpPr>
        <p:spPr>
          <a:xfrm>
            <a:off x="1452682" y="4525804"/>
            <a:ext cx="12369403" cy="206216"/>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Cross-validation để tránh overfitting.</a:t>
            </a:r>
            <a:endParaRPr lang="en-US" sz="1000" dirty="0"/>
          </a:p>
        </p:txBody>
      </p:sp>
      <p:sp>
        <p:nvSpPr>
          <p:cNvPr id="24" name="Shape 18"/>
          <p:cNvSpPr/>
          <p:nvPr/>
        </p:nvSpPr>
        <p:spPr>
          <a:xfrm>
            <a:off x="793075" y="5004911"/>
            <a:ext cx="13044249" cy="1275398"/>
          </a:xfrm>
          <a:prstGeom prst="roundRect">
            <a:avLst>
              <a:gd name="adj" fmla="val 4244"/>
            </a:avLst>
          </a:prstGeom>
          <a:solidFill>
            <a:srgbClr val="FFFFFF">
              <a:alpha val="95000"/>
            </a:srgbClr>
          </a:solidFill>
          <a:ln w="15240">
            <a:solidFill>
              <a:srgbClr val="C7C7D0"/>
            </a:solidFill>
            <a:prstDash val="solid"/>
          </a:ln>
        </p:spPr>
      </p:sp>
      <p:sp>
        <p:nvSpPr>
          <p:cNvPr id="25" name="Shape 19"/>
          <p:cNvSpPr/>
          <p:nvPr/>
        </p:nvSpPr>
        <p:spPr>
          <a:xfrm>
            <a:off x="808315" y="5020151"/>
            <a:ext cx="515541" cy="1244918"/>
          </a:xfrm>
          <a:prstGeom prst="roundRect">
            <a:avLst>
              <a:gd name="adj" fmla="val 6953"/>
            </a:avLst>
          </a:prstGeom>
          <a:solidFill>
            <a:srgbClr val="E1E1EA"/>
          </a:solidFill>
          <a:ln/>
        </p:spPr>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5597" y="5545931"/>
            <a:ext cx="193238" cy="193238"/>
          </a:xfrm>
          <a:prstGeom prst="rect">
            <a:avLst/>
          </a:prstGeom>
        </p:spPr>
      </p:pic>
      <p:sp>
        <p:nvSpPr>
          <p:cNvPr id="27" name="Text 20"/>
          <p:cNvSpPr/>
          <p:nvPr/>
        </p:nvSpPr>
        <p:spPr>
          <a:xfrm>
            <a:off x="1452682" y="5148977"/>
            <a:ext cx="1658898" cy="201335"/>
          </a:xfrm>
          <a:prstGeom prst="rect">
            <a:avLst/>
          </a:prstGeom>
          <a:noFill/>
          <a:ln/>
        </p:spPr>
        <p:txBody>
          <a:bodyPr wrap="none" lIns="0" tIns="0" rIns="0" bIns="0" rtlCol="0" anchor="t"/>
          <a:lstStyle/>
          <a:p>
            <a:pPr marL="0" indent="0" algn="l">
              <a:lnSpc>
                <a:spcPts val="1550"/>
              </a:lnSpc>
              <a:buNone/>
            </a:pPr>
            <a:r>
              <a:rPr lang="en-US" sz="1250" dirty="0">
                <a:solidFill>
                  <a:srgbClr val="3C3939"/>
                </a:solidFill>
                <a:latin typeface="Times New Roman" panose="02020603050405020304" pitchFamily="18" charset="0"/>
                <a:ea typeface="Raleway" pitchFamily="34" charset="-122"/>
                <a:cs typeface="Times New Roman" panose="02020603050405020304" pitchFamily="18" charset="0"/>
              </a:rPr>
              <a:t>2. Feature Engineering</a:t>
            </a:r>
            <a:endParaRPr lang="en-US" sz="1250" dirty="0"/>
          </a:p>
        </p:txBody>
      </p:sp>
      <p:sp>
        <p:nvSpPr>
          <p:cNvPr id="28" name="Text 21"/>
          <p:cNvSpPr/>
          <p:nvPr/>
        </p:nvSpPr>
        <p:spPr>
          <a:xfrm>
            <a:off x="1452682" y="5427583"/>
            <a:ext cx="12369403" cy="206216"/>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Tạo features tương tác (Glucose*BMI, Age*DPF).</a:t>
            </a:r>
            <a:endParaRPr lang="en-US" sz="1000" dirty="0"/>
          </a:p>
        </p:txBody>
      </p:sp>
      <p:sp>
        <p:nvSpPr>
          <p:cNvPr id="29" name="Text 22"/>
          <p:cNvSpPr/>
          <p:nvPr/>
        </p:nvSpPr>
        <p:spPr>
          <a:xfrm>
            <a:off x="1452682" y="5678805"/>
            <a:ext cx="12369403" cy="206216"/>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Polynomial features cho các biến quan trọng.</a:t>
            </a:r>
            <a:endParaRPr lang="en-US" sz="1000" dirty="0"/>
          </a:p>
        </p:txBody>
      </p:sp>
      <p:sp>
        <p:nvSpPr>
          <p:cNvPr id="30" name="Text 23"/>
          <p:cNvSpPr/>
          <p:nvPr/>
        </p:nvSpPr>
        <p:spPr>
          <a:xfrm>
            <a:off x="1452682" y="5930027"/>
            <a:ext cx="12369403" cy="206216"/>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Feature selection nâng cao (RFE, LASSO).</a:t>
            </a:r>
            <a:endParaRPr lang="en-US" sz="1000" dirty="0"/>
          </a:p>
        </p:txBody>
      </p:sp>
      <p:sp>
        <p:nvSpPr>
          <p:cNvPr id="31" name="Shape 24"/>
          <p:cNvSpPr/>
          <p:nvPr/>
        </p:nvSpPr>
        <p:spPr>
          <a:xfrm>
            <a:off x="793075" y="6409134"/>
            <a:ext cx="13044249" cy="1275398"/>
          </a:xfrm>
          <a:prstGeom prst="roundRect">
            <a:avLst>
              <a:gd name="adj" fmla="val 4244"/>
            </a:avLst>
          </a:prstGeom>
          <a:solidFill>
            <a:srgbClr val="FFFFFF">
              <a:alpha val="95000"/>
            </a:srgbClr>
          </a:solidFill>
          <a:ln w="15240">
            <a:solidFill>
              <a:srgbClr val="C7C7D0"/>
            </a:solidFill>
            <a:prstDash val="solid"/>
          </a:ln>
        </p:spPr>
      </p:sp>
      <p:sp>
        <p:nvSpPr>
          <p:cNvPr id="32" name="Shape 25"/>
          <p:cNvSpPr/>
          <p:nvPr/>
        </p:nvSpPr>
        <p:spPr>
          <a:xfrm>
            <a:off x="808315" y="6424374"/>
            <a:ext cx="515541" cy="1244918"/>
          </a:xfrm>
          <a:prstGeom prst="roundRect">
            <a:avLst>
              <a:gd name="adj" fmla="val 6953"/>
            </a:avLst>
          </a:prstGeom>
          <a:solidFill>
            <a:srgbClr val="E1E1EA"/>
          </a:solidFill>
          <a:ln/>
        </p:spPr>
      </p:sp>
      <p:pic>
        <p:nvPicPr>
          <p:cNvPr id="33"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65597" y="6950154"/>
            <a:ext cx="193238" cy="193238"/>
          </a:xfrm>
          <a:prstGeom prst="rect">
            <a:avLst/>
          </a:prstGeom>
        </p:spPr>
      </p:pic>
      <p:sp>
        <p:nvSpPr>
          <p:cNvPr id="34" name="Text 26"/>
          <p:cNvSpPr/>
          <p:nvPr/>
        </p:nvSpPr>
        <p:spPr>
          <a:xfrm>
            <a:off x="1452682" y="6553200"/>
            <a:ext cx="1611035" cy="201335"/>
          </a:xfrm>
          <a:prstGeom prst="rect">
            <a:avLst/>
          </a:prstGeom>
          <a:noFill/>
          <a:ln/>
        </p:spPr>
        <p:txBody>
          <a:bodyPr wrap="none" lIns="0" tIns="0" rIns="0" bIns="0" rtlCol="0" anchor="t"/>
          <a:lstStyle/>
          <a:p>
            <a:pPr marL="0" indent="0" algn="l">
              <a:lnSpc>
                <a:spcPts val="1550"/>
              </a:lnSpc>
              <a:buNone/>
            </a:pPr>
            <a:r>
              <a:rPr lang="en-US" sz="1250" dirty="0">
                <a:solidFill>
                  <a:srgbClr val="3C3939"/>
                </a:solidFill>
                <a:latin typeface="Times New Roman" panose="02020603050405020304" pitchFamily="18" charset="0"/>
                <a:ea typeface="Raleway" pitchFamily="34" charset="-122"/>
                <a:cs typeface="Times New Roman" panose="02020603050405020304" pitchFamily="18" charset="0"/>
              </a:rPr>
              <a:t>3. Ensemble Methods</a:t>
            </a:r>
            <a:endParaRPr lang="en-US" sz="1250" dirty="0"/>
          </a:p>
        </p:txBody>
      </p:sp>
      <p:sp>
        <p:nvSpPr>
          <p:cNvPr id="35" name="Text 27"/>
          <p:cNvSpPr/>
          <p:nvPr/>
        </p:nvSpPr>
        <p:spPr>
          <a:xfrm>
            <a:off x="1452682" y="6831806"/>
            <a:ext cx="12369403" cy="206216"/>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Kết hợp XGBoost với Logistic Regression.</a:t>
            </a:r>
            <a:endParaRPr lang="en-US" sz="1000" dirty="0"/>
          </a:p>
        </p:txBody>
      </p:sp>
      <p:sp>
        <p:nvSpPr>
          <p:cNvPr id="36" name="Text 28"/>
          <p:cNvSpPr/>
          <p:nvPr/>
        </p:nvSpPr>
        <p:spPr>
          <a:xfrm>
            <a:off x="1452682" y="7083028"/>
            <a:ext cx="12369403" cy="206216"/>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Voting Classifier với Random Forest.</a:t>
            </a:r>
            <a:endParaRPr lang="en-US" sz="1000" dirty="0"/>
          </a:p>
        </p:txBody>
      </p:sp>
      <p:sp>
        <p:nvSpPr>
          <p:cNvPr id="37" name="Text 29"/>
          <p:cNvSpPr/>
          <p:nvPr/>
        </p:nvSpPr>
        <p:spPr>
          <a:xfrm>
            <a:off x="1452682" y="7334250"/>
            <a:ext cx="12369403" cy="206216"/>
          </a:xfrm>
          <a:prstGeom prst="rect">
            <a:avLst/>
          </a:prstGeom>
          <a:noFill/>
          <a:ln/>
        </p:spPr>
        <p:txBody>
          <a:bodyPr wrap="none" lIns="0" tIns="0" rIns="0" bIns="0" rtlCol="0" anchor="t"/>
          <a:lstStyle/>
          <a:p>
            <a:pPr marL="342900" indent="-342900" algn="l">
              <a:lnSpc>
                <a:spcPts val="1600"/>
              </a:lnSpc>
              <a:buSzPct val="10000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Stacking để tăng độ chính xác.</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2312</Words>
  <Application>Microsoft Office PowerPoint</Application>
  <PresentationFormat>Custom</PresentationFormat>
  <Paragraphs>221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Tung</cp:lastModifiedBy>
  <cp:revision>3</cp:revision>
  <dcterms:created xsi:type="dcterms:W3CDTF">2025-10-17T06:18:59Z</dcterms:created>
  <dcterms:modified xsi:type="dcterms:W3CDTF">2025-10-17T06:36:42Z</dcterms:modified>
</cp:coreProperties>
</file>